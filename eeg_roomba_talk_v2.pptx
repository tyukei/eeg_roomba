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8"/>
    <p:sldId id="263" r:id="rId9"/>
    <p:sldId id="264" r:id="rId10"/>
    <p:sldId id="265" r:id="rId11"/>
    <p:sldId id="266" r:id="rId12"/>
    <p:sldId id="268" r:id="rId19"/>
    <p:sldId id="267" r:id="rId13"/>
    <p:sldId id="269" r:id="rId20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[0:30] タイトル — フックは「16 KB/s の脳波を 3 ノードで運ぶ」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[0:40] 動機 — 集中→水分補給→α検知。サクッと。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[1:30] デモ動画。再生後「中身どう作った?」と橋渡し。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[0:20] 3 ノード全体像。矢印の LSL/MQTT/HTTP を強調。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[0:40] データ量 = 16 KB/s。「帯域は問題でない」→ 課題は時刻精度・落とさない・状態管理。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[1:30] **本発表のキモ**。プロトコル3層分離。1個に統合せず、各層を標準ツールに乗せる。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[1:30] 比較表。5 候補を一覧で対比。Kafka/ZeroMQ/Redis Streams は overkill。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[1:00] retain で「DB 不要の状態ストア」。Redis を1つ減らす。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[1:30] COPY vs INSERT。4000 行/秒。`copy_records_to_table` で 10x 速い。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[1:30] 工夫: ヒステリシス(物理→離散) + Adapter Pattern(ハードレス CI)。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[0:30] 持ち帰り 3 点を口頭で繰り返す。3層分離・retain・COPY。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956048"/>
            <a:ext cx="54864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脳波 × ルンバ・データパイプライン  |  Data Engineer向け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949440" y="4956048"/>
            <a:ext cx="18288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Keita Nakata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56048"/>
            <a:ext cx="594360" cy="1874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56048"/>
            <a:ext cx="594360" cy="1874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1365F"/>
          </a:solidFill>
          <a:ln w="12700">
            <a:solidFill>
              <a:srgbClr val="1136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36576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548640"/>
            <a:ext cx="1371600" cy="13716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3108960"/>
            <a:ext cx="1371600" cy="13716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046720" y="2011680"/>
            <a:ext cx="0" cy="1051560"/>
          </a:xfrm>
          <a:prstGeom prst="line">
            <a:avLst/>
          </a:prstGeom>
          <a:noFill/>
          <a:ln w="15240">
            <a:solidFill>
              <a:srgbClr val="00A896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ENGINEERING TALK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48640" y="10515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脳波で『集中の合間』を見つけて、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548640" y="162763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ルンバに水を運ばせる。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548640" y="2377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16ch / 250Hz の脳波ストリームを、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3ノードのオンプレ IoT パイプラインで運ぶ話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108960"/>
            <a:ext cx="10972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864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Keita Nakata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4864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 / Churadata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297680"/>
            <a:ext cx="914400" cy="292608"/>
          </a:xfrm>
          <a:prstGeom prst="rect">
            <a:avLst/>
          </a:prstGeom>
          <a:solidFill>
            <a:srgbClr val="11365F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48640" y="42976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PiEEG-16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1554480" y="4297680"/>
            <a:ext cx="914400" cy="292608"/>
          </a:xfrm>
          <a:prstGeom prst="rect">
            <a:avLst/>
          </a:prstGeom>
          <a:solidFill>
            <a:srgbClr val="11365F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554480" y="42976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LSL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2560320" y="4297680"/>
            <a:ext cx="914400" cy="292608"/>
          </a:xfrm>
          <a:prstGeom prst="rect">
            <a:avLst/>
          </a:prstGeom>
          <a:solidFill>
            <a:srgbClr val="11365F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560320" y="42976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MQTT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566160" y="4297680"/>
            <a:ext cx="914400" cy="292608"/>
          </a:xfrm>
          <a:prstGeom prst="rect">
            <a:avLst/>
          </a:prstGeom>
          <a:solidFill>
            <a:srgbClr val="11365F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566160" y="42976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TimescaleDB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4572000" y="4297680"/>
            <a:ext cx="914400" cy="292608"/>
          </a:xfrm>
          <a:prstGeom prst="rect">
            <a:avLst/>
          </a:prstGeom>
          <a:solidFill>
            <a:srgbClr val="11365F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572000" y="42976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Roomba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325880" y="502920"/>
            <a:ext cx="36576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630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なぜ作ったか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集中を邪魔せず、『合間』に水を届けたい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1828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集中しすぎて水分補給を忘れる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237744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・長時間の作業で身体への負担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・自分から立ち上がるのは難しい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・かといって通知だと無視してしまう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7784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02920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緩んだら水を運ばせる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029200" y="23774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・後頭部の α 波 ＝「リラックス/閉眼」の指標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・集中の合間 (α 優位) を自動検知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・水を載せたルンバが画像認識で運ぶ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今日の本題は「水を運ぶ」より手前 — そのデータをどう運んだか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56048"/>
            <a:ext cx="594360" cy="1874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325880" y="502920"/>
            <a:ext cx="36576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630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デモ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ここで動画を再生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88720" y="1371600"/>
            <a:ext cx="6766560" cy="31089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24688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32004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600" kern="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VIDEO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88720" y="35204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脳波 → α 検知 → ルンバ起動 → 水を持って到着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上で α パワーが立ち上がり、状態が idle → active に遷移、Roomba が動き出す流れを見せる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56048"/>
            <a:ext cx="594360" cy="1874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325880" y="502920"/>
            <a:ext cx="36576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630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システム全体像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3ノード構成 — Pi-A (取得) / PC (解析・DB・UI) / Pi-B (Roomba)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3774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63040"/>
            <a:ext cx="54864" cy="2103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27632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" y="1581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Pi-A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15568" y="18562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ACQUISITION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31520" y="2148840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PiEEG-16 ADS1299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16ch × 250Hz SPI読込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LSL Outlet 発行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health publish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3280" y="1463040"/>
            <a:ext cx="23774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1463040"/>
            <a:ext cx="54864" cy="2103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627632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50208" y="1581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950208" y="18562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&amp; UI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566160" y="2148840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/ feature / decision / api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 で α 帯抽出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TimescaleDB 永続化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(uPlot) WebUI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17920" y="1463040"/>
            <a:ext cx="23774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1463040"/>
            <a:ext cx="54864" cy="21031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27632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84848" y="1581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Pi-B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784848" y="18562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ROOMBA BRIDGE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6400800" y="2148840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 FastAPI (Arduino←→Pi)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state publisher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コマンド受信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カメラで人を認識して接近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2926080" y="228600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5760720" y="228600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6" name="Text 21"/>
          <p:cNvSpPr/>
          <p:nvPr/>
        </p:nvSpPr>
        <p:spPr>
          <a:xfrm>
            <a:off x="2788920" y="2468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MQTT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5623560" y="2468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MQTT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548640" y="3840480"/>
            <a:ext cx="8046720" cy="777240"/>
          </a:xfrm>
          <a:prstGeom prst="rect">
            <a:avLst/>
          </a:prstGeom>
          <a:solidFill>
            <a:srgbClr val="DCE7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48640" y="38862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波形 → LSL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(高頻度・time-sync が重要)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3291840" y="38862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状態+制御 → MQTT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(retain / QoS / WS bridge)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6035040" y="38862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 Roomba → HTTP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(既存 FastAPI 資産活用)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56048"/>
            <a:ext cx="594360" cy="1874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325880" y="502920"/>
            <a:ext cx="36576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630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そもそも、どのくらいのデータ?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ボトルネックは「量」ではなく「絶やさず流す」こと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874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71600"/>
            <a:ext cx="54864" cy="1554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630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Hz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サンプリング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1371600"/>
            <a:ext cx="1874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1371600"/>
            <a:ext cx="54864" cy="1554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14630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2697480" y="22402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97480" y="25146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チャンネル数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371600"/>
            <a:ext cx="1874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371600"/>
            <a:ext cx="54864" cy="155448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4630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K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4754880" y="22402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samples/s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25146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1秒あたりサンプル数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20840" y="1371600"/>
            <a:ext cx="1874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20840" y="1371600"/>
            <a:ext cx="54864" cy="1554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14630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 KB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6812280" y="22402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12280" y="25146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生データの転送量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246120"/>
            <a:ext cx="80467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3337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16 KB/s は LAN 1 Gbps からすると </a:t>
            </a:r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0.0001 %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帯域は支配要因にならない。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" y="3703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問題は </a:t>
            </a:r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「途切れずに、時刻ズレなく、後解析できる形で運ぶ」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こと。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E2E レイテンシ予算: </a:t>
            </a:r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中央値 &lt; 500ms / p95 &lt; 1s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(SPI 読込 → Welch → MQTT → Roomba ack)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56048"/>
            <a:ext cx="594360" cy="1874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325880" y="502920"/>
            <a:ext cx="36576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630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プロトコル3層分離 — 本発表のキモ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「1つのプロトコルで全部やろうとしない」 — 各層を標準ツールに乗せる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80160"/>
            <a:ext cx="54864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417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LSL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37160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波形 (250Hz × 16ch)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297680" y="1444752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/ BCI 業界標準。ns 精度の time-sync、auto discovery、pylsl 数行で publish/subscribe、OpenBCI/MNE と相互運用。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468880"/>
            <a:ext cx="80467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2468880"/>
            <a:ext cx="54864" cy="1097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889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71600" y="2606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MQTT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137160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状態 (retain) + 制御 (event)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297680" y="2633472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標準。retain / last-will / QoS / WebSocket bridge 全部入り。Mosquitto は Pi でも軽い。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48640" y="3657600"/>
            <a:ext cx="54864" cy="10972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7764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71600" y="3794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HTTP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1371600" y="4206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Roomba コマンド (既存 FastAPI)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297680" y="3822192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 Roomba API を活かす。リクエスト数/秒は小さく、新規プロトコルに置換する必然性なし。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548640" y="480060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「波形は LSL、状態と制御は MQTT、既存資産は HTTP」 — 最小構成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56048"/>
            <a:ext cx="594360" cy="1874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325880" y="502920"/>
            <a:ext cx="36576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630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なぜ Kafka でも ZeroMQ でもなかったか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ノード・1 被験者・LAN 内 に最適化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97280"/>
                <a:gridCol w="1371600"/>
                <a:gridCol w="822960"/>
                <a:gridCol w="1737360"/>
                <a:gridCol w="19202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選択肢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time-sync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永続化 / retain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BCI互換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運用コスト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本件に合うか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LSL のみ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A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◎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×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A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◎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A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○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状態通知が辛い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MQTT のみ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A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△ (自前)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A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◎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×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A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○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 EEG には重い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ZeroMQ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A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△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× (自前)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×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× discovery 自前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 には割に合わない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A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○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A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◎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×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× overkill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ノードに過剰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LSL + MQTT  (採用)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A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◎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A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◎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A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◎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A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◎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各層を得意領域で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1605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/ Redis Streams は fan-out 数や永続化要件が桁違いに大きい時の道具。本件は fan-out &lt; 10、保存は TimescaleDB に任せる。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56048"/>
            <a:ext cx="594360" cy="1874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325880" y="502920"/>
            <a:ext cx="36576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630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MQTT の肝: retain で state / event を分離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「今の状態」と「いま起きたこと」を別トピックに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9319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80160"/>
            <a:ext cx="54864" cy="3383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 (retain = true)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購読開始時に直近値が即取れる → UI 再起動が速い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23317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pieeg/health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31520" y="2532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Pi-A は生きてるか / SPI error 数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1520" y="28803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control/state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31520" y="3081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/ active (decision の現状態)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31520" y="34290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control/threshold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31520" y="36301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閾値 (UI で書き換え、再起動後も保持)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31520" y="39776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roomba/state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31520" y="41788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Pi-B online / busy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63440" y="1280160"/>
            <a:ext cx="39319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63440" y="1280160"/>
            <a:ext cx="54864" cy="33832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63040"/>
            <a:ext cx="411480" cy="4114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349240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  (retain = false)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484632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流れるイベント。後から拾うのは DB 側の仕事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846320" y="23317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eeg/chunk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846320" y="2532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生サンプルの chunk (ingest が DB へ COPY)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846320" y="28803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eeg/live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846320" y="3081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50Hz に間引いた UI 描画用ストリーム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846320" y="34290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eeg/alpha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4846320" y="36301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 出力 per ch (1秒窓 / hop 250ms)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4846320" y="39776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roomba/cmd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4846320" y="41788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decision_svc の直近送信コマンド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548640" y="475488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は「ステートストア」の代用 — Redis を1つ減らせる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56048"/>
            <a:ext cx="594360" cy="1874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325880" y="502920"/>
            <a:ext cx="36576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630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永続化: TimescaleDB + asyncpg COPY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高頻度 INSERT は破綻する — 一括 COPY に振る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9319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80160"/>
            <a:ext cx="54864" cy="3383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TimescaleDB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201168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の SQL がそのまま使える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hypertable + 圧縮 + retention が宣言的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compress_segmentby='ch' で 5–10× 圧縮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生波形 / 特徴量 / イベントを単一 DB で JOIN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/ pandas / DBeaver どれも標準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1280160"/>
            <a:ext cx="39319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280160"/>
            <a:ext cx="54864" cy="33832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6304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は使わない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846320" y="2011680"/>
            <a:ext cx="3566160" cy="11887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937760" y="2084832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asyncpg, 4000 行 / 秒を一括
</a:t>
            </a:r>
            <a:pPr indent="0" marL="0">
              <a:buNone/>
            </a:pPr>
            <a:r>
              <a:rPr lang="en-US" sz="10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conn.copy_records_to_table(
</a:t>
            </a:r>
            <a:pPr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'eeg_raw',
</a:t>
            </a:r>
            <a:pPr indent="0" marL="0">
              <a:buNone/>
            </a:pPr>
            <a:r>
              <a:rPr lang="en-US" sz="10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records=batch,
</a:t>
            </a:r>
            <a:pPr indent="0" marL="0">
              <a:buNone/>
            </a:pPr>
            <a:r>
              <a:rPr lang="en-US" sz="10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columns=['ts','ch','val'])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846320" y="33375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INSERT × 4000/s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round-trip 過多で詰まる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なら 1 トランザクションで秒単位 batch 投入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48640" y="475488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時系列の高頻度書き込みは『1リクエスト=1行』を捨てるところから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56048"/>
            <a:ext cx="594360" cy="1874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325880" y="502920"/>
            <a:ext cx="36576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630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工夫: ヒステリシス + dwell ／ Adapter Pattern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α揺れを離散決定に変換、+ EEGSource adapter で「ハードなし開発」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単純な「α &gt; threshold」なら </a:t>
            </a:r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ノイズで何度も idle⇄active が切り替わる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→ enter / exit を分け、状態に最低 dwell time を要求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80467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74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 power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0" y="3703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 →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280160" y="2331720"/>
            <a:ext cx="5852160" cy="0"/>
          </a:xfrm>
          <a:prstGeom prst="line">
            <a:avLst/>
          </a:prstGeom>
          <a:noFill/>
          <a:ln w="15240">
            <a:solidFill>
              <a:srgbClr val="F96167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7178040" y="221284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280160" y="3200400"/>
            <a:ext cx="5852160" cy="0"/>
          </a:xfrm>
          <a:prstGeom prst="line">
            <a:avLst/>
          </a:prstGeom>
          <a:noFill/>
          <a:ln w="15240">
            <a:solidFill>
              <a:srgbClr val="00A896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178040" y="308152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280160" y="3611880"/>
            <a:ext cx="274320" cy="-18288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3429000"/>
            <a:ext cx="274320" cy="18288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0" y="3611880"/>
            <a:ext cx="274320" cy="-50292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03120" y="3108960"/>
            <a:ext cx="274320" cy="-41148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2697480"/>
            <a:ext cx="274320" cy="-50292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51760" y="2194560"/>
            <a:ext cx="274320" cy="-13716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6080" y="2057400"/>
            <a:ext cx="274320" cy="13716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2194560"/>
            <a:ext cx="274320" cy="-9144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103120"/>
            <a:ext cx="274320" cy="13716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0" y="2240280"/>
            <a:ext cx="274320" cy="36576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23360" y="2606040"/>
            <a:ext cx="274320" cy="50292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7680" y="3108960"/>
            <a:ext cx="274320" cy="27432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3383280"/>
            <a:ext cx="274320" cy="22860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3611880"/>
            <a:ext cx="274320" cy="-9144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20640" y="3520440"/>
            <a:ext cx="274320" cy="-22860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94960" y="3291840"/>
            <a:ext cx="274320" cy="-27432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0" y="3017520"/>
            <a:ext cx="274320" cy="-27432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743200"/>
            <a:ext cx="274320" cy="-27432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2468880"/>
            <a:ext cx="274320" cy="-18288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92240" y="2286000"/>
            <a:ext cx="274320" cy="13716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0" y="2423160"/>
            <a:ext cx="274320" cy="22860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51760" y="1783080"/>
            <a:ext cx="1508760" cy="2194560"/>
          </a:xfrm>
          <a:prstGeom prst="rect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51760" y="37033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 (dwell 確認後)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8640" y="4160520"/>
            <a:ext cx="3931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8640" y="4160520"/>
            <a:ext cx="54864" cy="54864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4297680"/>
            <a:ext cx="274320" cy="27432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1078992" y="41605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 ≥ 数百 ms を経てから遷移 (チャタリング防止)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663440" y="4160520"/>
            <a:ext cx="3931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4663440" y="4160520"/>
            <a:ext cx="54864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4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4297680"/>
            <a:ext cx="274320" cy="274320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5212080" y="41605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EEGSource adapter (LSL / File replay) — PiEEG なしで CSV 再生 → 開発・CI が回る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56048"/>
            <a:ext cx="594360" cy="1874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325880" y="548640"/>
            <a:ext cx="36576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6304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持ち帰ってほしいこと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データエンジニア視点での 3 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17427A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91440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63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146304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プロトコルは「層ごとの得意領域」で割り当てる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181051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波形=LSL / 状態+制御=MQTT / 既存資産=HTTP。一つに統一せず、それぞれの標準ツールに乗る方が運用コストは下がる。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914400"/>
          </a:xfrm>
          <a:prstGeom prst="rect">
            <a:avLst/>
          </a:prstGeom>
          <a:solidFill>
            <a:srgbClr val="17427A"/>
          </a:solidFill>
          <a:ln w="6350">
            <a:solidFill>
              <a:srgbClr val="F9616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423160"/>
            <a:ext cx="91440" cy="9144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25880" y="251460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の retain は『ステートストア』の代用になる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286207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状態は retain・イベントは非 retain で分けると、UI 復帰が一瞬になり Redis 等を1つ減らせる。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solidFill>
            <a:srgbClr val="17427A"/>
          </a:solidFill>
          <a:ln w="6350">
            <a:solidFill>
              <a:srgbClr val="F2A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74720"/>
            <a:ext cx="91440" cy="91440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566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25880" y="356616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時系列 DB は INSERT を捨てて COPY に寄せる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391363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4000 行/秒程度でも 1 行 1 リクエストは破綻する。TimescaleDB + asyncpg copy_records_to_table が現実解。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61830"/>
          </a:solidFill>
          <a:ln w="12700">
            <a:solidFill>
              <a:srgbClr val="0618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956048"/>
            <a:ext cx="84124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  ·  github.com/KeitaNakata/eeg_roomba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325880" y="502920"/>
            <a:ext cx="36576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630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今後の発展 — 本構成からの延伸先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「3層分離」を保ったまま、各層をどう拡張できるか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80160"/>
            <a:ext cx="54864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71600" y="1417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37160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WAN 越え・遠隔集約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297680" y="1444752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bridge を1本足すだけで AWS IoT Core / Azure IoT Hub へ転送。LSL は LAN 止まりだが、MQTT 層が橋渡しできる。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468880"/>
            <a:ext cx="80467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2468880"/>
            <a:ext cx="54864" cy="1097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371600" y="2606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137160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軽量分類器を decision_svc に挿入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297680" y="2633472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feature_svc の出力を学習データに、sklearn / LDA / CSP などを decision_svc に差し込む。α/β 比やマルチバンド対応も同じ枠で。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48640" y="3657600"/>
            <a:ext cx="54864" cy="10972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371600" y="3794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1371600" y="4206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マルチ被験者 / 長期記録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297680" y="3822192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LSL の source_id で被験者を分離、TimescaleDB は hypertable パーティションで対応。生波形を Parquet 二段保管にすれば長期化も。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548640" y="480060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共通する原則: 「層を保ったまま、必要な軸を1つだけ動かす」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56048"/>
            <a:ext cx="594360" cy="1874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325880" y="548640"/>
            <a:ext cx="36576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6304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Q&amp;A / 参考リンク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深掘り素材と FAQ、お気軽にどうぞ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17427A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91440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63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146304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リポジトリ — github.com/tyukei/eeg_roomba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181051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DESIGN.md に「候補 / 採用理由 / 覆す条件」を 10 項目で整理。SETUP.md は 3 ノードの bring-up 手順。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914400"/>
          </a:xfrm>
          <a:prstGeom prst="rect">
            <a:avLst/>
          </a:prstGeom>
          <a:solidFill>
            <a:srgbClr val="17427A"/>
          </a:solidFill>
          <a:ln w="6350">
            <a:solidFill>
              <a:srgbClr val="F9616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423160"/>
            <a:ext cx="91440" cy="9144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25880" y="251460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使用したプロトコル / ツール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286207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LSL: labstreaminglayer.org · MQTT: mosquitto.org · TimescaleDB: docs.timescale.com · PiEEG: pieeg.com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solidFill>
            <a:srgbClr val="17427A"/>
          </a:solidFill>
          <a:ln w="6350">
            <a:solidFill>
              <a:srgbClr val="F2A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74720"/>
            <a:ext cx="91440" cy="91440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566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25880" y="356616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よくある質問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391363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「なぜオンプレ?」「マルチ被験者?」「セキュリティは?」「レイテンシ実測値?」 — どれも DESIGN.md §0-9 に根拠つきで整理。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61830"/>
          </a:solidFill>
          <a:ln w="12700">
            <a:solidFill>
              <a:srgbClr val="0618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956048"/>
            <a:ext cx="84124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  ·  Keita Nakata · Churadata · ご質問お待ちしています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EEG → α power → Roomba</dc:title>
  <dc:subject>PptxGenJS Presentation</dc:subject>
  <dc:creator>Keita Nakata</dc:creator>
  <cp:lastModifiedBy>Keita Nakata</cp:lastModifiedBy>
  <cp:revision>1</cp:revision>
  <dcterms:created xsi:type="dcterms:W3CDTF">2026-05-13T13:18:05Z</dcterms:created>
  <dcterms:modified xsi:type="dcterms:W3CDTF">2026-05-13T13:18:05Z</dcterms:modified>
</cp:coreProperties>
</file>