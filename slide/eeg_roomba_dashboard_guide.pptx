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7AB7FF"/>
          </a:solidFill>
          <a:ln w="12700">
            <a:solidFill>
              <a:srgbClr val="7AB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eeg_roomba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ダッシュボード 説明書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B7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· PiEEG · Roomba の3タブの読み方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29488" y="4754880"/>
            <a:ext cx="3291840" cy="1371600"/>
          </a:xfrm>
          <a:prstGeom prst="rect">
            <a:avLst>
              <a:gd name="adj" fmla="val 5333"/>
            </a:avLst>
          </a:prstGeom>
          <a:solidFill>
            <a:srgbClr val="151B22"/>
          </a:solidFill>
          <a:ln w="12700">
            <a:solidFill>
              <a:srgbClr val="2731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3808" y="49194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B7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03808" y="5440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全体状態 · α と判定 · 移動軌跡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49928" y="4754880"/>
            <a:ext cx="3291840" cy="1371600"/>
          </a:xfrm>
          <a:prstGeom prst="rect">
            <a:avLst>
              <a:gd name="adj" fmla="val 5333"/>
            </a:avLst>
          </a:prstGeom>
          <a:solidFill>
            <a:srgbClr val="151B22"/>
          </a:solidFill>
          <a:ln w="12700">
            <a:solidFill>
              <a:srgbClr val="2731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4248" y="49194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B7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PiEEG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24248" y="5440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脳波解析 · トポグラフィ · 認知指標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70368" y="4754880"/>
            <a:ext cx="3291840" cy="1371600"/>
          </a:xfrm>
          <a:prstGeom prst="rect">
            <a:avLst>
              <a:gd name="adj" fmla="val 5333"/>
            </a:avLst>
          </a:prstGeom>
          <a:solidFill>
            <a:srgbClr val="151B22"/>
          </a:solidFill>
          <a:ln w="12700">
            <a:solidFill>
              <a:srgbClr val="2731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4688" y="49194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B7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Roomba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44688" y="5440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操作 · 自動運転 · カメラ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URL: http://gpu-2-chukei:5173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14601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タブ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60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デモ用の3カラム俯瞰ビュー。生体信号 (左) / 認知指標 (中央) / Roomba 連動 (右)。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57200" cy="36576"/>
          </a:xfrm>
          <a:prstGeom prst="rect">
            <a:avLst/>
          </a:prstGeom>
          <a:solidFill>
            <a:srgbClr val="7AB7FF"/>
          </a:solidFill>
          <a:ln w="12700">
            <a:solidFill>
              <a:srgbClr val="7AB7FF"/>
            </a:solidFill>
            <a:prstDash val="solid"/>
          </a:ln>
        </p:spPr>
      </p:sp>
      <p:pic>
        <p:nvPicPr>
          <p:cNvPr id="5" name="Image 0" descr="/tmp/eeg_pptx/shots/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73152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325880"/>
            <a:ext cx="7315200" cy="4572000"/>
          </a:xfrm>
          <a:prstGeom prst="rect">
            <a:avLst/>
          </a:prstGeom>
          <a:ln w="12700">
            <a:solidFill>
              <a:srgbClr val="2731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0693" y="1383030"/>
            <a:ext cx="1587798" cy="146304"/>
          </a:xfrm>
          <a:prstGeom prst="rect">
            <a:avLst>
              <a:gd name="adj" fmla="val 25000"/>
            </a:avLst>
          </a:prstGeom>
          <a:ln w="25400">
            <a:solidFill>
              <a:srgbClr val="7AB7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87541" y="1309878"/>
            <a:ext cx="292608" cy="292608"/>
          </a:xfrm>
          <a:prstGeom prst="ellipse">
            <a:avLst/>
          </a:prstGeom>
          <a:solidFill>
            <a:srgbClr val="7AB7FF"/>
          </a:solidFill>
          <a:ln w="12700">
            <a:solidFill>
              <a:srgbClr val="7AB7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87541" y="1309878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6227" y="1664208"/>
            <a:ext cx="7154194" cy="374904"/>
          </a:xfrm>
          <a:prstGeom prst="rect">
            <a:avLst>
              <a:gd name="adj" fmla="val 9756"/>
            </a:avLst>
          </a:prstGeom>
          <a:ln w="25400">
            <a:solidFill>
              <a:srgbClr val="F5B3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3075" y="1591056"/>
            <a:ext cx="292608" cy="292608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3075" y="1591056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6227" y="2057400"/>
            <a:ext cx="2935095" cy="1655064"/>
          </a:xfrm>
          <a:prstGeom prst="rect">
            <a:avLst>
              <a:gd name="adj" fmla="val 2210"/>
            </a:avLst>
          </a:prstGeom>
          <a:ln w="25400">
            <a:solidFill>
              <a:srgbClr val="6FE6A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3075" y="1984248"/>
            <a:ext cx="292608" cy="292608"/>
          </a:xfrm>
          <a:prstGeom prst="ellipse">
            <a:avLst/>
          </a:prstGeom>
          <a:solidFill>
            <a:srgbClr val="6FE6A4"/>
          </a:solidFill>
          <a:ln w="12700">
            <a:solidFill>
              <a:srgbClr val="6FE6A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3075" y="1984248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46227" y="3730752"/>
            <a:ext cx="2935095" cy="658368"/>
          </a:xfrm>
          <a:prstGeom prst="rect">
            <a:avLst>
              <a:gd name="adj" fmla="val 5556"/>
            </a:avLst>
          </a:prstGeom>
          <a:ln w="25400">
            <a:solidFill>
              <a:srgbClr val="FF7B7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3075" y="3657600"/>
            <a:ext cx="292608" cy="292608"/>
          </a:xfrm>
          <a:prstGeom prst="ellipse">
            <a:avLst/>
          </a:prstGeom>
          <a:solidFill>
            <a:srgbClr val="FF7B7B"/>
          </a:solidFill>
          <a:ln w="12700">
            <a:solidFill>
              <a:srgbClr val="FF7B7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3075" y="3657600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" y="4407408"/>
            <a:ext cx="2935095" cy="848106"/>
          </a:xfrm>
          <a:prstGeom prst="rect">
            <a:avLst>
              <a:gd name="adj" fmla="val 4313"/>
            </a:avLst>
          </a:prstGeom>
          <a:ln w="25400">
            <a:solidFill>
              <a:srgbClr val="C39DF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3075" y="4334256"/>
            <a:ext cx="292608" cy="292608"/>
          </a:xfrm>
          <a:prstGeom prst="ellipse">
            <a:avLst/>
          </a:prstGeom>
          <a:solidFill>
            <a:srgbClr val="C39DF5"/>
          </a:solidFill>
          <a:ln w="12700">
            <a:solidFill>
              <a:srgbClr val="C39D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3075" y="4334256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377665" y="2057400"/>
            <a:ext cx="2113207" cy="1280160"/>
          </a:xfrm>
          <a:prstGeom prst="rect">
            <a:avLst>
              <a:gd name="adj" fmla="val 2857"/>
            </a:avLst>
          </a:prstGeom>
          <a:ln w="25400">
            <a:solidFill>
              <a:srgbClr val="9AE6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04513" y="1984248"/>
            <a:ext cx="292608" cy="292608"/>
          </a:xfrm>
          <a:prstGeom prst="ellipse">
            <a:avLst/>
          </a:prstGeom>
          <a:solidFill>
            <a:srgbClr val="9AE6F0"/>
          </a:solidFill>
          <a:ln w="12700">
            <a:solidFill>
              <a:srgbClr val="9AE6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04513" y="1984248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377665" y="3355848"/>
            <a:ext cx="2113207" cy="1143000"/>
          </a:xfrm>
          <a:prstGeom prst="rect">
            <a:avLst>
              <a:gd name="adj" fmla="val 3200"/>
            </a:avLst>
          </a:prstGeom>
          <a:ln w="25400">
            <a:solidFill>
              <a:srgbClr val="FFD27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04513" y="3282696"/>
            <a:ext cx="292608" cy="292608"/>
          </a:xfrm>
          <a:prstGeom prst="ellipse">
            <a:avLst/>
          </a:prstGeom>
          <a:solidFill>
            <a:srgbClr val="FFD27A"/>
          </a:solidFill>
          <a:ln w="12700">
            <a:solidFill>
              <a:srgbClr val="FFD27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04513" y="3282696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7214" y="2057400"/>
            <a:ext cx="2113207" cy="1106424"/>
          </a:xfrm>
          <a:prstGeom prst="rect">
            <a:avLst>
              <a:gd name="adj" fmla="val 3306"/>
            </a:avLst>
          </a:prstGeom>
          <a:ln w="25400">
            <a:solidFill>
              <a:srgbClr val="EEB8E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14062" y="1984248"/>
            <a:ext cx="292608" cy="292608"/>
          </a:xfrm>
          <a:prstGeom prst="ellipse">
            <a:avLst/>
          </a:prstGeom>
          <a:solidFill>
            <a:srgbClr val="EEB8E4"/>
          </a:solidFill>
          <a:ln w="12700">
            <a:solidFill>
              <a:srgbClr val="EEB8E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14062" y="1984248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7214" y="3182112"/>
            <a:ext cx="2113207" cy="1051560"/>
          </a:xfrm>
          <a:prstGeom prst="rect">
            <a:avLst>
              <a:gd name="adj" fmla="val 3478"/>
            </a:avLst>
          </a:prstGeom>
          <a:ln w="25400">
            <a:solidFill>
              <a:srgbClr val="80CB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14062" y="3108960"/>
            <a:ext cx="292608" cy="292608"/>
          </a:xfrm>
          <a:prstGeom prst="ellipse">
            <a:avLst/>
          </a:prstGeom>
          <a:solidFill>
            <a:srgbClr val="80CBC4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14062" y="3108960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87214" y="4251960"/>
            <a:ext cx="2113207" cy="1161288"/>
          </a:xfrm>
          <a:prstGeom prst="rect">
            <a:avLst>
              <a:gd name="adj" fmla="val 3150"/>
            </a:avLst>
          </a:prstGeom>
          <a:ln w="25400">
            <a:solidFill>
              <a:srgbClr val="FFAB9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14062" y="4178808"/>
            <a:ext cx="420624" cy="292608"/>
          </a:xfrm>
          <a:prstGeom prst="ellipse">
            <a:avLst/>
          </a:prstGeom>
          <a:solidFill>
            <a:srgbClr val="FFAB91"/>
          </a:solidFill>
          <a:ln w="12700">
            <a:solidFill>
              <a:srgbClr val="FFAB9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14062" y="4178808"/>
            <a:ext cx="42062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7818120" y="1325880"/>
            <a:ext cx="4160520" cy="5349240"/>
          </a:xfrm>
          <a:prstGeom prst="rect">
            <a:avLst>
              <a:gd name="adj" fmla="val 1758"/>
            </a:avLst>
          </a:prstGeom>
          <a:solidFill>
            <a:srgbClr val="151B22"/>
          </a:solidFill>
          <a:ln w="12700">
            <a:solidFill>
              <a:srgbClr val="27313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982712" y="1399032"/>
            <a:ext cx="3831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凡例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7982712" y="1869491"/>
            <a:ext cx="237744" cy="237744"/>
          </a:xfrm>
          <a:prstGeom prst="ellipse">
            <a:avLst/>
          </a:prstGeom>
          <a:solidFill>
            <a:srgbClr val="7AB7FF"/>
          </a:solidFill>
          <a:ln w="12700">
            <a:solidFill>
              <a:srgbClr val="7AB7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982712" y="1869491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8412480" y="1746504"/>
            <a:ext cx="3401568" cy="483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ステータス &amp; WS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PiEEG / Decision / Roomba の online/状態と WebSocket 接続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982712" y="2353208"/>
            <a:ext cx="237744" cy="237744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982712" y="2353208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8412480" y="2230222"/>
            <a:ext cx="3401568" cy="483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 ヒーロー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α判定の現在状態 (IDLE / ACTIVE) を最も目立たせる帯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982712" y="2836926"/>
            <a:ext cx="237744" cy="237744"/>
          </a:xfrm>
          <a:prstGeom prst="ellipse">
            <a:avLst/>
          </a:prstGeom>
          <a:solidFill>
            <a:srgbClr val="6FE6A4"/>
          </a:solidFill>
          <a:ln w="12700">
            <a:solidFill>
              <a:srgbClr val="6FE6A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982712" y="2836926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8412480" y="2713939"/>
            <a:ext cx="3401568" cy="483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EEG live (16ch)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16ch の生波形 · 10秒窓 · 判定対象ch をハイライト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7982712" y="3320644"/>
            <a:ext cx="237744" cy="237744"/>
          </a:xfrm>
          <a:prstGeom prst="ellipse">
            <a:avLst/>
          </a:prstGeom>
          <a:solidFill>
            <a:srgbClr val="FF7B7B"/>
          </a:solidFill>
          <a:ln w="12700">
            <a:solidFill>
              <a:srgbClr val="FF7B7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982712" y="3320644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8412480" y="3197657"/>
            <a:ext cx="3401568" cy="483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α band power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16ch分のαパワーを縦バー · 判定対象ch を強調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7982712" y="3804361"/>
            <a:ext cx="237744" cy="237744"/>
          </a:xfrm>
          <a:prstGeom prst="ellipse">
            <a:avLst/>
          </a:prstGeom>
          <a:solidFill>
            <a:srgbClr val="C39DF5"/>
          </a:solidFill>
          <a:ln w="12700">
            <a:solidFill>
              <a:srgbClr val="C39DF5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982712" y="3804361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8412480" y="3681374"/>
            <a:ext cx="3401568" cy="483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Heart rate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EEG信号から推定した心拍数 (BCG由来) · bpm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7982712" y="4288079"/>
            <a:ext cx="237744" cy="237744"/>
          </a:xfrm>
          <a:prstGeom prst="ellipse">
            <a:avLst/>
          </a:prstGeom>
          <a:solidFill>
            <a:srgbClr val="9AE6F0"/>
          </a:solidFill>
          <a:ln w="12700">
            <a:solidFill>
              <a:srgbClr val="9AE6F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982712" y="4288079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8412480" y="4165092"/>
            <a:ext cx="3401568" cy="483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Mind state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集中 (β/α) vs リラックス (α) の60秒推移グラフ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7982712" y="4771796"/>
            <a:ext cx="237744" cy="237744"/>
          </a:xfrm>
          <a:prstGeom prst="ellipse">
            <a:avLst/>
          </a:prstGeom>
          <a:solidFill>
            <a:srgbClr val="FFD27A"/>
          </a:solidFill>
          <a:ln w="12700">
            <a:solidFill>
              <a:srgbClr val="FFD27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982712" y="4771796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8412480" y="4648810"/>
            <a:ext cx="3401568" cy="483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Mind space · 3D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focus × relax × time の3D軌跡 (drag回転可)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7982712" y="5255514"/>
            <a:ext cx="237744" cy="237744"/>
          </a:xfrm>
          <a:prstGeom prst="ellipse">
            <a:avLst/>
          </a:prstGeom>
          <a:solidFill>
            <a:srgbClr val="EEB8E4"/>
          </a:solidFill>
          <a:ln w="12700">
            <a:solidFill>
              <a:srgbClr val="EEB8E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982712" y="5255514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8412480" y="5132527"/>
            <a:ext cx="3401568" cy="483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Camera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Roomba 前方の USB カメラ · Start/Stop 制御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7982712" y="5739232"/>
            <a:ext cx="237744" cy="237744"/>
          </a:xfrm>
          <a:prstGeom prst="ellipse">
            <a:avLst/>
          </a:prstGeom>
          <a:solidFill>
            <a:srgbClr val="80CBC4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982712" y="5739232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8412480" y="5616245"/>
            <a:ext cx="3401568" cy="483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Trajectory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Roomba の動作履歴を点で描画 · 直近1時間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7982712" y="6222949"/>
            <a:ext cx="347472" cy="237744"/>
          </a:xfrm>
          <a:prstGeom prst="ellipse">
            <a:avLst/>
          </a:prstGeom>
          <a:solidFill>
            <a:srgbClr val="FFAB91"/>
          </a:solidFill>
          <a:ln w="12700">
            <a:solidFill>
              <a:srgbClr val="FFAB91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982712" y="6222949"/>
            <a:ext cx="3474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8412480" y="6099962"/>
            <a:ext cx="3401568" cy="483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Thresholds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α ≥ enter で active · α ≤ exit で idle · dwell ms で確定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14601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PiEEG タブ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60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脳波解析 masonry ダッシュボード。AI 要約 · トポグラフィ · 帯域パワー · スペクトル · 相関。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57200" cy="36576"/>
          </a:xfrm>
          <a:prstGeom prst="rect">
            <a:avLst/>
          </a:prstGeom>
          <a:solidFill>
            <a:srgbClr val="7AB7FF"/>
          </a:solidFill>
          <a:ln w="12700">
            <a:solidFill>
              <a:srgbClr val="7AB7FF"/>
            </a:solidFill>
            <a:prstDash val="solid"/>
          </a:ln>
        </p:spPr>
      </p:sp>
      <p:pic>
        <p:nvPicPr>
          <p:cNvPr id="5" name="Image 0" descr="/tmp/eeg_pptx/shots/pie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5028663" cy="5349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325880"/>
            <a:ext cx="5028663" cy="5349240"/>
          </a:xfrm>
          <a:prstGeom prst="rect">
            <a:avLst/>
          </a:prstGeom>
          <a:ln w="12700">
            <a:solidFill>
              <a:srgbClr val="2731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1075" y="1549630"/>
            <a:ext cx="4918032" cy="319812"/>
          </a:xfrm>
          <a:prstGeom prst="rect">
            <a:avLst>
              <a:gd name="adj" fmla="val 11437"/>
            </a:avLst>
          </a:prstGeom>
          <a:ln w="25400">
            <a:solidFill>
              <a:srgbClr val="7AB7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923" y="1476478"/>
            <a:ext cx="292608" cy="292608"/>
          </a:xfrm>
          <a:prstGeom prst="ellipse">
            <a:avLst/>
          </a:prstGeom>
          <a:solidFill>
            <a:srgbClr val="7AB7FF"/>
          </a:solidFill>
          <a:ln w="12700">
            <a:solidFill>
              <a:srgbClr val="7AB7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923" y="1476478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1075" y="1889507"/>
            <a:ext cx="1632606" cy="1972543"/>
          </a:xfrm>
          <a:prstGeom prst="rect">
            <a:avLst>
              <a:gd name="adj" fmla="val 2240"/>
            </a:avLst>
          </a:prstGeom>
          <a:ln w="25400">
            <a:solidFill>
              <a:srgbClr val="F5B3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923" y="1816355"/>
            <a:ext cx="292608" cy="292608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923" y="1816355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063788" y="1889507"/>
            <a:ext cx="1632606" cy="835005"/>
          </a:xfrm>
          <a:prstGeom prst="rect">
            <a:avLst>
              <a:gd name="adj" fmla="val 4380"/>
            </a:avLst>
          </a:prstGeom>
          <a:ln w="25400">
            <a:solidFill>
              <a:srgbClr val="6FE6A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90636" y="1816355"/>
            <a:ext cx="292608" cy="292608"/>
          </a:xfrm>
          <a:prstGeom prst="ellipse">
            <a:avLst/>
          </a:prstGeom>
          <a:solidFill>
            <a:srgbClr val="6FE6A4"/>
          </a:solidFill>
          <a:ln w="12700">
            <a:solidFill>
              <a:srgbClr val="6FE6A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990636" y="1816355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706452" y="1889507"/>
            <a:ext cx="1632606" cy="790808"/>
          </a:xfrm>
          <a:prstGeom prst="rect">
            <a:avLst>
              <a:gd name="adj" fmla="val 4625"/>
            </a:avLst>
          </a:prstGeom>
          <a:ln w="25400">
            <a:solidFill>
              <a:srgbClr val="FF7B7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33300" y="1816355"/>
            <a:ext cx="292608" cy="292608"/>
          </a:xfrm>
          <a:prstGeom prst="ellipse">
            <a:avLst/>
          </a:prstGeom>
          <a:solidFill>
            <a:srgbClr val="FF7B7B"/>
          </a:solidFill>
          <a:ln w="12700">
            <a:solidFill>
              <a:srgbClr val="FF7B7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33300" y="1816355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063788" y="2732004"/>
            <a:ext cx="1632606" cy="2173690"/>
          </a:xfrm>
          <a:prstGeom prst="rect">
            <a:avLst>
              <a:gd name="adj" fmla="val 2240"/>
            </a:avLst>
          </a:prstGeom>
          <a:ln w="25400">
            <a:solidFill>
              <a:srgbClr val="C39DF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990636" y="2658852"/>
            <a:ext cx="292608" cy="292608"/>
          </a:xfrm>
          <a:prstGeom prst="ellipse">
            <a:avLst/>
          </a:prstGeom>
          <a:solidFill>
            <a:srgbClr val="C39DF5"/>
          </a:solidFill>
          <a:ln w="12700">
            <a:solidFill>
              <a:srgbClr val="C39D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990636" y="2658852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706452" y="2687807"/>
            <a:ext cx="1632606" cy="1205672"/>
          </a:xfrm>
          <a:prstGeom prst="rect">
            <a:avLst>
              <a:gd name="adj" fmla="val 3034"/>
            </a:avLst>
          </a:prstGeom>
          <a:ln w="25400">
            <a:solidFill>
              <a:srgbClr val="9AE6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33300" y="2614655"/>
            <a:ext cx="292608" cy="292608"/>
          </a:xfrm>
          <a:prstGeom prst="ellipse">
            <a:avLst/>
          </a:prstGeom>
          <a:solidFill>
            <a:srgbClr val="9AE6F0"/>
          </a:solidFill>
          <a:ln w="12700">
            <a:solidFill>
              <a:srgbClr val="9AE6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33300" y="2614655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21075" y="3869543"/>
            <a:ext cx="1632606" cy="979382"/>
          </a:xfrm>
          <a:prstGeom prst="rect">
            <a:avLst>
              <a:gd name="adj" fmla="val 3735"/>
            </a:avLst>
          </a:prstGeom>
          <a:ln w="25400">
            <a:solidFill>
              <a:srgbClr val="FFD27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7923" y="3796391"/>
            <a:ext cx="292608" cy="292608"/>
          </a:xfrm>
          <a:prstGeom prst="ellipse">
            <a:avLst/>
          </a:prstGeom>
          <a:solidFill>
            <a:srgbClr val="FFD27A"/>
          </a:solidFill>
          <a:ln w="12700">
            <a:solidFill>
              <a:srgbClr val="FFD27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7923" y="3796391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706452" y="3900972"/>
            <a:ext cx="1632606" cy="1079956"/>
          </a:xfrm>
          <a:prstGeom prst="rect">
            <a:avLst>
              <a:gd name="adj" fmla="val 3387"/>
            </a:avLst>
          </a:prstGeom>
          <a:ln w="25400">
            <a:solidFill>
              <a:srgbClr val="EEB8E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633300" y="3827820"/>
            <a:ext cx="292608" cy="292608"/>
          </a:xfrm>
          <a:prstGeom prst="ellipse">
            <a:avLst/>
          </a:prstGeom>
          <a:solidFill>
            <a:srgbClr val="EEB8E4"/>
          </a:solidFill>
          <a:ln w="12700">
            <a:solidFill>
              <a:srgbClr val="EEB8E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33300" y="3827820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21075" y="4856418"/>
            <a:ext cx="1632606" cy="790808"/>
          </a:xfrm>
          <a:prstGeom prst="rect">
            <a:avLst>
              <a:gd name="adj" fmla="val 4625"/>
            </a:avLst>
          </a:prstGeom>
          <a:ln w="25400">
            <a:solidFill>
              <a:srgbClr val="80CB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923" y="4783266"/>
            <a:ext cx="292608" cy="292608"/>
          </a:xfrm>
          <a:prstGeom prst="ellipse">
            <a:avLst/>
          </a:prstGeom>
          <a:solidFill>
            <a:srgbClr val="80CBC4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7923" y="4783266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2063788" y="4913187"/>
            <a:ext cx="1632606" cy="1670823"/>
          </a:xfrm>
          <a:prstGeom prst="rect">
            <a:avLst>
              <a:gd name="adj" fmla="val 2240"/>
            </a:avLst>
          </a:prstGeom>
          <a:ln w="25400">
            <a:solidFill>
              <a:srgbClr val="FFAB9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990636" y="4840035"/>
            <a:ext cx="420624" cy="292608"/>
          </a:xfrm>
          <a:prstGeom prst="ellipse">
            <a:avLst/>
          </a:prstGeom>
          <a:solidFill>
            <a:srgbClr val="FFAB91"/>
          </a:solidFill>
          <a:ln w="12700">
            <a:solidFill>
              <a:srgbClr val="FFAB9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990636" y="4840035"/>
            <a:ext cx="42062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3706452" y="4988420"/>
            <a:ext cx="1632606" cy="803379"/>
          </a:xfrm>
          <a:prstGeom prst="rect">
            <a:avLst>
              <a:gd name="adj" fmla="val 4553"/>
            </a:avLst>
          </a:prstGeom>
          <a:ln w="25400">
            <a:solidFill>
              <a:srgbClr val="C5E1A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633300" y="4915268"/>
            <a:ext cx="420624" cy="292608"/>
          </a:xfrm>
          <a:prstGeom prst="ellipse">
            <a:avLst/>
          </a:prstGeom>
          <a:solidFill>
            <a:srgbClr val="C5E1A5"/>
          </a:solidFill>
          <a:ln w="12700">
            <a:solidFill>
              <a:srgbClr val="C5E1A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33300" y="4915268"/>
            <a:ext cx="42062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421075" y="5654718"/>
            <a:ext cx="1632606" cy="853666"/>
          </a:xfrm>
          <a:prstGeom prst="rect">
            <a:avLst>
              <a:gd name="adj" fmla="val 4285"/>
            </a:avLst>
          </a:prstGeom>
          <a:ln w="25400">
            <a:solidFill>
              <a:srgbClr val="B6C3D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47923" y="5581566"/>
            <a:ext cx="420624" cy="292608"/>
          </a:xfrm>
          <a:prstGeom prst="ellipse">
            <a:avLst/>
          </a:prstGeom>
          <a:solidFill>
            <a:srgbClr val="B6C3D1"/>
          </a:solidFill>
          <a:ln w="12700">
            <a:solidFill>
              <a:srgbClr val="B6C3D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7923" y="5581566"/>
            <a:ext cx="42062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5714463" y="1325880"/>
            <a:ext cx="6202912" cy="5349240"/>
          </a:xfrm>
          <a:prstGeom prst="rect">
            <a:avLst>
              <a:gd name="adj" fmla="val 1368"/>
            </a:avLst>
          </a:prstGeom>
          <a:solidFill>
            <a:srgbClr val="151B22"/>
          </a:solidFill>
          <a:ln w="12700">
            <a:solidFill>
              <a:srgbClr val="27313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879055" y="1399032"/>
            <a:ext cx="5873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凡例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879055" y="1829181"/>
            <a:ext cx="237744" cy="237744"/>
          </a:xfrm>
          <a:prstGeom prst="ellipse">
            <a:avLst/>
          </a:prstGeom>
          <a:solidFill>
            <a:srgbClr val="7AB7FF"/>
          </a:solidFill>
          <a:ln w="12700">
            <a:solidFill>
              <a:srgbClr val="7AB7F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879055" y="1829181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6308823" y="1746504"/>
            <a:ext cx="5443960" cy="403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Insight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Gemini に1行で脳波要点を要約させる解析バー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5879055" y="2232279"/>
            <a:ext cx="237744" cy="237744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879055" y="2232279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6308823" y="2149602"/>
            <a:ext cx="5443960" cy="403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Topography (10-20)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頭部マップ + 電極テーブル · 帯域カラー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5879055" y="2635377"/>
            <a:ext cx="237744" cy="237744"/>
          </a:xfrm>
          <a:prstGeom prst="ellipse">
            <a:avLst/>
          </a:prstGeom>
          <a:solidFill>
            <a:srgbClr val="6FE6A4"/>
          </a:solidFill>
          <a:ln w="12700">
            <a:solidFill>
              <a:srgbClr val="6FE6A4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879055" y="2635377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6308823" y="2552700"/>
            <a:ext cx="5443960" cy="403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Cognitive metrics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Engagement · α/β · 前頭α非対称 (F3/F4) ほか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5879055" y="3038475"/>
            <a:ext cx="237744" cy="237744"/>
          </a:xfrm>
          <a:prstGeom prst="ellipse">
            <a:avLst/>
          </a:prstGeom>
          <a:solidFill>
            <a:srgbClr val="FF7B7B"/>
          </a:solidFill>
          <a:ln w="12700">
            <a:solidFill>
              <a:srgbClr val="FF7B7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879055" y="3038475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6308823" y="2955798"/>
            <a:ext cx="5443960" cy="403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Band power · 60s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選択ch の δθαβγ パワー時系列 (log/lin切替)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5879055" y="3441573"/>
            <a:ext cx="237744" cy="237744"/>
          </a:xfrm>
          <a:prstGeom prst="ellipse">
            <a:avLst/>
          </a:prstGeom>
          <a:solidFill>
            <a:srgbClr val="C39DF5"/>
          </a:solidFill>
          <a:ln w="12700">
            <a:solidFill>
              <a:srgbClr val="C39DF5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879055" y="3441573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6308823" y="3358896"/>
            <a:ext cx="5443960" cy="403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Channel × Band heatmap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16ch × 5帯域 · 各帯域内で正規化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5879055" y="3844671"/>
            <a:ext cx="237744" cy="237744"/>
          </a:xfrm>
          <a:prstGeom prst="ellipse">
            <a:avLst/>
          </a:prstGeom>
          <a:solidFill>
            <a:srgbClr val="9AE6F0"/>
          </a:solidFill>
          <a:ln w="12700">
            <a:solidFill>
              <a:srgbClr val="9AE6F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879055" y="3844671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6308823" y="3761994"/>
            <a:ext cx="5443960" cy="403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EEG live (16ch)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10秒窓の波形グリッド · hover で全パネル連動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5879055" y="4247769"/>
            <a:ext cx="237744" cy="237744"/>
          </a:xfrm>
          <a:prstGeom prst="ellipse">
            <a:avLst/>
          </a:prstGeom>
          <a:solidFill>
            <a:srgbClr val="FFD27A"/>
          </a:solidFill>
          <a:ln w="12700">
            <a:solidFill>
              <a:srgbClr val="FFD27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879055" y="4247769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6308823" y="4165092"/>
            <a:ext cx="5443960" cy="403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3D Brain · band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選択帯域パワーを脳球面に投影 (Three.js)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5879055" y="4650867"/>
            <a:ext cx="237744" cy="237744"/>
          </a:xfrm>
          <a:prstGeom prst="ellipse">
            <a:avLst/>
          </a:prstGeom>
          <a:solidFill>
            <a:srgbClr val="EEB8E4"/>
          </a:solidFill>
          <a:ln w="12700">
            <a:solidFill>
              <a:srgbClr val="EEB8E4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879055" y="4650867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6308823" y="4568190"/>
            <a:ext cx="5443960" cy="403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 × Channel · band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選択帯域の60秒履歴を ch 順縦軸で表示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5879055" y="5053965"/>
            <a:ext cx="237744" cy="237744"/>
          </a:xfrm>
          <a:prstGeom prst="ellipse">
            <a:avLst/>
          </a:prstGeom>
          <a:solidFill>
            <a:srgbClr val="80CBC4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879055" y="5053965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6308823" y="4971288"/>
            <a:ext cx="5443960" cy="403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Bands · ch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選択ch の δθαβγ パワーバー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5879055" y="5457063"/>
            <a:ext cx="347472" cy="237744"/>
          </a:xfrm>
          <a:prstGeom prst="ellipse">
            <a:avLst/>
          </a:prstGeom>
          <a:solidFill>
            <a:srgbClr val="FFAB91"/>
          </a:solidFill>
          <a:ln w="12700">
            <a:solidFill>
              <a:srgbClr val="FFAB91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5879055" y="5457063"/>
            <a:ext cx="3474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6308823" y="5374386"/>
            <a:ext cx="5443960" cy="403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Channel correlation · 10s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 間ピアソン相関行列 (±1 で完全同期)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5879055" y="5860161"/>
            <a:ext cx="347472" cy="237744"/>
          </a:xfrm>
          <a:prstGeom prst="ellipse">
            <a:avLst/>
          </a:prstGeom>
          <a:solidFill>
            <a:srgbClr val="C5E1A5"/>
          </a:solidFill>
          <a:ln w="12700">
            <a:solidFill>
              <a:srgbClr val="C5E1A5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5879055" y="5860161"/>
            <a:ext cx="3474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6308823" y="5777484"/>
            <a:ext cx="5443960" cy="403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Per-channel bands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 ごとに δθαβγ を左から並べ ch 単位で正規化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5879055" y="6263259"/>
            <a:ext cx="347472" cy="237744"/>
          </a:xfrm>
          <a:prstGeom prst="ellipse">
            <a:avLst/>
          </a:prstGeom>
          <a:solidFill>
            <a:srgbClr val="B6C3D1"/>
          </a:solidFill>
          <a:ln w="12700">
            <a:solidFill>
              <a:srgbClr val="B6C3D1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879055" y="6263259"/>
            <a:ext cx="3474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1000" dirty="0"/>
          </a:p>
        </p:txBody>
      </p:sp>
      <p:sp>
        <p:nvSpPr>
          <p:cNvPr id="80" name="Text 77"/>
          <p:cNvSpPr/>
          <p:nvPr/>
        </p:nvSpPr>
        <p:spPr>
          <a:xfrm>
            <a:off x="6308823" y="6180582"/>
            <a:ext cx="5443960" cy="403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PSD · ch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Welch法 · 10秒 · log y のパワースペクトル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14601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Roomba タブ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60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Roomba の手動操作・自動運転・カメラ・履歴。α判定の手動テストもここから。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57200" cy="36576"/>
          </a:xfrm>
          <a:prstGeom prst="rect">
            <a:avLst/>
          </a:prstGeom>
          <a:solidFill>
            <a:srgbClr val="7AB7FF"/>
          </a:solidFill>
          <a:ln w="12700">
            <a:solidFill>
              <a:srgbClr val="7AB7FF"/>
            </a:solidFill>
            <a:prstDash val="solid"/>
          </a:ln>
        </p:spPr>
      </p:sp>
      <p:pic>
        <p:nvPicPr>
          <p:cNvPr id="5" name="Image 0" descr="/tmp/eeg_pptx/shots/room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73152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325880"/>
            <a:ext cx="7315200" cy="4572000"/>
          </a:xfrm>
          <a:prstGeom prst="rect">
            <a:avLst/>
          </a:prstGeom>
          <a:ln w="12700">
            <a:solidFill>
              <a:srgbClr val="2731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6227" y="1664208"/>
            <a:ext cx="7154194" cy="278892"/>
          </a:xfrm>
          <a:prstGeom prst="rect">
            <a:avLst>
              <a:gd name="adj" fmla="val 13115"/>
            </a:avLst>
          </a:prstGeom>
          <a:ln w="25400">
            <a:solidFill>
              <a:srgbClr val="7AB7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73075" y="1591056"/>
            <a:ext cx="292608" cy="292608"/>
          </a:xfrm>
          <a:prstGeom prst="ellipse">
            <a:avLst/>
          </a:prstGeom>
          <a:solidFill>
            <a:srgbClr val="7AB7FF"/>
          </a:solidFill>
          <a:ln w="12700">
            <a:solidFill>
              <a:srgbClr val="7AB7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3075" y="1591056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6227" y="1961388"/>
            <a:ext cx="3493594" cy="1380744"/>
          </a:xfrm>
          <a:prstGeom prst="rect">
            <a:avLst>
              <a:gd name="adj" fmla="val 2649"/>
            </a:avLst>
          </a:prstGeom>
          <a:ln w="25400">
            <a:solidFill>
              <a:srgbClr val="F5B3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3075" y="1888236"/>
            <a:ext cx="292608" cy="292608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3075" y="1888236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936163" y="1961388"/>
            <a:ext cx="2512114" cy="1330452"/>
          </a:xfrm>
          <a:prstGeom prst="rect">
            <a:avLst>
              <a:gd name="adj" fmla="val 2749"/>
            </a:avLst>
          </a:prstGeom>
          <a:ln w="25400">
            <a:solidFill>
              <a:srgbClr val="6FE6A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63011" y="1888236"/>
            <a:ext cx="292608" cy="292608"/>
          </a:xfrm>
          <a:prstGeom prst="ellipse">
            <a:avLst/>
          </a:prstGeom>
          <a:solidFill>
            <a:srgbClr val="6FE6A4"/>
          </a:solidFill>
          <a:ln w="12700">
            <a:solidFill>
              <a:srgbClr val="6FE6A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63011" y="1888236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44620" y="1961388"/>
            <a:ext cx="1155802" cy="1455968"/>
          </a:xfrm>
          <a:prstGeom prst="rect">
            <a:avLst>
              <a:gd name="adj" fmla="val 3165"/>
            </a:avLst>
          </a:prstGeom>
          <a:ln w="25400">
            <a:solidFill>
              <a:srgbClr val="FF7B7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71468" y="1888236"/>
            <a:ext cx="292608" cy="292608"/>
          </a:xfrm>
          <a:prstGeom prst="ellipse">
            <a:avLst/>
          </a:prstGeom>
          <a:solidFill>
            <a:srgbClr val="FF7B7B"/>
          </a:solidFill>
          <a:ln w="12700">
            <a:solidFill>
              <a:srgbClr val="FF7B7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71468" y="1888236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" y="3435644"/>
            <a:ext cx="7154194" cy="251460"/>
          </a:xfrm>
          <a:prstGeom prst="rect">
            <a:avLst>
              <a:gd name="adj" fmla="val 14545"/>
            </a:avLst>
          </a:prstGeom>
          <a:ln w="25400">
            <a:solidFill>
              <a:srgbClr val="C39DF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3075" y="3362492"/>
            <a:ext cx="292608" cy="292608"/>
          </a:xfrm>
          <a:prstGeom prst="ellipse">
            <a:avLst/>
          </a:prstGeom>
          <a:solidFill>
            <a:srgbClr val="C39DF5"/>
          </a:solidFill>
          <a:ln w="12700">
            <a:solidFill>
              <a:srgbClr val="C39D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3075" y="3362492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46227" y="3705392"/>
            <a:ext cx="3493594" cy="1389888"/>
          </a:xfrm>
          <a:prstGeom prst="rect">
            <a:avLst>
              <a:gd name="adj" fmla="val 2632"/>
            </a:avLst>
          </a:prstGeom>
          <a:ln w="25400">
            <a:solidFill>
              <a:srgbClr val="9AE6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73075" y="3632240"/>
            <a:ext cx="292608" cy="292608"/>
          </a:xfrm>
          <a:prstGeom prst="ellipse">
            <a:avLst/>
          </a:prstGeom>
          <a:solidFill>
            <a:srgbClr val="9AE6F0"/>
          </a:solidFill>
          <a:ln w="12700">
            <a:solidFill>
              <a:srgbClr val="9AE6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3075" y="3632240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" y="5113568"/>
            <a:ext cx="7154194" cy="306324"/>
          </a:xfrm>
          <a:prstGeom prst="rect">
            <a:avLst>
              <a:gd name="adj" fmla="val 11940"/>
            </a:avLst>
          </a:prstGeom>
          <a:ln w="25400">
            <a:solidFill>
              <a:srgbClr val="FFD27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73075" y="5040416"/>
            <a:ext cx="292608" cy="292608"/>
          </a:xfrm>
          <a:prstGeom prst="ellipse">
            <a:avLst/>
          </a:prstGeom>
          <a:solidFill>
            <a:srgbClr val="FFD27A"/>
          </a:solidFill>
          <a:ln w="12700">
            <a:solidFill>
              <a:srgbClr val="FFD27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3075" y="5040416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818120" y="1325880"/>
            <a:ext cx="4160520" cy="5349240"/>
          </a:xfrm>
          <a:prstGeom prst="rect">
            <a:avLst>
              <a:gd name="adj" fmla="val 1758"/>
            </a:avLst>
          </a:prstGeom>
          <a:solidFill>
            <a:srgbClr val="151B22"/>
          </a:solidFill>
          <a:ln w="12700">
            <a:solidFill>
              <a:srgbClr val="2731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82712" y="1399032"/>
            <a:ext cx="3831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凡例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982712" y="1973145"/>
            <a:ext cx="237744" cy="237744"/>
          </a:xfrm>
          <a:prstGeom prst="ellipse">
            <a:avLst/>
          </a:prstGeom>
          <a:solidFill>
            <a:srgbClr val="7AB7FF"/>
          </a:solidFill>
          <a:ln w="12700">
            <a:solidFill>
              <a:srgbClr val="7AB7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82712" y="1973145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412480" y="1746504"/>
            <a:ext cx="3401568" cy="69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Emergency Stop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Roomba を即停止 · UI 全体の最上位コントロール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982712" y="2664170"/>
            <a:ext cx="237744" cy="237744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982712" y="2664170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412480" y="2437529"/>
            <a:ext cx="3401568" cy="69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Camera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Roomba 前方カメラ · Pi-A 側 USB カメラを取得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982712" y="3355195"/>
            <a:ext cx="237744" cy="237744"/>
          </a:xfrm>
          <a:prstGeom prst="ellipse">
            <a:avLst/>
          </a:prstGeom>
          <a:solidFill>
            <a:srgbClr val="6FE6A4"/>
          </a:solidFill>
          <a:ln w="12700">
            <a:solidFill>
              <a:srgbClr val="6FE6A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982712" y="3355195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412480" y="3128554"/>
            <a:ext cx="3401568" cy="69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Trajectory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Roomba の通った軌跡をマップに点描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982712" y="4046220"/>
            <a:ext cx="237744" cy="237744"/>
          </a:xfrm>
          <a:prstGeom prst="ellipse">
            <a:avLst/>
          </a:prstGeom>
          <a:solidFill>
            <a:srgbClr val="FF7B7B"/>
          </a:solidFill>
          <a:ln w="12700">
            <a:solidFill>
              <a:srgbClr val="FF7B7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982712" y="4046220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8412480" y="3819579"/>
            <a:ext cx="3401568" cy="69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 (Joystick)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手動操作の仮想ジョイスティック · 矢印 / スペースキー対応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982712" y="4737245"/>
            <a:ext cx="237744" cy="237744"/>
          </a:xfrm>
          <a:prstGeom prst="ellipse">
            <a:avLst/>
          </a:prstGeom>
          <a:solidFill>
            <a:srgbClr val="C39DF5"/>
          </a:solidFill>
          <a:ln w="12700">
            <a:solidFill>
              <a:srgbClr val="C39DF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982712" y="4737245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8412480" y="4510605"/>
            <a:ext cx="3401568" cy="69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A-Trigger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α状態に基づく手動 test fire · モード / ゴール / モデル指定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982712" y="5428270"/>
            <a:ext cx="237744" cy="237744"/>
          </a:xfrm>
          <a:prstGeom prst="ellipse">
            <a:avLst/>
          </a:prstGeom>
          <a:solidFill>
            <a:srgbClr val="9AE6F0"/>
          </a:solidFill>
          <a:ln w="12700">
            <a:solidFill>
              <a:srgbClr val="9AE6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982712" y="5428270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8412480" y="5201630"/>
            <a:ext cx="3401568" cy="69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Autopilot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Gemini にゴール (例: human leg) を指示し自動探索 · 思考ログ表示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7982712" y="6119295"/>
            <a:ext cx="237744" cy="237744"/>
          </a:xfrm>
          <a:prstGeom prst="ellipse">
            <a:avLst/>
          </a:prstGeom>
          <a:solidFill>
            <a:srgbClr val="FFD27A"/>
          </a:solidFill>
          <a:ln w="12700">
            <a:solidFill>
              <a:srgbClr val="FFD27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982712" y="6119295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8412480" y="5892655"/>
            <a:ext cx="3401568" cy="69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Recent commands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C9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直近送信したコマンド (forward/left/right/stop…) のチップ列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eeg_roomba ダッシュボード 説明書</dc:title>
  <dc:subject>PptxGenJS Presentation</dc:subject>
  <dc:creator>PptxGenJS</dc:creator>
  <cp:lastModifiedBy>PptxGenJS</cp:lastModifiedBy>
  <cp:revision>1</cp:revision>
  <dcterms:created xsi:type="dcterms:W3CDTF">2026-05-14T07:34:20Z</dcterms:created>
  <dcterms:modified xsi:type="dcterms:W3CDTF">2026-05-14T07:34:20Z</dcterms:modified>
</cp:coreProperties>
</file>