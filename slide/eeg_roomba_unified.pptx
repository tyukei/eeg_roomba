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0EA5E9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0"/>
          </a:xfrm>
          <a:prstGeom prst="line">
            <a:avLst/>
          </a:prstGeom>
          <a:noFill/>
          <a:ln w="7620">
            <a:solidFill>
              <a:srgbClr val="0EA5E9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1016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12700">
            <a:solidFill>
              <a:srgbClr val="0EA5E9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48640"/>
            <a:ext cx="1828800" cy="3108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48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脳波で動くロボット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データの流れで読み解くシステム全体像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PiEEG-16  →  α power  →  Roomba   |   3-node real-time pipeline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[登壇者名] / [所属]    —    [イベント名]    [日付]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データパイプライン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物理層 → 取得 → 転送 → 解析 → 判定 → 制御 → 物理層    +    Autopilot ループ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全体図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165207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73152" cy="2788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88720"/>
            <a:ext cx="1092055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88720"/>
            <a:ext cx="1055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物理層</a:t>
            </a:r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頭皮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627632"/>
            <a:ext cx="10006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電極 16ch (湿/乾)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ALPHA_CHANNELS=6,7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α波 10–100 μV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後頭部相当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12679" y="1188720"/>
            <a:ext cx="1165207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12679" y="1188720"/>
            <a:ext cx="73152" cy="2788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5831" y="1188720"/>
            <a:ext cx="1092055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2407" y="1188720"/>
            <a:ext cx="1055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PiEEG</a:t>
            </a:r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Pi-A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22407" y="1627632"/>
            <a:ext cx="10006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ADS129x ×2 (8ch×2)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24bit ΔΣ ADC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Hz · SPI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acquirer.py (systemd)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push + MQTT health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51038" y="1188720"/>
            <a:ext cx="1165207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51038" y="1188720"/>
            <a:ext cx="73152" cy="2788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24190" y="1188720"/>
            <a:ext cx="1092055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60766" y="1188720"/>
            <a:ext cx="1055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ingest</a:t>
            </a:r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60766" y="1627632"/>
            <a:ext cx="10006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LSLSource / FileReplay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network_mode: host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COPY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eeg_raw(ts,ch,uv)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eeg/chunk 250Hz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eeg/live 50Hz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89397" y="1188720"/>
            <a:ext cx="1165207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89397" y="1188720"/>
            <a:ext cx="73152" cy="2788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2549" y="1188720"/>
            <a:ext cx="1092055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99125" y="1188720"/>
            <a:ext cx="1055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feature</a:t>
            </a:r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99125" y="1627632"/>
            <a:ext cx="10006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1秒窓 / 250ms hop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HPF 1Hz / LPF 40Hz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50/60Hz notch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PSD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θ/α/β bandpower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eeg/alpha (retain)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27755" y="1188720"/>
            <a:ext cx="1165207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27755" y="1188720"/>
            <a:ext cx="73152" cy="2788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0907" y="1188720"/>
            <a:ext cx="1092055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7483" y="1188720"/>
            <a:ext cx="1055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decision</a:t>
            </a:r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37483" y="1627632"/>
            <a:ext cx="10006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α_avg = mean(ch6,7)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Schmitt ヒステリシス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enter=10 / exit=6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dwell=500ms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⇄ active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control/state retain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66114" y="1188720"/>
            <a:ext cx="1165207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6114" y="1188720"/>
            <a:ext cx="73152" cy="2788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9266" y="1188720"/>
            <a:ext cx="1092055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5842" y="1188720"/>
            <a:ext cx="1055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Pi-B</a:t>
            </a:r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Arduino bridge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75842" y="1627632"/>
            <a:ext cx="10006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pyserial /dev/ttyACM0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USB-CDC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3.3V→5V TTL 変換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state machine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704473" y="1188720"/>
            <a:ext cx="1165207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04473" y="1188720"/>
            <a:ext cx="73152" cy="2788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7625" y="1188720"/>
            <a:ext cx="1092055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4201" y="1188720"/>
            <a:ext cx="10554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Roomba</a:t>
            </a:r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物理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814201" y="1627632"/>
            <a:ext cx="10006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mini-DIN 7pin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115200 bps TTL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Drive(vel, radius)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opcode 137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モーター駆動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4114800"/>
            <a:ext cx="859536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1148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基盤レイヤ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(PC: docker compose / 7 コンテナ)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TimescaleDB  ·  Mosquitto (MQTT)  ·  api+frontend  ·  ingest  ·  feature  ·  decision  ·  pieeg-replay  ·  Tailscale tailnet (管理面)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4320" y="471830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レイテンシ予算 (EEGパス):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中央値 &lt; 500ms / p95 &lt; 1s   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SPI→LSL 5ms · ingest 20ms · Welch 50ms · MQTT 20ms · HTTP 100ms · Arduino+ROI 数ms · モーター応答 ~100ms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90118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パス: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判断あたり 中央値 ~2s  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(JPEG取得 200ms + Gemini API ~1.5s + dispatch 200ms)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本日の流れ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ハードウェア軸ではなく『データの流れ』軸で 6 ブロックに整理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2984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73152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センサ/デバイス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68780" y="2331720"/>
            <a:ext cx="8229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755648" y="1463040"/>
            <a:ext cx="12984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55648" y="1463040"/>
            <a:ext cx="73152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16276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755648" y="21762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55648" y="25603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58668" y="2331720"/>
            <a:ext cx="8229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45536" y="1463040"/>
            <a:ext cx="12984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45536" y="1463040"/>
            <a:ext cx="73152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6276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145536" y="21762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45536" y="25603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/ 前処理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2331720"/>
            <a:ext cx="8229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35424" y="1463040"/>
            <a:ext cx="12984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35424" y="146304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5424" y="16276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4535424" y="21762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蓄積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35424" y="25603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保存設計 (山場)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38444" y="2331720"/>
            <a:ext cx="8229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25312" y="1463040"/>
            <a:ext cx="12984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25312" y="1463040"/>
            <a:ext cx="73152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25312" y="16276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925312" y="21762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25312" y="25603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28332" y="2331720"/>
            <a:ext cx="82296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315200" y="1463040"/>
            <a:ext cx="12984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0" y="1463040"/>
            <a:ext cx="73152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162763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7315200" y="21762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配信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15200" y="25603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ロボット制御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474720"/>
            <a:ext cx="8412480" cy="77724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474720"/>
            <a:ext cx="73152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474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なぜ『データの流れ』軸か?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データエンジニアに馴染みのある『どこを通り、どこで形を変えるか』で整理 → 再利用できる設計が見える。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④ 蓄積を独立した山場として扱います (リアルタイム経路 × 蓄積経路の二重化が本資料の核心)。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 / Agenda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何を作ったか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脳波(EEG)でロボット掃除機を動かすシステム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128016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80160"/>
            <a:ext cx="73152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898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16ch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84048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channels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05456" y="128016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05456" y="1280160"/>
            <a:ext cx="73152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13898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250Hz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05456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28016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28016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3898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 ms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26864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end-to-end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48272" y="128016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8272" y="1280160"/>
            <a:ext cx="73152" cy="10972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3898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nodes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48272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Pi-A · PC · Pi-B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606040"/>
            <a:ext cx="8412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606040"/>
            <a:ext cx="73152" cy="1920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697480"/>
            <a:ext cx="8046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システムを一言で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頭に付けたセンサで脳波を取り、Roomba を動かす  —  センサ → 推論 → 制御コマンドが 1秒以内 で 1周 する、複数台のマシンを跨いだ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リアルタイム・データパイプライン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
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本日のテーマ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「ロボットを動かす話」ではなく、その裏側の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データ基盤の設計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の話をします  —  どこを通って、どこで形を変え、どこで分岐して、どこで止まるか。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p.4 / Intro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普段見ているシステム図 (カオス版)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ハードウェア軸の素朴な俯瞰  —  これを次スライドで 6 ステージに整理し直します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80160"/>
            <a:ext cx="73152" cy="2834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80160"/>
            <a:ext cx="2624328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2801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脳波計測 PC (Pi-A)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2423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EEG ヘッドセット (PiEEG-16)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ADS129x ×2 · 24bit ΔΣ · SPI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acquirer.py (uv + systemd)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outlet  EEG_16ch_250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 pieeg/health (retain)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last-will: 切断検知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28016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280160"/>
            <a:ext cx="73152" cy="2834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1280160"/>
            <a:ext cx="2624328" cy="3291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2801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 PC (Linux + docker)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691640"/>
            <a:ext cx="2423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inlet (host network)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前処理: BPF / notch / 窓化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PSD · α/β bandpower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Schmitt ヒステリシス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(MQTT broker)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(hypertable)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React/Vite frontend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autopilot: Gemini Robotics-ER 1.6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80160"/>
            <a:ext cx="73152" cy="2834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08192" y="1280160"/>
            <a:ext cx="2624328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9632" y="12801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ロボット側 (Pi-B + Arduino + Roomba)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1691640"/>
            <a:ext cx="2423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Pi-B FastAPI :8000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sub roomba/cmd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USB-CDC 経由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↔ 5V TTL 変換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Roomba OI Drive (opcode 137)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camera /camera/stream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○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 roomba/state (retain)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251960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434840"/>
            <a:ext cx="146304" cy="1463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(UDP multicast + TCP)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4434840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(TCP / retain / will)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4434840"/>
            <a:ext cx="146304" cy="14630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serial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4434840"/>
            <a:ext cx="146304" cy="1463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7728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Object store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p.5 / 現状図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全体像  —  データの流れ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本日のホーム画面: 次から各ブロックをズームしていきます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71600"/>
            <a:ext cx="73152" cy="1325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63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生成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" y="1874520"/>
            <a:ext cx="1216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EEGヘッドセット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04772" y="2034540"/>
            <a:ext cx="109728" cy="0"/>
          </a:xfrm>
          <a:prstGeom prst="line">
            <a:avLst/>
          </a:prstGeom>
          <a:noFill/>
          <a:ln w="1778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719072" y="137160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19072" y="1371600"/>
            <a:ext cx="73152" cy="1325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19072" y="1463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転送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73936" y="1874520"/>
            <a:ext cx="1216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49524" y="2034540"/>
            <a:ext cx="109728" cy="0"/>
          </a:xfrm>
          <a:prstGeom prst="line">
            <a:avLst/>
          </a:prstGeom>
          <a:noFill/>
          <a:ln w="1778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63824" y="137160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63824" y="1371600"/>
            <a:ext cx="73152" cy="1325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63824" y="1463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加工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18688" y="1874520"/>
            <a:ext cx="1216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stream + 前処理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94276" y="2034540"/>
            <a:ext cx="109728" cy="0"/>
          </a:xfrm>
          <a:prstGeom prst="line">
            <a:avLst/>
          </a:prstGeom>
          <a:noFill/>
          <a:ln w="1778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608576" y="137160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08576" y="1371600"/>
            <a:ext cx="73152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463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蓄積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1874520"/>
            <a:ext cx="1216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+ Parquet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39028" y="2034540"/>
            <a:ext cx="109728" cy="0"/>
          </a:xfrm>
          <a:prstGeom prst="line">
            <a:avLst/>
          </a:prstGeom>
          <a:noFill/>
          <a:ln w="1778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53328" y="137160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53328" y="1371600"/>
            <a:ext cx="73152" cy="1325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1463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判断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08192" y="1874520"/>
            <a:ext cx="1216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 → 制御コマンド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83780" y="2034540"/>
            <a:ext cx="109728" cy="0"/>
          </a:xfrm>
          <a:prstGeom prst="line">
            <a:avLst/>
          </a:prstGeom>
          <a:noFill/>
          <a:ln w="1778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98080" y="1371600"/>
            <a:ext cx="1325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98080" y="1371600"/>
            <a:ext cx="73152" cy="1325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1463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 配信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552944" y="1874520"/>
            <a:ext cx="1216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serial → Roomba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実行マシン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108960"/>
            <a:ext cx="132588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108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719072" y="3108960"/>
            <a:ext cx="5660136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19072" y="3108960"/>
            <a:ext cx="5660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集約 PC (docker compose · 7 containers)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98080" y="3108960"/>
            <a:ext cx="132588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0" y="3108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3749040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374904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  —  どの区間に何を通すか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4160520"/>
            <a:ext cx="54864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160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51560" y="4114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Pi-A → PC  生 EEG · ns time-sync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46120" y="4160520"/>
            <a:ext cx="5486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46120" y="4160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840480" y="4114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⇄ Pi-B  状態 / 制御 · retain &amp; will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35040" y="4160520"/>
            <a:ext cx="548640" cy="2926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5040" y="41605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629400" y="4114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Pi-B → 周辺  REST (既存資産)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p.6 / Home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生成  |  センサとデバイス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ヘッドセット (PiEEG-16) — Raspberry Pi に直結したセンサ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信号鎖 (シグナルチェーン)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691640"/>
            <a:ext cx="109728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頭皮 (湿/乾 電極)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Ag/AgCl · 16ch · 後頭部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" y="2112264"/>
            <a:ext cx="0" cy="731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2194560"/>
            <a:ext cx="109728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アナログ前置増幅 (PGA)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ADS129x 内蔵 · ゲイン 1–24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" y="2615184"/>
            <a:ext cx="0" cy="731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" y="2697480"/>
            <a:ext cx="109728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97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bit ΔΣ ADC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ADS129x ×2 · 250 SPS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" y="3118104"/>
            <a:ext cx="0" cy="731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" y="3200400"/>
            <a:ext cx="109728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 ・ DMA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" y="3621024"/>
            <a:ext cx="0" cy="7315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" y="3703320"/>
            <a:ext cx="109728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03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acquirer.py (uv + systemd)
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outlet + MQTT health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生成側マシン: Pi-A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16916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センサと『同じハードに乗っている』</a:t>
            </a:r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ここから先は普通の IP ネットワーク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Pi-A の役割は『センサの薄いラッパー』</a:t>
            </a:r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推論も保存もしない・電源断耐性のみ責任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送信は 2 系統</a:t>
            </a:r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① LSL outlet (波形)   ② MQTT health (死活)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(Python)・systemd・gh CLI で構成</a:t>
            </a:r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SETUP.md の bring-up-pi スキルで一発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p.7 / Stage 1: 生成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生成  |  データの形と量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帯域は小さい — しかし止まらない・順番が崩れないことが要件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12801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280160"/>
            <a:ext cx="73152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89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sample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16ch × 24-bit ΔΣ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(内部表現 4B/ch)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05456" y="12801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05456" y="1280160"/>
            <a:ext cx="73152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1389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05456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96896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sample × 64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(ペイロード ≈ 12 KB)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12801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280160"/>
            <a:ext cx="73152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389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960 KB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26864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分 = 1 session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8304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うちαは ch 6, 7 のみ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48272" y="12801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48272" y="128016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1389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2.7 GB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748272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日 (連続)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39712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16ch × 250Hz × 86400s × 4B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926080"/>
            <a:ext cx="8412480" cy="169164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926080"/>
            <a:ext cx="73152" cy="1691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データエンジニア視点での示唆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32918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帯域 (Bandwidth)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KB/s 程度  —  IoT としてはむしろ小さい部類。家庭用 LAN で素通り。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順序 (Order)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Hz = 4 ms ごとに 1 サンプル  →  入れ替わると周波数解析が壊れる。シーケンス番号必須。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連続性 (Continuity)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 100 ms の遅延でも体感に響く  →  best-effort 経路と persist 経路を分けて『止まらない』ことを最優先。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時刻 (Time) 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サンプル時刻は単調増加  —  ホスト時計ではなく LSL クロック基準。DB 保存時にどちらを採用するかが設計判断。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p.8 / Stage 1: 生成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転送  |  MQTT とは — 30 秒で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軽量な pub/sub のメッセージブローカー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 / sub の基本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1188720" cy="731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1828800"/>
            <a:ext cx="137160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828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1463040"/>
            <a:ext cx="73152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463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2103120"/>
            <a:ext cx="73152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103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55648" y="2194560"/>
            <a:ext cx="237744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01568" y="2103120"/>
            <a:ext cx="237744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01568" y="2286000"/>
            <a:ext cx="237744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4864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topic:  eeg/alpha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06324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: 文字列パス  例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eeg/raw, roomba/cmd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が topic に投げ、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が受け取る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ペイロード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は中身を問わない (バイナリ可)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今回の鍵となる 2 つの機能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1783080"/>
            <a:ext cx="3840480" cy="118872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178308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8288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 (フラグ)</a:t>
            </a:r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『最後の値』を broker が覚えていて、後から繋いだ subscriber にも 即配る。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状態 topic に最適: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control/state, pieeg/health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0600" y="3108960"/>
            <a:ext cx="3840480" cy="128016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108960"/>
            <a:ext cx="73152" cy="12801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15468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last-will  (LWT)</a:t>
            </a:r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クライアントが落ちたとき『遺言』を broker が自動配信。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ハートビート実装が要らない: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が死んだら『停止』が roomba/cmd に勝手に流れる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p.9 / Stage 2: 転送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転送  |  このシステムでの使い方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設計  —  state は retain、event は流すだけ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502920"/>
                <a:gridCol w="640080"/>
                <a:gridCol w="1508760"/>
                <a:gridCol w="20116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pieeg/health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Pi-A の死活/CPU/温度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pi-a/acquirer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ingest, 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eeg/chunk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生波形 250 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pi-a/acquirer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(録画系のみ)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eeg/live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間引き 50 Hz (UI 用)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eeg/alpha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power 1 秒平均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decision, 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control/state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⇄ 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Pi-B, 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control/threshold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Schmitt の上下しきい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roomba/cmd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fwd/back/left/right/stop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/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pi-b/roomba-state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roomba/state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Pi-B 側の応答 / battery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pi-b/roomba-state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frontend, autopilot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393192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 MQTT を制御側に?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内コンテナ群と Pi-B が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『お互いの IP を直接知らなくていい』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(broker さえ見えれば動く)  ·  retain で再起動後も最新値即取得  ·  last-will で死んだら自動停止。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p.10 / Stage 2: 転送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比較  |  ストリーミング層 プロトコル候補 5 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 §1  —  なぜ LSL + MQTT のハイブリッドなのか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280160"/>
                <a:gridCol w="1371600"/>
                <a:gridCol w="1371600"/>
                <a:gridCol w="132588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LSL のみ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のみ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ZeroMQ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/ Redis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LSL + MQTT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生EEG 搬送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chunk必要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ns精度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自前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自前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自前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LSL組込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multicast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broker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自前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永続化 / retain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retain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MQTT側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認証 / TLS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自前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MQTT側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BCI ツール互換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pylsl/MNE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要否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必要 Mosquitto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必要 重め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必要 軽量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運用負荷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判定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UI/状態に不便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time-sync 再発明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運用が割に合わず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ノードで overkill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採用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強い  ·  </a:t>
            </a:r>
            <a:pPr algn="ctr" indent="0" marL="0">
              <a:buNone/>
            </a:pPr>
            <a:r>
              <a:rPr lang="en-US" sz="10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可  ·  </a:t>
            </a:r>
            <a:pPr algn="ctr"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制限あり  ·  </a:t>
            </a:r>
            <a:pPr algn="ctr" indent="0" marL="0">
              <a:buNone/>
            </a:pPr>
            <a:r>
              <a:rPr lang="en-US" sz="10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非対応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p.11 / Compare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比較  |  プロトコル役割分担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波形は LSL、状態と制御は MQTT、既存資産は HTTP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何を運ぶ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 EEG 波形 16ch × 250 Hz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167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具体例 (topic / endpoint)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pieeg_16ch  (outlet → inlet)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87121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0358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2552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41985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✓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time-sync 組込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✓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事実標準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✓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 自動 discovery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401421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弱み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✗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内のみ・認証なし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✗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永続化なし・WebUI に不向き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54680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188720"/>
            <a:ext cx="27432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91840" y="16916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何を運ぶ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状態 + 制御 + イベント + 特徴量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2167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具体例 (topic / endpoint)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pieeg/health, control/state,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control/threshold, eeg/chunk,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eeg/alpha, roomba/cmd …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287121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30358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state=yes  /  event=no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32552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37560" y="341985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✓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/ last-will / QoS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✓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bridge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✓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は Pi でも軽量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401421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弱み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3756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✗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Hz 生データは非効率 (chunk 化必要)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35040" y="11887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1188720"/>
            <a:ext cx="274320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1188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172200" y="16916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何を運ぶ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72200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Roomba 駆動コマンド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21671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具体例 (topic / endpoint)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7220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 /move  /halt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72200" y="287121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72200" y="30358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72200" y="325526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341985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✓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 Roomba FastAPI を活用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✓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標準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72200" y="401421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弱み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1792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✗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非対応</a:t>
            </a:r>
            <a:endParaRPr lang="en-US" sz="900" dirty="0"/>
          </a:p>
          <a:p>
            <a:pPr marL="342900" indent="-342900">
              <a:spcAft>
                <a:spcPts val="100"/>
              </a:spcAft>
              <a:buSzPct val="100000"/>
              <a:buChar char="✗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リクエスト/秒 が増えると不利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p.12 / Compare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比較  |  覆す条件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前提が変わったら、どのプロトコルに移行するか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トリガ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移行先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越えが必要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(TLS + 認証)  /  WebRTC DataChannel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LSL は LAN + multicast 前提のため WAN 越え不可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マルチプロデューサで信頼配信が必要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追加検討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 + offset で順序保証 / fan-out 拡大に強い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計測ノードが 10 台超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PTP time-sync サービスへ移行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LSL 内蔵 sync の精度限界を超える規模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クラウド延伸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bridge → AWS IoT / Azure IoT 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bridge 1 本足すだけで延伸可能 (LSL は LAN 止まり)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学外公開 / 複数被験者の長期保管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Mosquitto password + TLS / Postgres SCRAM / OIDC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現状は LAN 内 anonymous 前提のため認証層が必要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p.13 / Compare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余談  |  MQTT と Kafka はどう違う?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『pub/sub なら Kafka でいいのでは?』にお答えします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note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73152" cy="2926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280160"/>
            <a:ext cx="404164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軽量な『現在値の交換』が得意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3703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ペイロード小・低遅延・トピックは木構造の文字列 (roomba/cmd)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で『最新値』、last-will で『死活』 → IoT / 制御向け便利機能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は基本揮発  —  過去ログは取れない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2926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6592" y="1280160"/>
            <a:ext cx="4041648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4632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『全イベントを永続ログとして残す』が得意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286000"/>
            <a:ext cx="3703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は追記型のログ  —  過去に巻き戻して再生できる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+ consumer group で水平スケール、offset で再起動安全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は重い (Zookeeper / KRaft 込み)、最小遅延では MQTT に負ける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今回の選択: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『最新値が分かれば十分・低遅延・組み込みも繋ぐ』要件なので MQTT。ログ再生が要件になれば Kafka 併用も検討余地あり。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p.14 / Side note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加工  |  LSL とは — 30 秒で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時系列ストリーム + 時刻同期 がワンセットの中継規格 (Lab Streaming Layer)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ストリームの自己記述 (schema)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3840480" cy="1645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&lt;stream&gt;
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name="pieeg_16ch"
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type="EEG"
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nominal_srate=250
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channel_count=16
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channel_format="float32"
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source_id="pi-a-001"
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&lt;/stream&gt;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→ inlet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 P2P。broker 不要。
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multicast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で発見 →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で本データ。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6916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脳波 / 生体信号系で定番</a:t>
            </a:r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(UCSD Swartz Center 発)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という単位で chunk + timestamp</a:t>
            </a:r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サンプリングレート / ch 数 / dtype が スキーマ固定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時刻合わせを LSL 側がやってくれる</a:t>
            </a:r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NTP 風の補正を自前で書かなくていい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は UDP マルチキャスト + TCP</a:t>
            </a:r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Docker bridge ネットワークでは発見できない罠 (要 host network)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本プロジェクトは LAN 跨ぎで使用</a:t>
            </a:r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一般にはマシン内 IPC だが、Pi-A → PC を LAN で通している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p.15 / Stage 3: 加工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加工  |  パイプラインの中身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inlet → 前処理 → 特徴量・推論 → MQTT publish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80160"/>
            <a:ext cx="73152" cy="1783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80160"/>
            <a:ext cx="19385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inlet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7373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Pi-A の outlet を LAN multicast で受信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network で Docker 越えに到達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90572" y="2171700"/>
            <a:ext cx="10972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04872" y="128016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04872" y="1280160"/>
            <a:ext cx="73152" cy="1783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78024" y="1280160"/>
            <a:ext cx="19385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前処理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9464" y="17373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 (1–40 Hz)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50/60 Hz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窓化 (1s / 250ms hop)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21124" y="2171700"/>
            <a:ext cx="10972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35424" y="128016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35424" y="1280160"/>
            <a:ext cx="73152" cy="1783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08576" y="1280160"/>
            <a:ext cx="19385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特徴量・推論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0016" y="17373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PSD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/ α / β bandpower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Schmitt 閾値判定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51676" y="2171700"/>
            <a:ext cx="10972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65976" y="1280160"/>
            <a:ext cx="2011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65976" y="1280160"/>
            <a:ext cx="73152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39128" y="1280160"/>
            <a:ext cx="1938528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0568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publish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30568" y="173736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eeg/alpha (retain)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control/state (retain)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roomba/cmd (event)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3337560"/>
            <a:ext cx="8595360" cy="137160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337560"/>
            <a:ext cx="73152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3832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役割分担の実態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" y="370332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:  Pi-A → PC を LAN マルチキャストで跨ぐ (時刻同期込み)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 PC 内コンテナ間 + PC → Pi-B (制御コマンド・状態)
</a:t>
            </a:r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時刻同期は LSL に任せ、制御は broker 経由で Pi-B 再起動でも retain で即復帰。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</a:t>
            </a:r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は本来マシン内向け</a:t>
            </a:r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だが、本プロジェクトでは LAN マルチキャストで跨いで使用 (Docker は host network 必須)。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p.16 / Stage 3: 加工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蓄積  |  2 つの相反する要件をどう両立するか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本日の山場  —  リアルタイム経路 × 蓄積経路の二重化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840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73152" cy="2606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280160"/>
            <a:ext cx="3767328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リアルタイム経路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『今この瞬間の判断』のため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14884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最新値が &lt; 50ms で読める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推論モデルが直前 N サンプルを毎ループ参照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落としていい (古いデータは捨てる)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再起動で消えても構わない (揮発 OK)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2308860"/>
            <a:ext cx="548640" cy="54864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3088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280160"/>
            <a:ext cx="3840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280160"/>
            <a:ext cx="73152" cy="2606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10912" y="1280160"/>
            <a:ext cx="376732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蓄積経路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『あとから学習・分析』のため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214884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全サンプルを 1 つも欠けず長期保存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セッション単位で取り出せる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再学習・オフライン分析に耐える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圧縮しやすい (列指向 / hypertable)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答え: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『ストリーム』と『ストア』を分け、両方に枝分かれさせる  —  経路ごとに QoS / transport / 永続化 を変える。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p.17 / Stage 4: 蓄積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蓄積  |  枝分かれの設計図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· Warm · Cold の三層構造  —  LSL stream を分岐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1188720"/>
            <a:ext cx="3108960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1887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stream  (前処理済み・特徴量含む)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691640"/>
            <a:ext cx="-2857500" cy="411480"/>
          </a:xfrm>
          <a:prstGeom prst="line">
            <a:avLst/>
          </a:prstGeom>
          <a:noFill/>
          <a:ln w="2032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" y="210312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03120"/>
            <a:ext cx="73152" cy="2560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103120"/>
            <a:ext cx="262432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— Ring Buffer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606040"/>
            <a:ext cx="1280160" cy="2194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06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現在実装済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" y="29260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3090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(numpy / deque)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3375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3502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推論モデル用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37490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" y="3913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直近 N 秒だけ保持 / 自動廃棄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41605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読み出し遅延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43251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691640"/>
            <a:ext cx="22860" cy="411480"/>
          </a:xfrm>
          <a:prstGeom prst="line">
            <a:avLst/>
          </a:prstGeom>
          <a:noFill/>
          <a:ln w="2032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46120" y="210312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103120"/>
            <a:ext cx="73152" cy="2560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9272" y="2103120"/>
            <a:ext cx="2624328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— TimescaleDB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383280" y="2606040"/>
            <a:ext cx="1280160" cy="21945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606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現在実装済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10712" y="29260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10712" y="3090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時系列拡張 (hypertable + 圧縮 + retention)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10712" y="33375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10712" y="3502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セッション分析 / 可視化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10712" y="37490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10712" y="3913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で 250 Hz × 16ch 書き込み  ·  圧縮 5–10x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10712" y="41605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読み出し遅延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10712" y="43251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100 ms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1691640"/>
            <a:ext cx="2903220" cy="411480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126480" y="210312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103120"/>
            <a:ext cx="73152" cy="2560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99632" y="2103120"/>
            <a:ext cx="2624328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— Parquet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63640" y="2606040"/>
            <a:ext cx="128016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606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将来案・未実装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91072" y="29260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91072" y="3090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ローカルディスク + S3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91072" y="33375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91072" y="35021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オフライン学習 / 監査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91072" y="37490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91072" y="3913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セッション単位ファイル + メタ JSON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91072" y="41605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読み出し遅延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43251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分〜時間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p.18 / Stage 4: 蓄積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蓄積  |  時系列 DB 候補 4 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 §3  —  検討した代替案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0332" y="1325880"/>
            <a:ext cx="2011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0332" y="1325880"/>
            <a:ext cx="73152" cy="3108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3212" y="1508760"/>
            <a:ext cx="137160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" y="1508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3212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/ HDF5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3212" y="2331720"/>
            <a:ext cx="1645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" y="242316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時刻命名で書き貯め。pandas/Polars 直結。retention とクエリは自前。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00884" y="1325880"/>
            <a:ext cx="2011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00884" y="1325880"/>
            <a:ext cx="73152" cy="3108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83764" y="1508760"/>
            <a:ext cx="137160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83764" y="1508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時系列専用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83764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83764" y="2331720"/>
            <a:ext cx="1645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83764" y="242316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protocol + Flux/InfluxQL。IoT メトリクス向け。学習コスト + エコシステム断絶。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31436" y="1325880"/>
            <a:ext cx="2011680" cy="310896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31436" y="1325880"/>
            <a:ext cx="73152" cy="3108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14316" y="1508760"/>
            <a:ext cx="13716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4316" y="1508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拡張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14316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14316" y="2331720"/>
            <a:ext cx="1645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4316" y="242316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 SQL + hypertable + 圧縮 + retention 宣言的。異種テーブルを JOIN。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31436" y="4023360"/>
            <a:ext cx="20116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1436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採用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61988" y="1325880"/>
            <a:ext cx="2011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61988" y="1325880"/>
            <a:ext cx="73152" cy="3108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44868" y="1508760"/>
            <a:ext cx="137160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4868" y="1508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列指向 OLAP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4868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944868" y="2331720"/>
            <a:ext cx="1645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4868" y="242316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大規模集計とログに強い。圧縮率 10–20×。本件規模では overkill、運用重い。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p.19 / Compare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蓄積  |  時系列 DB 総合比較表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本プロジェクトの候補 + 周辺の主要時系列・分析 DB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1371600"/>
                <a:gridCol w="1371600"/>
                <a:gridCol w="137160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TimescaleDB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InfluxDB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ClickHouse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Parquet+DuckDB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拡張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専用エンジン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列指向 OLAP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ファイル+組込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専用エンジン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クエリ言語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標準 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/ InfluxQL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方言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標準 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拡張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圧縮率 (16ch)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284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トランザクション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ACID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継続集計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agg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materialized 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自前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運用負荷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極低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得意分野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混合 OLTP+時系列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メトリクス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大規模分析・log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アドホック分析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高頻度 tick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強い  ·  </a:t>
            </a:r>
            <a:pPr algn="ctr" indent="0" marL="0">
              <a:buNone/>
            </a:pPr>
            <a:r>
              <a:rPr lang="en-US" sz="10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可  ·  </a:t>
            </a:r>
            <a:pPr algn="ctr" indent="0" marL="0">
              <a:buNone/>
            </a:pPr>
            <a:r>
              <a:rPr lang="en-US" sz="1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制限あり  ·  </a:t>
            </a:r>
            <a:pPr algn="ctr" indent="0" marL="0">
              <a:buNone/>
            </a:pPr>
            <a:r>
              <a:rPr lang="en-US" sz="10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非対応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p.20 / Compare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蓄積  |  ワークロード別の向き不向き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ユースケース → 第一候補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50292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73152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raw + 特徴量 + events を JOIN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69080" y="12344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1234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75120" y="12344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異種テーブル + SQL + ACID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78308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783080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台で IoT メトリクスを書き溜め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69080" y="17830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/ Timescale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1783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どちらも可。SQL 派なら Timescale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331720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 TB 級・集計クエリ中心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69080" y="23317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912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75120" y="23317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圧縮率と集計スループットが圧倒的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88036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880360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880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研究データを pandas / Polars で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069080" y="28803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8912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+ DuckDB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67512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ファイルのまま持ち運べる、ゼロ運用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42900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429000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429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 tick / 数百万 row/s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069080" y="342900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8912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QuestDB / ClickHouse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675120" y="34290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最適化、ILP で高速 ingest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977640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977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サーバ監視メトリクス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069080" y="39776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38912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675120" y="39776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+ PromQL + alerting 一式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p.21 / Compare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蓄積  |  本プロジェクトでの選定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Hz × 16ch ≒ 2.7 GB/日 の文脈で TimescaleDB を採用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Hz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ch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≒  </a:t>
            </a:r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GB / 日</a:t>
            </a:r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(生波形)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73152" cy="2606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965960"/>
            <a:ext cx="404164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採用: TimescaleDB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の SQL がそのまま使える</a:t>
            </a:r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 / asyncpg / Grafana / DBeaver 全部標準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hypertable + 圧縮 + retention が宣言的</a:t>
            </a:r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compress_segmentby='ch' で 16ch を 5–10× 圧縮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✓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異種テーブルを 1 DB に集約</a:t>
            </a:r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raw + Welch 特徴量 + events を JOIN で分析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965960"/>
            <a:ext cx="73152" cy="26060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6592" y="1965960"/>
            <a:ext cx="404164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覆す条件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25146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数日連続で 2.7 GB/日 が辛い</a:t>
            </a:r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raw=Parquet + features=TimescaleDB の二段構成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分析が単純な集計のみになる</a:t>
            </a:r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ClickHouse に移行 (集計スループット重視)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学外公開・複数被験者の長期保管</a:t>
            </a:r>
            <a:pPr indent="0" marL="0">
              <a:spcAft>
                <a:spcPts val="5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Postgres SCRAM + retention 強化 + 監査ログ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DESIGN.md §3 (TimescaleDB を採用した理由)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p.22 / Decision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蓄積  |  運用で効いてくる 3 つの設計判断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落とせる / 落とせない・再起動耐性・セッションの切り出し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73152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07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落としていいデータ vs 落としてはダメなデータ を どう分ける?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325880"/>
            <a:ext cx="20116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325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現状の方針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600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経路ごとに QoS / transport を変える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1892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推論経路 (LSL) は best-effort で古いサンプル落として OK / 制御経路 (MQTT) は retain で『最後の指令』を絶対残す。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73152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50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プロセス再起動でデータが消えないか?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468880"/>
            <a:ext cx="20116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一般論・本プロジェクトは検証中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と DB の間に永続キューを挟む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035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は揮発、DB は重い → 間にローカルキュー (ファイル or 軽量 broker の永続化) を挟むことで再起動耐性を確保。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520440"/>
            <a:ext cx="73152" cy="10515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93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あとから『セッション』をどう切り出すか?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611880"/>
            <a:ext cx="201168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611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現状の方針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メタイベントを別 topic で送る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41788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session_start / session_end を別チャネルにすることで、生信号を汚さずに後段で切り出せる。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p.23 / Stage 4: 蓄積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判断  |  autopilot — 5 択に圧縮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中心は Gemini Robotics-ER 1.6 (LLM) — 特徴量 + 画像 → 離散 5 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73152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 直近 N 秒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JPEG カメラ画像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context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82012" y="1691640"/>
            <a:ext cx="82296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68880" y="118872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188720"/>
            <a:ext cx="73152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Robotics-ER 1.6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prompt + tools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temperature=0.3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6572" y="1691640"/>
            <a:ext cx="82296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118872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188720"/>
            <a:ext cx="73152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剥がし → {…} → fallback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択にスナップ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71132" y="1691640"/>
            <a:ext cx="82296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58000" y="1188720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1188720"/>
            <a:ext cx="73152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roomba/cmd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/command/{cmd}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roomba_events 永続化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377440"/>
            <a:ext cx="57607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377440"/>
            <a:ext cx="73152" cy="2331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4231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離散 5 値に圧縮  —  連続値ではなく『5 択』にすることで安全境界が明確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2834640"/>
            <a:ext cx="10515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2834640"/>
            <a:ext cx="73152" cy="1783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017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11480" y="3840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517904" y="2834640"/>
            <a:ext cx="10515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17904" y="2834640"/>
            <a:ext cx="73152" cy="1783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17904" y="3017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1517904" y="3840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24328" y="2834640"/>
            <a:ext cx="10515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24328" y="2834640"/>
            <a:ext cx="73152" cy="1783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24328" y="3017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2624328" y="3840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730752" y="2834640"/>
            <a:ext cx="10515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30752" y="2834640"/>
            <a:ext cx="73152" cy="1783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0752" y="3017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3730752" y="3840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37176" y="2834640"/>
            <a:ext cx="10515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37176" y="2834640"/>
            <a:ext cx="73152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7176" y="3017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3600" dirty="0"/>
          </a:p>
        </p:txBody>
      </p:sp>
      <p:sp>
        <p:nvSpPr>
          <p:cNvPr id="48" name="Text 46"/>
          <p:cNvSpPr/>
          <p:nvPr/>
        </p:nvSpPr>
        <p:spPr>
          <a:xfrm>
            <a:off x="4837176" y="38404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17920" y="2377440"/>
            <a:ext cx="2560320" cy="233172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217920" y="2377440"/>
            <a:ext cx="73152" cy="2331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24231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失敗時の振る舞い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355080" y="2697480"/>
            <a:ext cx="2377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遅延 / タイムアウト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『停止』を retain (安全側に倒す)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センサ切断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MQTT last-will が『停止』を自動配信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ループ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秒周期 / 中央値 ~2s 判断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p.24 / Stage 5: 判断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配信  |  ロボット周りはあえて薄く触れます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面白いがデータエンジニアの学びにはならない 4 点を結論だけ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2291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73152" cy="1508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3863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Pi-B → Roomba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673352"/>
            <a:ext cx="3863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serial で Drive コマンド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84248"/>
            <a:ext cx="3863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Roomba Open Interface  ·  opcode 137  ·  Drive(vel, radius)  ·  115200 bps TTL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40580" y="1234440"/>
            <a:ext cx="42291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0580" y="1234440"/>
            <a:ext cx="73152" cy="1508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3460" y="1325880"/>
            <a:ext cx="3863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23460" y="1673352"/>
            <a:ext cx="3863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電圧境界を押し込む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3460" y="1984248"/>
            <a:ext cx="3863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Roomba 5V  ⇔  Pi 3.3V  ·  USB-CDC で簡単に分離  ·  ハード境界 = 障害境界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42291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80360"/>
            <a:ext cx="73152" cy="1508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71800"/>
            <a:ext cx="3863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319272"/>
            <a:ext cx="3863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家の Wi-Fi 外でも繋ぐ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30168"/>
            <a:ext cx="3863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WireGuard ベース P2P mesh  ·  100.x.y.z アドレス  ·  ssh / rsync / WebUI 閲覧用 (データ面は素の LAN)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40580" y="2880360"/>
            <a:ext cx="42291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40580" y="2880360"/>
            <a:ext cx="73152" cy="1508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3460" y="2971800"/>
            <a:ext cx="38633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trajectory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23460" y="3319272"/>
            <a:ext cx="3863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連続を 5 択に丸める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3460" y="3630168"/>
            <a:ext cx="3863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閾値設計  ·  連続コマンドの離散化  ·  ROI 状態機械  ·  詳細は別資料で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質問があれば Q&amp;A でどうぞ — 個別に話せます。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p.25 / Stage 6: 配信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学び  ·  ハマりどころ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うまくいったこと  と  ハマったこと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73152" cy="3474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234440"/>
            <a:ext cx="4041648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34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うまくいったこと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73736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= センサ系  /  MQTT = 制御系</a:t>
            </a:r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『向き不向きで使い分け』で配線がスッキリ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リアルタイム経路 と 蓄積経路 を分けた</a:t>
            </a:r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片方を止めずに片方を改修できる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retain / last-will の活用</a:t>
            </a:r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死活管理コードをほぼ書かずに済んだ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 COPY で書き込み一本化</a:t>
            </a:r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INSERT 禁止 → 250 Hz 連続書き込みでも余裕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34440"/>
            <a:ext cx="73152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6592" y="1234440"/>
            <a:ext cx="404164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34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ハマりどころ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173736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host network 必須</a:t>
            </a:r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LSL は UDP マルチキャストで stream 検出 → bridge では通らない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時刻同期軸の選択</a:t>
            </a:r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LSL クロック vs ホスト時計 → DB 保存時にどちらを採用?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設計</a:t>
            </a:r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全部 QoS 2 だと帯域が腐る → 経路別に設計し直し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の罠</a:t>
            </a:r>
            <a:pPr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検証時の古い値が再起動後にロボットを動かす → 冷や汗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p.26 / Lessons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0EA5E9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1016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1397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128016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センサ → 転送 → 加工 → 蓄積 (枝分かれ) → 判断 → 配信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『ハードウェアの話』ではなく『データの流れの話』として整理 → 再利用できる設計が見える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リアルタイム経路 と 蓄積経路 を分け、両方に枝分かれさせる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03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= ns time-sync / MQTT = retain &amp; will / TimescaleDB = 異種テーブル + JOIN  ─  得意の重ね合わせで作る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801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&amp;  A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2743200" y="2606040"/>
            <a:ext cx="36576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聞かれたら話せる『裏トピック』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Tailscale の管理プレーン / データプレーン分離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経由電圧変換の 4 選択肢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Roomba Drive コマンド仕様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の失敗モード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サンプルのタイムライン (4 ms の旅)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8016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本編で雑に流した周辺技術を、雑学トーンで深掘り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32004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深掘り
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電気代の少ない郵便屋さん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3200400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0" y="32004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LSL 深掘り
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研究室発・時刻同期マニアの規格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069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計測基礎
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頭皮で μV を釣り上げる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4069080"/>
            <a:ext cx="502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0" y="4069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用語集 + 周辺技術
</a:t>
            </a:r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ΔΣ / Tailscale / Mosquitto / Timescale …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MQTT 深掘り — 『電気代の少ない郵便屋さん』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由来 / QoS 0,1,2 / retain &amp; last-will の正体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731520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73152" cy="731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由来トリビア: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 年 IBM が 砂漠の油田パイプライン監視 用に開発 — 衛星回線が細くて高いので『とにかく軽い』が設計目標。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ヘッダは最小 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byte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。HTTP のヘッダで数百 byte かかるのとは別世界。</a:t>
            </a:r>
            <a:endParaRPr lang="en-US" sz="10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8412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45920"/>
                <a:gridCol w="2194560"/>
                <a:gridCol w="3931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意味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概要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使いどころ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at-most-once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&amp; forget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最新値が来れば古いのは捨てていい用 (テレメトリ)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at-least-once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 あり、重複 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コマンド送信などのデフォルト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exactly-once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4-way ハンドシェイク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本当に必要な時だけ (課金イベント等)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3429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3429000"/>
            <a:ext cx="73152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52044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retain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の正体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が『各 topic の最後の値』だけメモリ保持。後から繋いだ client が即取得 →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事実上の Key-Value Store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63440" y="34290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3429000"/>
            <a:ext cx="73152" cy="1188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352044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last-will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の正体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接続時に『自分が死んだらこれを publish して』と broker に預ける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遺言メッセージ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。TCP 切断検知で自動配信。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p.30 / Appendix A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LSL 深掘り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研究室発・時刻同期マニアの規格  ·  出自 / outlet と inlet と XML / 時刻同期のキモ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41248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73152" cy="10424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61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出自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1572768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UCSD の Swartz Center 発  —  EEG / EMG / 視線・モーションキャプチャを『同じタイムライン』で記録するために生まれた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記録形式 XDF は事実上の業界デファクト  —  脳波・視線・動画を 1 つのファイルに突っ込める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04288"/>
            <a:ext cx="8412480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04288"/>
            <a:ext cx="73152" cy="133502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仕組み: outlet と inlet と XML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2688336"/>
            <a:ext cx="82296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がストリームを publish、inlet が subscribe  —  MQTT に似てるが broker は無く P2P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の自己記述には XML を使う  —  ch 名・単位・dtype まで型情報として埋め込み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マルチキャストで stream を発見 → 実データは TCP  —  Docker bridge では発見できない罠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712464"/>
            <a:ext cx="841248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12464"/>
            <a:ext cx="73152" cy="10424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856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時刻同期の仕組み (ここがキモ)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096512"/>
            <a:ext cx="82296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各マシンの local_clock() 同士の差を NTP 風に推定 → サンプルにオフセット補正を当てる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送信側のクロックジッタを吸収するため、受信側は『サンプリングレートを信じて再構成』もできる (dejitter)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p.31 / Appendix B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EEG 計測の基礎 — 『頭皮で μV を釣り上げる』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そもそも何を測っているか / 周波数帯と気持ち / ノイズとの戦い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73152" cy="1600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そもそも何を測っているか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大脳皮質の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錐体細胞の同期した電位変動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が頭蓋骨を貫通して頭皮に漏れたもの。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振幅は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数 〜 100 μV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乾電池の 100 万分の 1。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リファレンス電極の置き方で見え方が変わる (差動測定)。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73152" cy="1600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周波数帯と『気持ち』の対応 (ざっくり)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5361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66360" y="15361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1–4 Hz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深い睡眠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783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66360" y="1783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4–8 Hz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1783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うとうと・記憶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029968"/>
            <a:ext cx="3931920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0299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20299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8–13 Hz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029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目を閉じてリラックス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183880" y="2029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使用中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227685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22768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13–30 Hz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2768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集中・思考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252374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66360" y="25237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Hz–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25237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認知統合 (議論あり)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2926080"/>
            <a:ext cx="8412480" cy="178308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2926080"/>
            <a:ext cx="73152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971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計測のリアル: ノイズとの戦い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" y="3291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瞬き = 数百 μV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信号より 1 桁デカい。EOG として別 ch で測るのが定石。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商用電源 50 / 60 Hz は必ず乗る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notch filter ですぱっと抜く。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bit ΔΣ ADC が定番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レンジが広い (μV〜mV) ノイズ込み信号を低ノイズで拾うため。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本プロジェクトでは α 波 (ch 6, 7) を使用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目を閉じて出る・開けて消える、で判定しやすい (Berger 効果)。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p.32 / Appendix C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274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用語集 + 周辺技術カタログ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本編で雑に流した用語  と  近い領域の選択肢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84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2179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意味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ΔΣ ADC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オーバーサンプリング + ノイズシェーピングで高分解能を稼ぐ AD 変換器  ·  μV を素直に拾える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Tailscale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WireGuard ベース VPN サービス  ·  鍵交換 (管理面) と P2P トンネル (データ面) が分離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Mosquitto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軽量 MQTT broker の定番実装  ·  バイナリ 1 個で動く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TimescaleDB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の拡張  ·  hypertable + 圧縮で時系列に強くする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Parquet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列指向のバイナリファイル形式  ·  Spark / Polars / DuckDB との相性◎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Gemini Robotics-ER 1.6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の身体性ロボット向け推論モデル  ·  マルチモーダル入力で行動を出す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284C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Roomba OI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iRobot 公開のシリアル制御プロトコル  ·  Drive で速度・旋回半径を指定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611880"/>
            <a:ext cx="8412480" cy="1078992"/>
          </a:xfrm>
          <a:prstGeom prst="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3611880"/>
            <a:ext cx="73152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657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近い領域の『もうひとつの選択肢』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391363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/ DDS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ロボット界の標準。pub/sub + service + 型付き IDL。今回はモデル探索が優先で見送り、配信の輸送だけ MQTT+LSL で構成。
</a:t>
            </a:r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(Open Sound Control) — メディアアート界の LSL 的存在。ライブ演出と相性が良い。
</a:t>
            </a:r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NATS / Redis Streams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『Kafka ほど重くないログ的 pub/sub』候補。永続キューを足したくなったらここ。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eeg_roomba  ·  データの流れで読み解くシステム全体像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0" y="4901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p.33 / Appendix 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脳波で動くロボット — eeg_roomba データパイプライン</dc:title>
  <dc:subject>PptxGenJS Presentation</dc:subject>
  <dc:creator>eeg_roomba</dc:creator>
  <cp:lastModifiedBy>eeg_roomba</cp:lastModifiedBy>
  <cp:revision>1</cp:revision>
  <dcterms:created xsi:type="dcterms:W3CDTF">2026-05-14T08:11:42Z</dcterms:created>
  <dcterms:modified xsi:type="dcterms:W3CDTF">2026-05-14T08:11:42Z</dcterms:modified>
</cp:coreProperties>
</file>