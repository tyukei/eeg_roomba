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2" r:id="rId2"/>
    <p:sldId id="260" r:id="rId3"/>
    <p:sldId id="264" r:id="rId4"/>
    <p:sldId id="267" r:id="rId5"/>
    <p:sldId id="307" r:id="rId6"/>
    <p:sldId id="268" r:id="rId7"/>
    <p:sldId id="271" r:id="rId8"/>
    <p:sldId id="299" r:id="rId9"/>
    <p:sldId id="275" r:id="rId10"/>
    <p:sldId id="302" r:id="rId11"/>
    <p:sldId id="309" r:id="rId12"/>
    <p:sldId id="301" r:id="rId13"/>
    <p:sldId id="300" r:id="rId14"/>
    <p:sldId id="284" r:id="rId15"/>
    <p:sldId id="303" r:id="rId16"/>
    <p:sldId id="304" r:id="rId17"/>
    <p:sldId id="305" r:id="rId18"/>
    <p:sldId id="290" r:id="rId19"/>
    <p:sldId id="306" r:id="rId20"/>
    <p:sldId id="295" r:id="rId21"/>
    <p:sldId id="296" r:id="rId22"/>
    <p:sldId id="315" r:id="rId23"/>
    <p:sldId id="316" r:id="rId24"/>
    <p:sldId id="317" r:id="rId25"/>
    <p:sldId id="318" r:id="rId26"/>
    <p:sldId id="319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0" d="100"/>
          <a:sy n="90" d="100"/>
        </p:scale>
        <p:origin x="21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C2941-0AA6-1782-B3F4-EC06380F3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C66704B-C80A-12B6-665B-B8E1B1B82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76AEBA-EAFC-5CB9-F1B0-429997FE5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71B764-A729-5494-5CC4-866FA5F8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6A2E1D-4322-8170-6110-EFA06B72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84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54D2B-F61B-900C-393E-877DA393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4BF431-B1D0-8478-8D14-C1C738422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4A326B-8407-68A1-B6AE-E6FA7515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C7F0E2-E197-B62C-5769-677F02C0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99C58E-55F4-2899-D582-A785BF4FC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980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D6D14E-D97C-B5C7-C6CE-1E17396F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2B1F26-4EC3-9568-27EC-2920AFDDC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EE6CAA-8B1F-B828-AD6A-381FC6FC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2DC122-83AB-D99D-0A57-AD51D2B02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0163EE-1A18-7DB8-D8B2-CE945225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32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F6443-B2B4-24EC-A349-9263B2DD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0CBAC8-507E-6C37-BF28-C86DA7C5A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CA66BF-9972-5FFF-933D-BE9BE2559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A1066B-9FB4-53BF-362D-B54D30DB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7CBCE6-9300-2E13-5136-AC8003EA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13190B-72F7-5AED-66AD-59A5CF18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398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4B145B-6960-D21D-B131-7B7DEADC1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4717EE-0F4D-6331-457A-784A53174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F177E7-9DDF-9B5F-B675-B2B98E7BB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83A3F5C-D4F8-E8EE-5667-E088EAB83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E1F987-2795-C7E4-171C-02324E72F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6B837D8-9D9A-9B69-E260-CBF05B09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1955E9-87C0-B70E-5451-14E2B1DC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EC7CD0-942C-929A-66ED-9B03856B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151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026125-2ECE-D4D6-45E1-EEDA53E7A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E4087C-A958-4126-30A4-C23D86CC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3DF9C88-FDD9-F00F-7379-692C275C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4BA622-2D0F-8364-8C52-A181A781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814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6CEC74F-73D2-98DC-82E5-A1F873D6F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E14A3AA-142C-2418-34D9-EA68EF2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F7D49E-99E0-1BFA-E227-79D2AC0A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90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990385-D7F5-54EA-EC87-E232A5CA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84A98C-B3C0-B077-D160-81CA57A96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5FC84E-29F4-960C-E004-11E884DF8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F6EA8F-8832-0136-F1BD-3A4246B2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6A538C-2F8B-7388-4E58-929073DE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82559D-5A48-31FC-F2CB-9BB58225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107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7BF36-9921-1606-A129-88C2CBA8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D3B6936-6024-48DD-6FF7-679FF26BA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3FD1FB-A3A6-CD01-1C60-0CBD380A2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D209CF-C5ED-F765-5FD9-200713C8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BB8F17-B857-9016-D9C4-50E17DB7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914930-916D-AC9B-F543-3AE2B22A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1447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BE3B78-E385-C662-3FA4-D2D6302E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997246-9A24-A715-6499-7D8B634FB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39B0C3-74AB-A5C5-D222-49C853A70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2E4B25-2FA8-53D2-7A4C-7411E71A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A04135-180D-63CB-CE7E-C8F41AE4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40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6B8C21B-F7E1-FC7C-D1D9-5595643D6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59E566-0092-A2BE-6A34-F8C1003D9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B97244-EA44-3463-8959-10F2FE2A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6C8EAC-EFB3-55B6-C9E0-CA369EE4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45DBD5-088F-AC24-8356-3E75B557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41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F7B6439-840D-8E7C-D9CB-F5AE69DD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E201DA-3F66-6F39-44EF-43EC12929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6404D-2F96-C7FE-970D-91E880D19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86951-8090-7F41-B291-266FBE831D5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C1AE37-1EB9-CE98-19F5-2E9DE0C20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4797A0-8AB6-D9E5-DD61-170BD801C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EF720-0982-794B-8DDD-CD25A0CF5A5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001" name="AccentBar"/>
          <p:cNvSpPr/>
          <p:nvPr userDrawn="1"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FooterDot"/>
          <p:cNvSpPr/>
          <p:nvPr userDrawn="1"/>
        </p:nvSpPr>
        <p:spPr>
          <a:xfrm>
            <a:off x="457200" y="6400800"/>
            <a:ext cx="11277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612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F4E7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1A1A1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49B4CC-5E88-3D91-931A-84A72BB828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脳波で動くロボット</a:t>
            </a:r>
            <a:r>
              <a:rPr kumimoji="1" lang="en-US" altLang="ja-JP"/>
              <a:t>:</a:t>
            </a:r>
            <a:r>
              <a:rPr kumimoji="1" lang="ja-JP" altLang="en-US"/>
              <a:t>データの流れで読み解くシステム全体像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487783-FE0E-FAC2-C439-6EAE46340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[</a:t>
            </a:r>
            <a:r>
              <a:rPr kumimoji="1" lang="ja-JP" altLang="en-US"/>
              <a:t>登壇者名</a:t>
            </a:r>
            <a:r>
              <a:rPr kumimoji="1" lang="en-US" altLang="ja-JP"/>
              <a:t>] / [</a:t>
            </a:r>
            <a:r>
              <a:rPr kumimoji="1" lang="ja-JP" altLang="en-US"/>
              <a:t>所属</a:t>
            </a:r>
            <a:r>
              <a:rPr kumimoji="1" lang="en-US" altLang="ja-JP"/>
              <a:t>] — [</a:t>
            </a:r>
            <a:r>
              <a:rPr kumimoji="1" lang="ja-JP" altLang="en-US"/>
              <a:t>イベント名</a:t>
            </a:r>
            <a:r>
              <a:rPr kumimoji="1" lang="en-US" altLang="ja-JP"/>
              <a:t>] [</a:t>
            </a:r>
            <a:r>
              <a:rPr kumimoji="1" lang="ja-JP" altLang="en-US"/>
              <a:t>日付</a:t>
            </a:r>
            <a:r>
              <a:rPr kumimoji="1" lang="en-US" altLang="ja-JP"/>
              <a:t>]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028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1795C4-DA1B-F446-98F4-05CA0000A72B}"/>
              </a:ext>
            </a:extLst>
          </p:cNvPr>
          <p:cNvSpPr txBox="1"/>
          <p:nvPr/>
        </p:nvSpPr>
        <p:spPr>
          <a:xfrm>
            <a:off x="304800" y="1778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ja-JP" sz="2000" b="1">
                <a:solidFill>
                  <a:srgbClr val="0E2841"/>
                </a:solidFill>
              </a:rPr>
              <a:t>eeg_roomba </a:t>
            </a:r>
            <a:r>
              <a:rPr lang="ja-JP" altLang="en-US" sz="2000" b="1">
                <a:solidFill>
                  <a:srgbClr val="0E2841"/>
                </a:solidFill>
              </a:rPr>
              <a:t>データパイプライン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B30F8D-D0E3-2642-81BE-2CF32F254249}"/>
              </a:ext>
            </a:extLst>
          </p:cNvPr>
          <p:cNvSpPr txBox="1"/>
          <p:nvPr/>
        </p:nvSpPr>
        <p:spPr>
          <a:xfrm>
            <a:off x="304800" y="533400"/>
            <a:ext cx="914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100">
                <a:solidFill>
                  <a:srgbClr val="404040"/>
                </a:solidFill>
              </a:rPr>
              <a:t>物理層 → 取得 → 転送 → 解析 → 判定 → 制御 → 物理層 </a:t>
            </a:r>
            <a:r>
              <a:rPr lang="en-US" altLang="ja-JP" sz="1100">
                <a:solidFill>
                  <a:srgbClr val="404040"/>
                </a:solidFill>
              </a:rPr>
              <a:t>+ </a:t>
            </a:r>
            <a:r>
              <a:rPr lang="en" altLang="ja-JP" sz="1100">
                <a:solidFill>
                  <a:srgbClr val="404040"/>
                </a:solidFill>
              </a:rPr>
              <a:t>Autopilot </a:t>
            </a:r>
            <a:r>
              <a:rPr lang="ja-JP" altLang="en-US" sz="1100">
                <a:solidFill>
                  <a:srgbClr val="404040"/>
                </a:solidFill>
              </a:rPr>
              <a:t>ループ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11ED6EB-0B7C-B542-94CA-068C49D7A05F}"/>
              </a:ext>
            </a:extLst>
          </p:cNvPr>
          <p:cNvSpPr/>
          <p:nvPr/>
        </p:nvSpPr>
        <p:spPr>
          <a:xfrm>
            <a:off x="228600" y="990600"/>
            <a:ext cx="1536700" cy="279400"/>
          </a:xfrm>
          <a:prstGeom prst="rect">
            <a:avLst/>
          </a:prstGeom>
          <a:solidFill>
            <a:srgbClr val="6B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900" b="1">
                <a:solidFill>
                  <a:srgbClr val="FFFFFF"/>
                </a:solidFill>
              </a:rPr>
              <a:t>① </a:t>
            </a:r>
            <a:r>
              <a:rPr lang="ja-JP" altLang="en-US" sz="900" b="1">
                <a:solidFill>
                  <a:srgbClr val="FFFFFF"/>
                </a:solidFill>
              </a:rPr>
              <a:t>物理層 </a:t>
            </a:r>
            <a:r>
              <a:rPr lang="en-US" altLang="ja-JP" sz="900" b="1">
                <a:solidFill>
                  <a:srgbClr val="FFFFFF"/>
                </a:solidFill>
              </a:rPr>
              <a:t>(</a:t>
            </a:r>
            <a:r>
              <a:rPr lang="ja-JP" altLang="en-US" sz="900" b="1">
                <a:solidFill>
                  <a:srgbClr val="FFFFFF"/>
                </a:solidFill>
              </a:rPr>
              <a:t>頭皮</a:t>
            </a:r>
            <a:r>
              <a:rPr lang="en-US" altLang="ja-JP" sz="900" b="1">
                <a:solidFill>
                  <a:srgbClr val="FFFFFF"/>
                </a:solidFill>
              </a:rPr>
              <a:t>)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9E2540-3927-2341-B0FD-73E5CC0B67B4}"/>
              </a:ext>
            </a:extLst>
          </p:cNvPr>
          <p:cNvSpPr/>
          <p:nvPr/>
        </p:nvSpPr>
        <p:spPr>
          <a:xfrm>
            <a:off x="228600" y="1270000"/>
            <a:ext cx="1536700" cy="1117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6B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-US" altLang="ja-JP" sz="850">
                <a:solidFill>
                  <a:srgbClr val="222222"/>
                </a:solidFill>
              </a:rPr>
              <a:t>• </a:t>
            </a:r>
            <a:r>
              <a:rPr lang="ja-JP" altLang="en-US" sz="850">
                <a:solidFill>
                  <a:srgbClr val="222222"/>
                </a:solidFill>
              </a:rPr>
              <a:t>電極 </a:t>
            </a:r>
            <a:r>
              <a:rPr lang="en-US" altLang="ja-JP" sz="850">
                <a:solidFill>
                  <a:srgbClr val="222222"/>
                </a:solidFill>
              </a:rPr>
              <a:t>16</a:t>
            </a:r>
            <a:r>
              <a:rPr lang="en" altLang="ja-JP" sz="850">
                <a:solidFill>
                  <a:srgbClr val="222222"/>
                </a:solidFill>
              </a:rPr>
              <a:t>ch (</a:t>
            </a:r>
            <a:r>
              <a:rPr lang="ja-JP" altLang="en-US" sz="850">
                <a:solidFill>
                  <a:srgbClr val="222222"/>
                </a:solidFill>
              </a:rPr>
              <a:t>湿</a:t>
            </a:r>
            <a:r>
              <a:rPr lang="en-US" altLang="ja-JP" sz="850">
                <a:solidFill>
                  <a:srgbClr val="222222"/>
                </a:solidFill>
              </a:rPr>
              <a:t>/</a:t>
            </a:r>
            <a:r>
              <a:rPr lang="ja-JP" altLang="en-US" sz="850">
                <a:solidFill>
                  <a:srgbClr val="222222"/>
                </a:solidFill>
              </a:rPr>
              <a:t>乾</a:t>
            </a:r>
            <a:r>
              <a:rPr lang="en-US" altLang="ja-JP" sz="850">
                <a:solidFill>
                  <a:srgbClr val="222222"/>
                </a:solidFill>
              </a:rPr>
              <a:t>)
• </a:t>
            </a:r>
            <a:r>
              <a:rPr lang="en" altLang="ja-JP" sz="850">
                <a:solidFill>
                  <a:srgbClr val="222222"/>
                </a:solidFill>
              </a:rPr>
              <a:t>ALPHA_CHANNELS=6,7
• </a:t>
            </a:r>
            <a:r>
              <a:rPr lang="el-GR" altLang="ja-JP" sz="850">
                <a:solidFill>
                  <a:srgbClr val="222222"/>
                </a:solidFill>
              </a:rPr>
              <a:t>α</a:t>
            </a:r>
            <a:r>
              <a:rPr lang="ja-JP" altLang="en-US" sz="850">
                <a:solidFill>
                  <a:srgbClr val="222222"/>
                </a:solidFill>
              </a:rPr>
              <a:t>波 </a:t>
            </a:r>
            <a:r>
              <a:rPr lang="en-US" altLang="ja-JP" sz="850">
                <a:solidFill>
                  <a:srgbClr val="222222"/>
                </a:solidFill>
              </a:rPr>
              <a:t>10–100 </a:t>
            </a:r>
            <a:r>
              <a:rPr lang="el-GR" altLang="ja-JP" sz="850">
                <a:solidFill>
                  <a:srgbClr val="222222"/>
                </a:solidFill>
              </a:rPr>
              <a:t>μ</a:t>
            </a:r>
            <a:r>
              <a:rPr lang="en" altLang="ja-JP" sz="850">
                <a:solidFill>
                  <a:srgbClr val="222222"/>
                </a:solidFill>
              </a:rPr>
              <a:t>V
• </a:t>
            </a:r>
            <a:r>
              <a:rPr lang="ja-JP" altLang="en-US" sz="850">
                <a:solidFill>
                  <a:srgbClr val="222222"/>
                </a:solidFill>
              </a:rPr>
              <a:t>後頭部相当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8FB968A-5BA6-DA48-9B2D-7FE452E861B7}"/>
              </a:ext>
            </a:extLst>
          </p:cNvPr>
          <p:cNvSpPr/>
          <p:nvPr/>
        </p:nvSpPr>
        <p:spPr>
          <a:xfrm>
            <a:off x="1917700" y="990600"/>
            <a:ext cx="1536700" cy="279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② PiEEG-16 + Pi-A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5E18513-C576-0746-BF3C-9FB5829A782F}"/>
              </a:ext>
            </a:extLst>
          </p:cNvPr>
          <p:cNvSpPr/>
          <p:nvPr/>
        </p:nvSpPr>
        <p:spPr>
          <a:xfrm>
            <a:off x="1917700" y="1270000"/>
            <a:ext cx="1536700" cy="1117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>
                <a:solidFill>
                  <a:srgbClr val="222222"/>
                </a:solidFill>
              </a:rPr>
              <a:t>• ADS129x ×2 (8ch×2)
• 24bit </a:t>
            </a:r>
            <a:r>
              <a:rPr lang="el-GR" altLang="ja-JP" sz="850">
                <a:solidFill>
                  <a:srgbClr val="222222"/>
                </a:solidFill>
              </a:rPr>
              <a:t>ΔΣ </a:t>
            </a:r>
            <a:r>
              <a:rPr lang="en" altLang="ja-JP" sz="850">
                <a:solidFill>
                  <a:srgbClr val="222222"/>
                </a:solidFill>
              </a:rPr>
              <a:t>ADC
• 250 Hz, SPI
• acquirer.py (systemd)
• LSL push + MQTT health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656B202-9F85-2746-ACD1-68D5E45F7EC5}"/>
              </a:ext>
            </a:extLst>
          </p:cNvPr>
          <p:cNvSpPr/>
          <p:nvPr/>
        </p:nvSpPr>
        <p:spPr>
          <a:xfrm>
            <a:off x="3606800" y="990600"/>
            <a:ext cx="1536700" cy="2794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③ ingest (PC)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077EA07-F1BC-5943-9402-1F6C826BFA4D}"/>
              </a:ext>
            </a:extLst>
          </p:cNvPr>
          <p:cNvSpPr/>
          <p:nvPr/>
        </p:nvSpPr>
        <p:spPr>
          <a:xfrm>
            <a:off x="3606800" y="1270000"/>
            <a:ext cx="1536700" cy="1117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0F9E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>
                <a:solidFill>
                  <a:srgbClr val="222222"/>
                </a:solidFill>
              </a:rPr>
              <a:t>• LSLSource / FileReplay
• host network mode
• TimescaleDB COPY
  eeg_raw(ts,ch,uv)
• MQTT eeg/chunk 250Hz
• MQTT eeg/live 50Hz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E7335AF-DACE-E241-8DA3-ED48954068A7}"/>
              </a:ext>
            </a:extLst>
          </p:cNvPr>
          <p:cNvSpPr/>
          <p:nvPr/>
        </p:nvSpPr>
        <p:spPr>
          <a:xfrm>
            <a:off x="5295900" y="990600"/>
            <a:ext cx="1536700" cy="2794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④ feature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A36175B-C6BC-1E41-A1BD-82D7C6230E38}"/>
              </a:ext>
            </a:extLst>
          </p:cNvPr>
          <p:cNvSpPr/>
          <p:nvPr/>
        </p:nvSpPr>
        <p:spPr>
          <a:xfrm>
            <a:off x="5295900" y="1270000"/>
            <a:ext cx="1536700" cy="1117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A02B9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-US" altLang="ja-JP" sz="850">
                <a:solidFill>
                  <a:srgbClr val="222222"/>
                </a:solidFill>
              </a:rPr>
              <a:t>• 1</a:t>
            </a:r>
            <a:r>
              <a:rPr lang="ja-JP" altLang="en-US" sz="850">
                <a:solidFill>
                  <a:srgbClr val="222222"/>
                </a:solidFill>
              </a:rPr>
              <a:t>秒窓 </a:t>
            </a:r>
            <a:r>
              <a:rPr lang="en-US" altLang="ja-JP" sz="850">
                <a:solidFill>
                  <a:srgbClr val="222222"/>
                </a:solidFill>
              </a:rPr>
              <a:t>/ 250</a:t>
            </a:r>
            <a:r>
              <a:rPr lang="en" altLang="ja-JP" sz="850">
                <a:solidFill>
                  <a:srgbClr val="222222"/>
                </a:solidFill>
              </a:rPr>
              <a:t>ms hop
• HPF1Hz / LPF40Hz
• 50/60Hz notch
• Welch PSD
• </a:t>
            </a:r>
            <a:r>
              <a:rPr lang="el-GR" altLang="ja-JP" sz="850">
                <a:solidFill>
                  <a:srgbClr val="222222"/>
                </a:solidFill>
              </a:rPr>
              <a:t>θ/α/β </a:t>
            </a:r>
            <a:r>
              <a:rPr lang="en" altLang="ja-JP" sz="850">
                <a:solidFill>
                  <a:srgbClr val="222222"/>
                </a:solidFill>
              </a:rPr>
              <a:t>bandpower
→ eeg/alpha (retain)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65C25BB-C712-3C4D-A17C-A30AE4831080}"/>
              </a:ext>
            </a:extLst>
          </p:cNvPr>
          <p:cNvSpPr/>
          <p:nvPr/>
        </p:nvSpPr>
        <p:spPr>
          <a:xfrm>
            <a:off x="6985000" y="990600"/>
            <a:ext cx="1536700" cy="279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⑤ decision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B30404A-8031-EB4F-9D70-361E50C95B59}"/>
              </a:ext>
            </a:extLst>
          </p:cNvPr>
          <p:cNvSpPr/>
          <p:nvPr/>
        </p:nvSpPr>
        <p:spPr>
          <a:xfrm>
            <a:off x="6985000" y="1270000"/>
            <a:ext cx="1536700" cy="1117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l-GR" altLang="ja-JP" sz="850">
                <a:solidFill>
                  <a:srgbClr val="222222"/>
                </a:solidFill>
              </a:rPr>
              <a:t>• α_</a:t>
            </a:r>
            <a:r>
              <a:rPr lang="en" altLang="ja-JP" sz="850">
                <a:solidFill>
                  <a:srgbClr val="222222"/>
                </a:solidFill>
              </a:rPr>
              <a:t>avg = mean(ch6,7)
• Schmitt </a:t>
            </a:r>
            <a:r>
              <a:rPr lang="ja-JP" altLang="en-US" sz="850">
                <a:solidFill>
                  <a:srgbClr val="222222"/>
                </a:solidFill>
              </a:rPr>
              <a:t>ヒステリシス
  </a:t>
            </a:r>
            <a:r>
              <a:rPr lang="en" altLang="ja-JP" sz="850">
                <a:solidFill>
                  <a:srgbClr val="222222"/>
                </a:solidFill>
              </a:rPr>
              <a:t>enter=10 / exit=6
  dwell=500ms
• idle ⇄ active
→ control/state retain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C8974CA-4FD8-164E-844A-7F9477869DE5}"/>
              </a:ext>
            </a:extLst>
          </p:cNvPr>
          <p:cNvSpPr/>
          <p:nvPr/>
        </p:nvSpPr>
        <p:spPr>
          <a:xfrm>
            <a:off x="8674100" y="990600"/>
            <a:ext cx="1536700" cy="279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⑥ Pi-B + Arduino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0B1EB41-8DC5-5349-BAD4-1323EC46C356}"/>
              </a:ext>
            </a:extLst>
          </p:cNvPr>
          <p:cNvSpPr/>
          <p:nvPr/>
        </p:nvSpPr>
        <p:spPr>
          <a:xfrm>
            <a:off x="8674100" y="1270000"/>
            <a:ext cx="1536700" cy="1117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196B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>
                <a:solidFill>
                  <a:srgbClr val="222222"/>
                </a:solidFill>
              </a:rPr>
              <a:t>• FastAPI :8000
• pyserial /dev/ttyACM0
• Arduino USB-CDC
• 3.3V→5V TTL </a:t>
            </a:r>
            <a:r>
              <a:rPr lang="ja-JP" altLang="en-US" sz="850">
                <a:solidFill>
                  <a:srgbClr val="222222"/>
                </a:solidFill>
              </a:rPr>
              <a:t>変換
</a:t>
            </a:r>
            <a:r>
              <a:rPr lang="en-US" altLang="ja-JP" sz="850">
                <a:solidFill>
                  <a:srgbClr val="222222"/>
                </a:solidFill>
              </a:rPr>
              <a:t>• </a:t>
            </a:r>
            <a:r>
              <a:rPr lang="en" altLang="ja-JP" sz="850">
                <a:solidFill>
                  <a:srgbClr val="222222"/>
                </a:solidFill>
              </a:rPr>
              <a:t>ROI state machine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8B36C06-F008-AD4D-84D9-8B0A04C85F2C}"/>
              </a:ext>
            </a:extLst>
          </p:cNvPr>
          <p:cNvSpPr/>
          <p:nvPr/>
        </p:nvSpPr>
        <p:spPr>
          <a:xfrm>
            <a:off x="10363200" y="990600"/>
            <a:ext cx="1536700" cy="279400"/>
          </a:xfrm>
          <a:prstGeom prst="rect">
            <a:avLst/>
          </a:prstGeom>
          <a:solidFill>
            <a:srgbClr val="6B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⑦ Roomba (</a:t>
            </a:r>
            <a:r>
              <a:rPr lang="ja-JP" altLang="en-US" sz="900" b="1">
                <a:solidFill>
                  <a:srgbClr val="FFFFFF"/>
                </a:solidFill>
              </a:rPr>
              <a:t>物理</a:t>
            </a:r>
            <a:r>
              <a:rPr lang="en-US" altLang="ja-JP" sz="900" b="1">
                <a:solidFill>
                  <a:srgbClr val="FFFFFF"/>
                </a:solidFill>
              </a:rPr>
              <a:t>)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2A5B660-43A9-CF4C-BB42-D35BA9C1576B}"/>
              </a:ext>
            </a:extLst>
          </p:cNvPr>
          <p:cNvSpPr/>
          <p:nvPr/>
        </p:nvSpPr>
        <p:spPr>
          <a:xfrm>
            <a:off x="10363200" y="1270000"/>
            <a:ext cx="1536700" cy="1117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6B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>
                <a:solidFill>
                  <a:srgbClr val="222222"/>
                </a:solidFill>
              </a:rPr>
              <a:t>• mini-DIN 7pin
• 115200 bps TTL
• Drive(vel, radius)
  opcode 137
• </a:t>
            </a:r>
            <a:r>
              <a:rPr lang="ja-JP" altLang="en-US" sz="850">
                <a:solidFill>
                  <a:srgbClr val="222222"/>
                </a:solidFill>
              </a:rPr>
              <a:t>モーター駆動</a:t>
            </a:r>
          </a:p>
        </p:txBody>
      </p:sp>
      <p:sp>
        <p:nvSpPr>
          <p:cNvPr id="19" name="右矢印 18">
            <a:extLst>
              <a:ext uri="{FF2B5EF4-FFF2-40B4-BE49-F238E27FC236}">
                <a16:creationId xmlns:a16="http://schemas.microsoft.com/office/drawing/2014/main" id="{A2A105DC-88E4-1140-A055-69C3070A57AF}"/>
              </a:ext>
            </a:extLst>
          </p:cNvPr>
          <p:cNvSpPr/>
          <p:nvPr/>
        </p:nvSpPr>
        <p:spPr>
          <a:xfrm>
            <a:off x="1739900" y="1600200"/>
            <a:ext cx="203200" cy="1778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0" name="右矢印 19">
            <a:extLst>
              <a:ext uri="{FF2B5EF4-FFF2-40B4-BE49-F238E27FC236}">
                <a16:creationId xmlns:a16="http://schemas.microsoft.com/office/drawing/2014/main" id="{BF12232C-311E-624B-92AF-6CCB794B9AB1}"/>
              </a:ext>
            </a:extLst>
          </p:cNvPr>
          <p:cNvSpPr/>
          <p:nvPr/>
        </p:nvSpPr>
        <p:spPr>
          <a:xfrm>
            <a:off x="3429000" y="1600200"/>
            <a:ext cx="203200" cy="1778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右矢印 20">
            <a:extLst>
              <a:ext uri="{FF2B5EF4-FFF2-40B4-BE49-F238E27FC236}">
                <a16:creationId xmlns:a16="http://schemas.microsoft.com/office/drawing/2014/main" id="{988CD918-2BCB-E94D-B26A-2213EE377E3E}"/>
              </a:ext>
            </a:extLst>
          </p:cNvPr>
          <p:cNvSpPr/>
          <p:nvPr/>
        </p:nvSpPr>
        <p:spPr>
          <a:xfrm>
            <a:off x="5118100" y="1600200"/>
            <a:ext cx="203200" cy="1778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2" name="右矢印 21">
            <a:extLst>
              <a:ext uri="{FF2B5EF4-FFF2-40B4-BE49-F238E27FC236}">
                <a16:creationId xmlns:a16="http://schemas.microsoft.com/office/drawing/2014/main" id="{B3402DAE-A8D6-EF40-BCEA-1735928523AF}"/>
              </a:ext>
            </a:extLst>
          </p:cNvPr>
          <p:cNvSpPr/>
          <p:nvPr/>
        </p:nvSpPr>
        <p:spPr>
          <a:xfrm>
            <a:off x="6807200" y="1600200"/>
            <a:ext cx="203200" cy="1778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3" name="右矢印 22">
            <a:extLst>
              <a:ext uri="{FF2B5EF4-FFF2-40B4-BE49-F238E27FC236}">
                <a16:creationId xmlns:a16="http://schemas.microsoft.com/office/drawing/2014/main" id="{CCF56B46-9723-8D49-A06D-3250A5DE4852}"/>
              </a:ext>
            </a:extLst>
          </p:cNvPr>
          <p:cNvSpPr/>
          <p:nvPr/>
        </p:nvSpPr>
        <p:spPr>
          <a:xfrm>
            <a:off x="8496300" y="1600200"/>
            <a:ext cx="203200" cy="1778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右矢印 23">
            <a:extLst>
              <a:ext uri="{FF2B5EF4-FFF2-40B4-BE49-F238E27FC236}">
                <a16:creationId xmlns:a16="http://schemas.microsoft.com/office/drawing/2014/main" id="{7DF11374-F4C8-F34C-AA30-AB8650EAC907}"/>
              </a:ext>
            </a:extLst>
          </p:cNvPr>
          <p:cNvSpPr/>
          <p:nvPr/>
        </p:nvSpPr>
        <p:spPr>
          <a:xfrm>
            <a:off x="10185400" y="1600200"/>
            <a:ext cx="203200" cy="1778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1544C6D-635A-DA49-AB78-1D52D34200E9}"/>
              </a:ext>
            </a:extLst>
          </p:cNvPr>
          <p:cNvSpPr txBox="1"/>
          <p:nvPr/>
        </p:nvSpPr>
        <p:spPr>
          <a:xfrm>
            <a:off x="228600" y="24638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ja-JP" sz="1000" b="1">
                <a:solidFill>
                  <a:srgbClr val="4EA72E"/>
                </a:solidFill>
              </a:rPr>
              <a:t>5.5 Autopilot </a:t>
            </a:r>
            <a:r>
              <a:rPr lang="ja-JP" altLang="en-US" sz="1000" b="1">
                <a:solidFill>
                  <a:srgbClr val="4EA72E"/>
                </a:solidFill>
              </a:rPr>
              <a:t>ループ </a:t>
            </a:r>
            <a:r>
              <a:rPr lang="en-US" altLang="ja-JP" sz="1000" b="1">
                <a:solidFill>
                  <a:srgbClr val="4EA72E"/>
                </a:solidFill>
              </a:rPr>
              <a:t>(3</a:t>
            </a:r>
            <a:r>
              <a:rPr lang="ja-JP" altLang="en-US" sz="1000" b="1">
                <a:solidFill>
                  <a:srgbClr val="4EA72E"/>
                </a:solidFill>
              </a:rPr>
              <a:t>秒周期 </a:t>
            </a:r>
            <a:r>
              <a:rPr lang="en-US" altLang="ja-JP" sz="1000" b="1">
                <a:solidFill>
                  <a:srgbClr val="4EA72E"/>
                </a:solidFill>
              </a:rPr>
              <a:t>/ 1</a:t>
            </a:r>
            <a:r>
              <a:rPr lang="ja-JP" altLang="en-US" sz="1000" b="1">
                <a:solidFill>
                  <a:srgbClr val="4EA72E"/>
                </a:solidFill>
              </a:rPr>
              <a:t>判断あたり中央値 </a:t>
            </a:r>
            <a:r>
              <a:rPr lang="en-US" altLang="ja-JP" sz="1000" b="1">
                <a:solidFill>
                  <a:srgbClr val="4EA72E"/>
                </a:solidFill>
              </a:rPr>
              <a:t>~2</a:t>
            </a:r>
            <a:r>
              <a:rPr lang="en" altLang="ja-JP" sz="1000" b="1">
                <a:solidFill>
                  <a:srgbClr val="4EA72E"/>
                </a:solidFill>
              </a:rPr>
              <a:t>s)</a:t>
            </a:r>
            <a:endParaRPr lang="ja-JP" altLang="en-US" sz="1000" b="1">
              <a:solidFill>
                <a:srgbClr val="4EA72E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6D7C77D-AC1D-C141-B75E-C77C8DF0E6D1}"/>
              </a:ext>
            </a:extLst>
          </p:cNvPr>
          <p:cNvSpPr/>
          <p:nvPr/>
        </p:nvSpPr>
        <p:spPr>
          <a:xfrm>
            <a:off x="381000" y="2667000"/>
            <a:ext cx="2540000" cy="254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Pi-B USB </a:t>
            </a:r>
            <a:r>
              <a:rPr lang="ja-JP" altLang="en-US" sz="900" b="1">
                <a:solidFill>
                  <a:srgbClr val="FFFFFF"/>
                </a:solidFill>
              </a:rPr>
              <a:t>カメラ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96E1E0E-BD4C-1A4D-B797-523CFFED63B1}"/>
              </a:ext>
            </a:extLst>
          </p:cNvPr>
          <p:cNvSpPr/>
          <p:nvPr/>
        </p:nvSpPr>
        <p:spPr>
          <a:xfrm>
            <a:off x="381000" y="2921000"/>
            <a:ext cx="2540000" cy="863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196B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>
                <a:solidFill>
                  <a:srgbClr val="222222"/>
                </a:solidFill>
              </a:rPr>
              <a:t>• /camera/stream
• MJPEG (multipart)
• SOI→EOI </a:t>
            </a:r>
            <a:r>
              <a:rPr lang="ja-JP" altLang="en-US" sz="850">
                <a:solidFill>
                  <a:srgbClr val="222222"/>
                </a:solidFill>
              </a:rPr>
              <a:t>スキャン
</a:t>
            </a:r>
            <a:r>
              <a:rPr lang="en-US" altLang="ja-JP" sz="850">
                <a:solidFill>
                  <a:srgbClr val="222222"/>
                </a:solidFill>
              </a:rPr>
              <a:t>• </a:t>
            </a:r>
            <a:r>
              <a:rPr lang="ja-JP" altLang="en-US" sz="850">
                <a:solidFill>
                  <a:srgbClr val="222222"/>
                </a:solidFill>
              </a:rPr>
              <a:t>最大 </a:t>
            </a:r>
            <a:r>
              <a:rPr lang="en-US" altLang="ja-JP" sz="850">
                <a:solidFill>
                  <a:srgbClr val="222222"/>
                </a:solidFill>
              </a:rPr>
              <a:t>2</a:t>
            </a:r>
            <a:r>
              <a:rPr lang="en" altLang="ja-JP" sz="850">
                <a:solidFill>
                  <a:srgbClr val="222222"/>
                </a:solidFill>
              </a:rPr>
              <a:t>MB/frame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D10FF71-9E5D-9944-8593-D50300E0E615}"/>
              </a:ext>
            </a:extLst>
          </p:cNvPr>
          <p:cNvSpPr/>
          <p:nvPr/>
        </p:nvSpPr>
        <p:spPr>
          <a:xfrm>
            <a:off x="3098800" y="2667000"/>
            <a:ext cx="2540000" cy="2540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api (PC, asyncio)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4ABCAFE-8AED-7A4E-AE55-CD4BDD549A5D}"/>
              </a:ext>
            </a:extLst>
          </p:cNvPr>
          <p:cNvSpPr/>
          <p:nvPr/>
        </p:nvSpPr>
        <p:spPr>
          <a:xfrm>
            <a:off x="3098800" y="2921000"/>
            <a:ext cx="2540000" cy="863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4EA7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-US" altLang="ja-JP" sz="850">
                <a:solidFill>
                  <a:srgbClr val="222222"/>
                </a:solidFill>
              </a:rPr>
              <a:t>• 3 </a:t>
            </a:r>
            <a:r>
              <a:rPr lang="ja-JP" altLang="en-US" sz="850">
                <a:solidFill>
                  <a:srgbClr val="222222"/>
                </a:solidFill>
              </a:rPr>
              <a:t>秒ごとに </a:t>
            </a:r>
            <a:r>
              <a:rPr lang="en-US" altLang="ja-JP" sz="850">
                <a:solidFill>
                  <a:srgbClr val="222222"/>
                </a:solidFill>
              </a:rPr>
              <a:t>1 </a:t>
            </a:r>
            <a:r>
              <a:rPr lang="en" altLang="ja-JP" sz="850">
                <a:solidFill>
                  <a:srgbClr val="222222"/>
                </a:solidFill>
              </a:rPr>
              <a:t>frame
• asyncio.Lock </a:t>
            </a:r>
            <a:r>
              <a:rPr lang="ja-JP" altLang="en-US" sz="850">
                <a:solidFill>
                  <a:srgbClr val="222222"/>
                </a:solidFill>
              </a:rPr>
              <a:t>二重起動防止
</a:t>
            </a:r>
            <a:r>
              <a:rPr lang="en-US" altLang="ja-JP" sz="850">
                <a:solidFill>
                  <a:srgbClr val="222222"/>
                </a:solidFill>
              </a:rPr>
              <a:t>• </a:t>
            </a:r>
            <a:r>
              <a:rPr lang="en" altLang="ja-JP" sz="850">
                <a:solidFill>
                  <a:srgbClr val="222222"/>
                </a:solidFill>
              </a:rPr>
              <a:t>mode = goal / free
  goal = "my feet"
• finally </a:t>
            </a:r>
            <a:r>
              <a:rPr lang="ja-JP" altLang="en-US" sz="850">
                <a:solidFill>
                  <a:srgbClr val="222222"/>
                </a:solidFill>
              </a:rPr>
              <a:t>で必ず </a:t>
            </a:r>
            <a:r>
              <a:rPr lang="en" altLang="ja-JP" sz="850">
                <a:solidFill>
                  <a:srgbClr val="222222"/>
                </a:solidFill>
              </a:rPr>
              <a:t>stop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21FB46D-3368-7541-9503-29535AA63841}"/>
              </a:ext>
            </a:extLst>
          </p:cNvPr>
          <p:cNvSpPr/>
          <p:nvPr/>
        </p:nvSpPr>
        <p:spPr>
          <a:xfrm>
            <a:off x="5816600" y="2667000"/>
            <a:ext cx="2540000" cy="254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Gemini Robotics-ER 1.6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CE26C27-B1D0-8C4E-BB16-0950D7E4B449}"/>
              </a:ext>
            </a:extLst>
          </p:cNvPr>
          <p:cNvSpPr/>
          <p:nvPr/>
        </p:nvSpPr>
        <p:spPr>
          <a:xfrm>
            <a:off x="5816600" y="2921000"/>
            <a:ext cx="2540000" cy="863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8E44A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>
                <a:solidFill>
                  <a:srgbClr val="222222"/>
                </a:solidFill>
              </a:rPr>
              <a:t>• image + prompt + tools
• temperature=0.3
• thinking=LOW
• google_search tool
→ JSON {command, reason}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D860B53-F1C4-B84F-9512-C928E37D7F47}"/>
              </a:ext>
            </a:extLst>
          </p:cNvPr>
          <p:cNvSpPr/>
          <p:nvPr/>
        </p:nvSpPr>
        <p:spPr>
          <a:xfrm>
            <a:off x="8534400" y="2667000"/>
            <a:ext cx="2540000" cy="2540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Parse → Dispatch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BDB0D44-AC13-BE40-9883-1F16416B1081}"/>
              </a:ext>
            </a:extLst>
          </p:cNvPr>
          <p:cNvSpPr/>
          <p:nvPr/>
        </p:nvSpPr>
        <p:spPr>
          <a:xfrm>
            <a:off x="8534400" y="2921000"/>
            <a:ext cx="2540000" cy="8636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4EA7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 dirty="0">
                <a:solidFill>
                  <a:srgbClr val="222222"/>
                </a:solidFill>
              </a:rPr>
              <a:t>• fence</a:t>
            </a:r>
            <a:r>
              <a:rPr lang="ja-JP" altLang="en-US" sz="850">
                <a:solidFill>
                  <a:srgbClr val="222222"/>
                </a:solidFill>
              </a:rPr>
              <a:t>剥がし→</a:t>
            </a:r>
            <a:r>
              <a:rPr lang="en-US" altLang="ja-JP" sz="850" dirty="0">
                <a:solidFill>
                  <a:srgbClr val="222222"/>
                </a:solidFill>
              </a:rPr>
              <a:t>{...}→</a:t>
            </a:r>
            <a:r>
              <a:rPr lang="en" altLang="ja-JP" sz="850" dirty="0">
                <a:solidFill>
                  <a:srgbClr val="222222"/>
                </a:solidFill>
              </a:rPr>
              <a:t>fallback
• 5</a:t>
            </a:r>
            <a:r>
              <a:rPr lang="ja-JP" altLang="en-US" sz="850">
                <a:solidFill>
                  <a:srgbClr val="222222"/>
                </a:solidFill>
              </a:rPr>
              <a:t>択</a:t>
            </a:r>
            <a:r>
              <a:rPr lang="en-US" altLang="ja-JP" sz="850" dirty="0">
                <a:solidFill>
                  <a:srgbClr val="222222"/>
                </a:solidFill>
              </a:rPr>
              <a:t>: </a:t>
            </a:r>
            <a:r>
              <a:rPr lang="en" altLang="ja-JP" sz="850" dirty="0" err="1">
                <a:solidFill>
                  <a:srgbClr val="222222"/>
                </a:solidFill>
              </a:rPr>
              <a:t>fwd</a:t>
            </a:r>
            <a:r>
              <a:rPr lang="en" altLang="ja-JP" sz="850" dirty="0">
                <a:solidFill>
                  <a:srgbClr val="222222"/>
                </a:solidFill>
              </a:rPr>
              <a:t>/left/right/back/stop
• HTTP → Pi-B /command/{</a:t>
            </a:r>
            <a:r>
              <a:rPr lang="en" altLang="ja-JP" sz="850" dirty="0" err="1">
                <a:solidFill>
                  <a:srgbClr val="222222"/>
                </a:solidFill>
              </a:rPr>
              <a:t>cmd</a:t>
            </a:r>
            <a:r>
              <a:rPr lang="en" altLang="ja-JP" sz="850" dirty="0">
                <a:solidFill>
                  <a:srgbClr val="222222"/>
                </a:solidFill>
              </a:rPr>
              <a:t>}
• MQTT </a:t>
            </a:r>
            <a:r>
              <a:rPr lang="en" altLang="ja-JP" sz="850" dirty="0" err="1">
                <a:solidFill>
                  <a:srgbClr val="222222"/>
                </a:solidFill>
              </a:rPr>
              <a:t>roomba</a:t>
            </a:r>
            <a:r>
              <a:rPr lang="en" altLang="ja-JP" sz="850" dirty="0">
                <a:solidFill>
                  <a:srgbClr val="222222"/>
                </a:solidFill>
              </a:rPr>
              <a:t>/</a:t>
            </a:r>
            <a:r>
              <a:rPr lang="en" altLang="ja-JP" sz="850" dirty="0" err="1">
                <a:solidFill>
                  <a:srgbClr val="222222"/>
                </a:solidFill>
              </a:rPr>
              <a:t>cmd</a:t>
            </a:r>
            <a:r>
              <a:rPr lang="en" altLang="ja-JP" sz="850" dirty="0">
                <a:solidFill>
                  <a:srgbClr val="222222"/>
                </a:solidFill>
              </a:rPr>
              <a:t> publish
• </a:t>
            </a:r>
            <a:r>
              <a:rPr lang="en" altLang="ja-JP" sz="850" dirty="0" err="1">
                <a:solidFill>
                  <a:srgbClr val="222222"/>
                </a:solidFill>
              </a:rPr>
              <a:t>roomba_events</a:t>
            </a:r>
            <a:r>
              <a:rPr lang="en" altLang="ja-JP" sz="850" dirty="0">
                <a:solidFill>
                  <a:srgbClr val="222222"/>
                </a:solidFill>
              </a:rPr>
              <a:t> </a:t>
            </a:r>
            <a:r>
              <a:rPr lang="ja-JP" altLang="en-US" sz="850">
                <a:solidFill>
                  <a:srgbClr val="222222"/>
                </a:solidFill>
              </a:rPr>
              <a:t>に永続化</a:t>
            </a:r>
          </a:p>
        </p:txBody>
      </p:sp>
      <p:sp>
        <p:nvSpPr>
          <p:cNvPr id="43" name="右矢印 42">
            <a:extLst>
              <a:ext uri="{FF2B5EF4-FFF2-40B4-BE49-F238E27FC236}">
                <a16:creationId xmlns:a16="http://schemas.microsoft.com/office/drawing/2014/main" id="{4DD5503D-C100-B940-AC25-46AB6653B00E}"/>
              </a:ext>
            </a:extLst>
          </p:cNvPr>
          <p:cNvSpPr/>
          <p:nvPr/>
        </p:nvSpPr>
        <p:spPr>
          <a:xfrm>
            <a:off x="2908300" y="3136900"/>
            <a:ext cx="203200" cy="177800"/>
          </a:xfrm>
          <a:prstGeom prst="rightArrow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4" name="右矢印 43">
            <a:extLst>
              <a:ext uri="{FF2B5EF4-FFF2-40B4-BE49-F238E27FC236}">
                <a16:creationId xmlns:a16="http://schemas.microsoft.com/office/drawing/2014/main" id="{BDA4217B-3E17-9546-8602-6EE5F1B52280}"/>
              </a:ext>
            </a:extLst>
          </p:cNvPr>
          <p:cNvSpPr/>
          <p:nvPr/>
        </p:nvSpPr>
        <p:spPr>
          <a:xfrm>
            <a:off x="5626100" y="3136900"/>
            <a:ext cx="203200" cy="177800"/>
          </a:xfrm>
          <a:prstGeom prst="rightArrow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5" name="右矢印 44">
            <a:extLst>
              <a:ext uri="{FF2B5EF4-FFF2-40B4-BE49-F238E27FC236}">
                <a16:creationId xmlns:a16="http://schemas.microsoft.com/office/drawing/2014/main" id="{6DD6EE9B-BBB1-C34B-AD80-E8CBB181D531}"/>
              </a:ext>
            </a:extLst>
          </p:cNvPr>
          <p:cNvSpPr/>
          <p:nvPr/>
        </p:nvSpPr>
        <p:spPr>
          <a:xfrm>
            <a:off x="8343900" y="3136900"/>
            <a:ext cx="203200" cy="177800"/>
          </a:xfrm>
          <a:prstGeom prst="rightArrow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B7EAA6B-0B1C-DF43-9239-8ACB26D739FE}"/>
              </a:ext>
            </a:extLst>
          </p:cNvPr>
          <p:cNvSpPr txBox="1"/>
          <p:nvPr/>
        </p:nvSpPr>
        <p:spPr>
          <a:xfrm>
            <a:off x="5816600" y="2489200"/>
            <a:ext cx="2540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800" i="1">
                <a:solidFill>
                  <a:srgbClr val="8E44AD"/>
                </a:solidFill>
              </a:rPr>
              <a:t>↑ 外向き </a:t>
            </a:r>
            <a:r>
              <a:rPr lang="en" altLang="ja-JP" sz="800" i="1">
                <a:solidFill>
                  <a:srgbClr val="8E44AD"/>
                </a:solidFill>
              </a:rPr>
              <a:t>HTTPS (Google API)</a:t>
            </a:r>
            <a:endParaRPr lang="ja-JP" altLang="en-US" sz="800" i="1">
              <a:solidFill>
                <a:srgbClr val="8E44AD"/>
              </a:solidFill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DE37656D-B123-1D4D-9F07-CB42426197FA}"/>
              </a:ext>
            </a:extLst>
          </p:cNvPr>
          <p:cNvSpPr txBox="1"/>
          <p:nvPr/>
        </p:nvSpPr>
        <p:spPr>
          <a:xfrm>
            <a:off x="228600" y="3860800"/>
            <a:ext cx="508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000" b="1">
                <a:solidFill>
                  <a:srgbClr val="555555"/>
                </a:solidFill>
              </a:rPr>
              <a:t>基盤レイヤ </a:t>
            </a:r>
            <a:r>
              <a:rPr lang="en-US" altLang="ja-JP" sz="1000" b="1">
                <a:solidFill>
                  <a:srgbClr val="555555"/>
                </a:solidFill>
              </a:rPr>
              <a:t>(</a:t>
            </a:r>
            <a:r>
              <a:rPr lang="en" altLang="ja-JP" sz="1000" b="1">
                <a:solidFill>
                  <a:srgbClr val="555555"/>
                </a:solidFill>
              </a:rPr>
              <a:t>PC: docker compose / 7 </a:t>
            </a:r>
            <a:r>
              <a:rPr lang="ja-JP" altLang="en-US" sz="1000" b="1">
                <a:solidFill>
                  <a:srgbClr val="555555"/>
                </a:solidFill>
              </a:rPr>
              <a:t>コンテナ</a:t>
            </a:r>
            <a:r>
              <a:rPr lang="en-US" altLang="ja-JP" sz="1000" b="1">
                <a:solidFill>
                  <a:srgbClr val="555555"/>
                </a:solidFill>
              </a:rPr>
              <a:t>) </a:t>
            </a:r>
            <a:r>
              <a:rPr lang="ja-JP" altLang="en-US" sz="1000" b="1">
                <a:solidFill>
                  <a:srgbClr val="555555"/>
                </a:solidFill>
              </a:rPr>
              <a:t>・ ネットワーク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BACC0FA-8129-8C45-A0DD-761E9CE6C449}"/>
              </a:ext>
            </a:extLst>
          </p:cNvPr>
          <p:cNvSpPr/>
          <p:nvPr/>
        </p:nvSpPr>
        <p:spPr>
          <a:xfrm>
            <a:off x="381000" y="4064000"/>
            <a:ext cx="2540000" cy="254000"/>
          </a:xfrm>
          <a:prstGeom prst="rect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TimescaleDB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15AE962-E56A-614D-BE37-12FCEA79D4AE}"/>
              </a:ext>
            </a:extLst>
          </p:cNvPr>
          <p:cNvSpPr/>
          <p:nvPr/>
        </p:nvSpPr>
        <p:spPr>
          <a:xfrm>
            <a:off x="381000" y="4318000"/>
            <a:ext cx="2540000" cy="762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5555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>
                <a:solidFill>
                  <a:srgbClr val="222222"/>
                </a:solidFill>
              </a:rPr>
              <a:t>• eeg_raw (250Hz×16ch)
• eeg_features (~4Hz)
• events (JSONB)
• roomba_events
  (ts,cmd,ok,src,reason,
   mode,goal,model,err)
• hypertable + </a:t>
            </a:r>
            <a:r>
              <a:rPr lang="ja-JP" altLang="en-US" sz="850">
                <a:solidFill>
                  <a:srgbClr val="222222"/>
                </a:solidFill>
              </a:rPr>
              <a:t>圧縮 </a:t>
            </a:r>
            <a:r>
              <a:rPr lang="en-US" altLang="ja-JP" sz="850">
                <a:solidFill>
                  <a:srgbClr val="222222"/>
                </a:solidFill>
              </a:rPr>
              <a:t>(5–10×)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C53AE38-86B5-FB4A-9699-327DB46F3666}"/>
              </a:ext>
            </a:extLst>
          </p:cNvPr>
          <p:cNvSpPr/>
          <p:nvPr/>
        </p:nvSpPr>
        <p:spPr>
          <a:xfrm>
            <a:off x="3098800" y="4064000"/>
            <a:ext cx="2540000" cy="254000"/>
          </a:xfrm>
          <a:prstGeom prst="rect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Mosquitto (MQTT)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7B9AD0D-C93D-FE42-9076-E790FAB34080}"/>
              </a:ext>
            </a:extLst>
          </p:cNvPr>
          <p:cNvSpPr/>
          <p:nvPr/>
        </p:nvSpPr>
        <p:spPr>
          <a:xfrm>
            <a:off x="3098800" y="4318000"/>
            <a:ext cx="2540000" cy="762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5555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>
                <a:solidFill>
                  <a:srgbClr val="222222"/>
                </a:solidFill>
              </a:rPr>
              <a:t>• eeg/chunk 250Hz
• eeg/live 50Hz
• eeg/alpha (retain)
• control/state (retain)
• control/threshold (retain)
• roomba/cmd, roomba/state
• pieeg/health, last-will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3B1607EE-8A12-EB46-89CD-012B672D8FDA}"/>
              </a:ext>
            </a:extLst>
          </p:cNvPr>
          <p:cNvSpPr/>
          <p:nvPr/>
        </p:nvSpPr>
        <p:spPr>
          <a:xfrm>
            <a:off x="5816600" y="4064000"/>
            <a:ext cx="2540000" cy="254000"/>
          </a:xfrm>
          <a:prstGeom prst="rect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api + frontend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7B6D421-BD10-6940-B581-5BD2F6857048}"/>
              </a:ext>
            </a:extLst>
          </p:cNvPr>
          <p:cNvSpPr/>
          <p:nvPr/>
        </p:nvSpPr>
        <p:spPr>
          <a:xfrm>
            <a:off x="5816600" y="4318000"/>
            <a:ext cx="2540000" cy="762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5555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" altLang="ja-JP" sz="850">
                <a:solidFill>
                  <a:srgbClr val="222222"/>
                </a:solidFill>
              </a:rPr>
              <a:t>• FastAPI :8080
• WS /ws (</a:t>
            </a:r>
            <a:r>
              <a:rPr lang="ja-JP" altLang="en-US" sz="850">
                <a:solidFill>
                  <a:srgbClr val="222222"/>
                </a:solidFill>
              </a:rPr>
              <a:t>全トピック </a:t>
            </a:r>
            <a:r>
              <a:rPr lang="en" altLang="ja-JP" sz="850">
                <a:solidFill>
                  <a:srgbClr val="222222"/>
                </a:solidFill>
              </a:rPr>
              <a:t>fan-out)
• /history/alpha, /threshold
• /autopilot/{start,stop,status}
• React+Vite+uPlot :5173
• </a:t>
            </a:r>
            <a:r>
              <a:rPr lang="ja-JP" altLang="en-US" sz="850">
                <a:solidFill>
                  <a:srgbClr val="222222"/>
                </a:solidFill>
              </a:rPr>
              <a:t>波形 </a:t>
            </a:r>
            <a:r>
              <a:rPr lang="en-US" altLang="ja-JP" sz="850">
                <a:solidFill>
                  <a:srgbClr val="222222"/>
                </a:solidFill>
              </a:rPr>
              <a:t>/ </a:t>
            </a:r>
            <a:r>
              <a:rPr lang="el-GR" altLang="ja-JP" sz="850">
                <a:solidFill>
                  <a:srgbClr val="222222"/>
                </a:solidFill>
              </a:rPr>
              <a:t>α</a:t>
            </a:r>
            <a:r>
              <a:rPr lang="ja-JP" altLang="en-US" sz="850">
                <a:solidFill>
                  <a:srgbClr val="222222"/>
                </a:solidFill>
              </a:rPr>
              <a:t>バー </a:t>
            </a:r>
            <a:r>
              <a:rPr lang="en-US" altLang="ja-JP" sz="850">
                <a:solidFill>
                  <a:srgbClr val="222222"/>
                </a:solidFill>
              </a:rPr>
              <a:t>/ </a:t>
            </a:r>
            <a:r>
              <a:rPr lang="ja-JP" altLang="en-US" sz="850">
                <a:solidFill>
                  <a:srgbClr val="222222"/>
                </a:solidFill>
              </a:rPr>
              <a:t>状態 </a:t>
            </a:r>
            <a:r>
              <a:rPr lang="en-US" altLang="ja-JP" sz="850">
                <a:solidFill>
                  <a:srgbClr val="222222"/>
                </a:solidFill>
              </a:rPr>
              <a:t>/ </a:t>
            </a:r>
            <a:r>
              <a:rPr lang="ja-JP" altLang="en-US" sz="850">
                <a:solidFill>
                  <a:srgbClr val="222222"/>
                </a:solidFill>
              </a:rPr>
              <a:t>操作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25726168-61D1-1D45-BCF2-538B970DA1DE}"/>
              </a:ext>
            </a:extLst>
          </p:cNvPr>
          <p:cNvSpPr/>
          <p:nvPr/>
        </p:nvSpPr>
        <p:spPr>
          <a:xfrm>
            <a:off x="8534400" y="4064000"/>
            <a:ext cx="2540000" cy="254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FFFFFF"/>
                </a:solidFill>
              </a:rPr>
              <a:t>Tailscale Tailnet (</a:t>
            </a:r>
            <a:r>
              <a:rPr lang="ja-JP" altLang="en-US" sz="900" b="1">
                <a:solidFill>
                  <a:srgbClr val="FFFFFF"/>
                </a:solidFill>
              </a:rPr>
              <a:t>管理面</a:t>
            </a:r>
            <a:r>
              <a:rPr lang="en-US" altLang="ja-JP" sz="900" b="1">
                <a:solidFill>
                  <a:srgbClr val="FFFFFF"/>
                </a:solidFill>
              </a:rPr>
              <a:t>)</a:t>
            </a:r>
            <a:endParaRPr lang="ja-JP" altLang="en-US" sz="900" b="1">
              <a:solidFill>
                <a:srgbClr val="FFFFFF"/>
              </a:solidFill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A7F84FBF-7806-2B46-9DC7-4BE0C9FF5CA2}"/>
              </a:ext>
            </a:extLst>
          </p:cNvPr>
          <p:cNvSpPr/>
          <p:nvPr/>
        </p:nvSpPr>
        <p:spPr>
          <a:xfrm>
            <a:off x="8534400" y="4318000"/>
            <a:ext cx="2540000" cy="762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C039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-US" altLang="ja-JP" sz="850">
                <a:solidFill>
                  <a:srgbClr val="222222"/>
                </a:solidFill>
              </a:rPr>
              <a:t>• 4 </a:t>
            </a:r>
            <a:r>
              <a:rPr lang="ja-JP" altLang="en-US" sz="850">
                <a:solidFill>
                  <a:srgbClr val="222222"/>
                </a:solidFill>
              </a:rPr>
              <a:t>ノード</a:t>
            </a:r>
            <a:r>
              <a:rPr lang="en-US" altLang="ja-JP" sz="850">
                <a:solidFill>
                  <a:srgbClr val="222222"/>
                </a:solidFill>
              </a:rPr>
              <a:t>: </a:t>
            </a:r>
            <a:r>
              <a:rPr lang="ja-JP" altLang="en-US" sz="850">
                <a:solidFill>
                  <a:srgbClr val="222222"/>
                </a:solidFill>
              </a:rPr>
              <a:t>開発</a:t>
            </a:r>
            <a:r>
              <a:rPr lang="en" altLang="ja-JP" sz="850">
                <a:solidFill>
                  <a:srgbClr val="222222"/>
                </a:solidFill>
              </a:rPr>
              <a:t>PC / PC / Pi-A / Pi-B
• WireGuard mesh, 100.x.y.z
• </a:t>
            </a:r>
            <a:r>
              <a:rPr lang="ja-JP" altLang="en-US" sz="850">
                <a:solidFill>
                  <a:srgbClr val="222222"/>
                </a:solidFill>
              </a:rPr>
              <a:t>用途</a:t>
            </a:r>
            <a:r>
              <a:rPr lang="en-US" altLang="ja-JP" sz="850">
                <a:solidFill>
                  <a:srgbClr val="222222"/>
                </a:solidFill>
              </a:rPr>
              <a:t>: </a:t>
            </a:r>
            <a:r>
              <a:rPr lang="en" altLang="ja-JP" sz="850">
                <a:solidFill>
                  <a:srgbClr val="222222"/>
                </a:solidFill>
              </a:rPr>
              <a:t>ssh / rsync / WebUI </a:t>
            </a:r>
            <a:r>
              <a:rPr lang="ja-JP" altLang="en-US" sz="850">
                <a:solidFill>
                  <a:srgbClr val="222222"/>
                </a:solidFill>
              </a:rPr>
              <a:t>閲覧
</a:t>
            </a:r>
            <a:r>
              <a:rPr lang="en-US" altLang="ja-JP" sz="850">
                <a:solidFill>
                  <a:srgbClr val="222222"/>
                </a:solidFill>
              </a:rPr>
              <a:t>• </a:t>
            </a:r>
            <a:r>
              <a:rPr lang="ja-JP" altLang="en-US" sz="850">
                <a:solidFill>
                  <a:srgbClr val="222222"/>
                </a:solidFill>
              </a:rPr>
              <a:t>データ面は 素の</a:t>
            </a:r>
            <a:r>
              <a:rPr lang="en" altLang="ja-JP" sz="850">
                <a:solidFill>
                  <a:srgbClr val="222222"/>
                </a:solidFill>
              </a:rPr>
              <a:t>LAN </a:t>
            </a:r>
            <a:r>
              <a:rPr lang="ja-JP" altLang="en-US" sz="850">
                <a:solidFill>
                  <a:srgbClr val="222222"/>
                </a:solidFill>
              </a:rPr>
              <a:t>を通る
  </a:t>
            </a:r>
            <a:r>
              <a:rPr lang="en-US" altLang="ja-JP" sz="850">
                <a:solidFill>
                  <a:srgbClr val="222222"/>
                </a:solidFill>
              </a:rPr>
              <a:t>(</a:t>
            </a:r>
            <a:r>
              <a:rPr lang="en" altLang="ja-JP" sz="850">
                <a:solidFill>
                  <a:srgbClr val="222222"/>
                </a:solidFill>
              </a:rPr>
              <a:t>LSL UDP multicast / MQTT / HTTP)
• Gemini API </a:t>
            </a:r>
            <a:r>
              <a:rPr lang="ja-JP" altLang="en-US" sz="850">
                <a:solidFill>
                  <a:srgbClr val="222222"/>
                </a:solidFill>
              </a:rPr>
              <a:t>のみ 外向き </a:t>
            </a:r>
            <a:r>
              <a:rPr lang="en" altLang="ja-JP" sz="850">
                <a:solidFill>
                  <a:srgbClr val="222222"/>
                </a:solidFill>
              </a:rPr>
              <a:t>HTTPS</a:t>
            </a:r>
            <a:endParaRPr lang="ja-JP" altLang="en-US" sz="850">
              <a:solidFill>
                <a:srgbClr val="222222"/>
              </a:solidFill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8EB9D7F-7517-9A47-9516-8AB4431A3F69}"/>
              </a:ext>
            </a:extLst>
          </p:cNvPr>
          <p:cNvSpPr/>
          <p:nvPr/>
        </p:nvSpPr>
        <p:spPr>
          <a:xfrm>
            <a:off x="228600" y="5283200"/>
            <a:ext cx="11734800" cy="3302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0E284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900">
                <a:solidFill>
                  <a:srgbClr val="0E2841"/>
                </a:solidFill>
              </a:rPr>
              <a:t>E2E </a:t>
            </a:r>
            <a:r>
              <a:rPr lang="ja-JP" altLang="en-US" sz="900">
                <a:solidFill>
                  <a:srgbClr val="0E2841"/>
                </a:solidFill>
              </a:rPr>
              <a:t>レイテンシ予算 </a:t>
            </a:r>
            <a:r>
              <a:rPr lang="en-US" altLang="ja-JP" sz="900">
                <a:solidFill>
                  <a:srgbClr val="0E2841"/>
                </a:solidFill>
              </a:rPr>
              <a:t>(</a:t>
            </a:r>
            <a:r>
              <a:rPr lang="en" altLang="ja-JP" sz="900">
                <a:solidFill>
                  <a:srgbClr val="0E2841"/>
                </a:solidFill>
              </a:rPr>
              <a:t>EEG</a:t>
            </a:r>
            <a:r>
              <a:rPr lang="ja-JP" altLang="en-US" sz="900">
                <a:solidFill>
                  <a:srgbClr val="0E2841"/>
                </a:solidFill>
              </a:rPr>
              <a:t>パス</a:t>
            </a:r>
            <a:r>
              <a:rPr lang="en-US" altLang="ja-JP" sz="900">
                <a:solidFill>
                  <a:srgbClr val="0E2841"/>
                </a:solidFill>
              </a:rPr>
              <a:t>): </a:t>
            </a:r>
            <a:r>
              <a:rPr lang="ja-JP" altLang="en-US" sz="900">
                <a:solidFill>
                  <a:srgbClr val="0E2841"/>
                </a:solidFill>
              </a:rPr>
              <a:t>中央値 </a:t>
            </a:r>
            <a:r>
              <a:rPr lang="en-US" altLang="ja-JP" sz="900">
                <a:solidFill>
                  <a:srgbClr val="0E2841"/>
                </a:solidFill>
              </a:rPr>
              <a:t>&lt; 500</a:t>
            </a:r>
            <a:r>
              <a:rPr lang="en" altLang="ja-JP" sz="900">
                <a:solidFill>
                  <a:srgbClr val="0E2841"/>
                </a:solidFill>
              </a:rPr>
              <a:t>ms / p95 &lt; 1s   —   SPI→LSL 5ms </a:t>
            </a:r>
            <a:r>
              <a:rPr lang="ja-JP" altLang="en" sz="900">
                <a:solidFill>
                  <a:srgbClr val="0E2841"/>
                </a:solidFill>
              </a:rPr>
              <a:t>・ </a:t>
            </a:r>
            <a:r>
              <a:rPr lang="en" altLang="ja-JP" sz="900">
                <a:solidFill>
                  <a:srgbClr val="0E2841"/>
                </a:solidFill>
              </a:rPr>
              <a:t>ingest 20ms </a:t>
            </a:r>
            <a:r>
              <a:rPr lang="ja-JP" altLang="en" sz="900">
                <a:solidFill>
                  <a:srgbClr val="0E2841"/>
                </a:solidFill>
              </a:rPr>
              <a:t>・ </a:t>
            </a:r>
            <a:r>
              <a:rPr lang="en" altLang="ja-JP" sz="900">
                <a:solidFill>
                  <a:srgbClr val="0E2841"/>
                </a:solidFill>
              </a:rPr>
              <a:t>Welch 50ms </a:t>
            </a:r>
            <a:r>
              <a:rPr lang="ja-JP" altLang="en" sz="900">
                <a:solidFill>
                  <a:srgbClr val="0E2841"/>
                </a:solidFill>
              </a:rPr>
              <a:t>・ </a:t>
            </a:r>
            <a:r>
              <a:rPr lang="en" altLang="ja-JP" sz="900">
                <a:solidFill>
                  <a:srgbClr val="0E2841"/>
                </a:solidFill>
              </a:rPr>
              <a:t>MQTT 20ms </a:t>
            </a:r>
            <a:r>
              <a:rPr lang="ja-JP" altLang="en" sz="900">
                <a:solidFill>
                  <a:srgbClr val="0E2841"/>
                </a:solidFill>
              </a:rPr>
              <a:t>・ </a:t>
            </a:r>
            <a:r>
              <a:rPr lang="en" altLang="ja-JP" sz="900">
                <a:solidFill>
                  <a:srgbClr val="0E2841"/>
                </a:solidFill>
              </a:rPr>
              <a:t>HTTP 100ms </a:t>
            </a:r>
            <a:r>
              <a:rPr lang="ja-JP" altLang="en" sz="900">
                <a:solidFill>
                  <a:srgbClr val="0E2841"/>
                </a:solidFill>
              </a:rPr>
              <a:t>・ </a:t>
            </a:r>
            <a:r>
              <a:rPr lang="en" altLang="ja-JP" sz="900">
                <a:solidFill>
                  <a:srgbClr val="0E2841"/>
                </a:solidFill>
              </a:rPr>
              <a:t>Arduino+ROI </a:t>
            </a:r>
            <a:r>
              <a:rPr lang="ja-JP" altLang="en-US" sz="900">
                <a:solidFill>
                  <a:srgbClr val="0E2841"/>
                </a:solidFill>
              </a:rPr>
              <a:t>数</a:t>
            </a:r>
            <a:r>
              <a:rPr lang="en" altLang="ja-JP" sz="900">
                <a:solidFill>
                  <a:srgbClr val="0E2841"/>
                </a:solidFill>
              </a:rPr>
              <a:t>ms </a:t>
            </a:r>
            <a:r>
              <a:rPr lang="ja-JP" altLang="en" sz="900">
                <a:solidFill>
                  <a:srgbClr val="0E2841"/>
                </a:solidFill>
              </a:rPr>
              <a:t>・ </a:t>
            </a:r>
            <a:r>
              <a:rPr lang="ja-JP" altLang="en-US" sz="900">
                <a:solidFill>
                  <a:srgbClr val="0E2841"/>
                </a:solidFill>
              </a:rPr>
              <a:t>モーター応答 </a:t>
            </a:r>
            <a:r>
              <a:rPr lang="en-US" altLang="ja-JP" sz="900">
                <a:solidFill>
                  <a:srgbClr val="0E2841"/>
                </a:solidFill>
              </a:rPr>
              <a:t>~100</a:t>
            </a:r>
            <a:r>
              <a:rPr lang="en" altLang="ja-JP" sz="900">
                <a:solidFill>
                  <a:srgbClr val="0E2841"/>
                </a:solidFill>
              </a:rPr>
              <a:t>ms</a:t>
            </a:r>
            <a:endParaRPr lang="ja-JP" altLang="en-US" sz="900">
              <a:solidFill>
                <a:srgbClr val="0E2841"/>
              </a:solidFill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EB120F7B-EA38-E04B-8B35-68B492386D4C}"/>
              </a:ext>
            </a:extLst>
          </p:cNvPr>
          <p:cNvSpPr/>
          <p:nvPr/>
        </p:nvSpPr>
        <p:spPr>
          <a:xfrm>
            <a:off x="228600" y="5638800"/>
            <a:ext cx="11734800" cy="27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4EA7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900" b="1">
                <a:solidFill>
                  <a:srgbClr val="4EA72E"/>
                </a:solidFill>
              </a:rPr>
              <a:t>Autopilot </a:t>
            </a:r>
            <a:r>
              <a:rPr lang="ja-JP" altLang="en-US" sz="900" b="1">
                <a:solidFill>
                  <a:srgbClr val="4EA72E"/>
                </a:solidFill>
              </a:rPr>
              <a:t>パス</a:t>
            </a:r>
            <a:r>
              <a:rPr lang="en-US" altLang="ja-JP" sz="900" b="1">
                <a:solidFill>
                  <a:srgbClr val="4EA72E"/>
                </a:solidFill>
              </a:rPr>
              <a:t>: 1 </a:t>
            </a:r>
            <a:r>
              <a:rPr lang="ja-JP" altLang="en-US" sz="900" b="1">
                <a:solidFill>
                  <a:srgbClr val="4EA72E"/>
                </a:solidFill>
              </a:rPr>
              <a:t>判断あたり 中央値 </a:t>
            </a:r>
            <a:r>
              <a:rPr lang="en-US" altLang="ja-JP" sz="900" b="1">
                <a:solidFill>
                  <a:srgbClr val="4EA72E"/>
                </a:solidFill>
              </a:rPr>
              <a:t>~2</a:t>
            </a:r>
            <a:r>
              <a:rPr lang="en" altLang="ja-JP" sz="900" b="1">
                <a:solidFill>
                  <a:srgbClr val="4EA72E"/>
                </a:solidFill>
              </a:rPr>
              <a:t>s  (JPEG</a:t>
            </a:r>
            <a:r>
              <a:rPr lang="ja-JP" altLang="en-US" sz="900" b="1">
                <a:solidFill>
                  <a:srgbClr val="4EA72E"/>
                </a:solidFill>
              </a:rPr>
              <a:t>取得 </a:t>
            </a:r>
            <a:r>
              <a:rPr lang="en-US" altLang="ja-JP" sz="900" b="1">
                <a:solidFill>
                  <a:srgbClr val="4EA72E"/>
                </a:solidFill>
              </a:rPr>
              <a:t>200</a:t>
            </a:r>
            <a:r>
              <a:rPr lang="en" altLang="ja-JP" sz="900" b="1">
                <a:solidFill>
                  <a:srgbClr val="4EA72E"/>
                </a:solidFill>
              </a:rPr>
              <a:t>ms + Gemini API ~1.5s + dispatch 200ms)   —   goal="my feet" </a:t>
            </a:r>
            <a:r>
              <a:rPr lang="ja-JP" altLang="en-US" sz="900" b="1">
                <a:solidFill>
                  <a:srgbClr val="4EA72E"/>
                </a:solidFill>
              </a:rPr>
              <a:t>で足元自律接近 → 自発 </a:t>
            </a:r>
            <a:r>
              <a:rPr lang="en" altLang="ja-JP" sz="900" b="1">
                <a:solidFill>
                  <a:srgbClr val="4EA72E"/>
                </a:solidFill>
              </a:rPr>
              <a:t>stop</a:t>
            </a:r>
            <a:endParaRPr lang="ja-JP" altLang="en-US" sz="900" b="1">
              <a:solidFill>
                <a:srgbClr val="4EA72E"/>
              </a:solidFill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070AFEF9-16A4-BC4E-AD03-CD012A670A8D}"/>
              </a:ext>
            </a:extLst>
          </p:cNvPr>
          <p:cNvSpPr/>
          <p:nvPr/>
        </p:nvSpPr>
        <p:spPr>
          <a:xfrm>
            <a:off x="304800" y="5994400"/>
            <a:ext cx="152400" cy="127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FE5CF86-DF13-4A43-9912-09CAED9956E3}"/>
              </a:ext>
            </a:extLst>
          </p:cNvPr>
          <p:cNvSpPr txBox="1"/>
          <p:nvPr/>
        </p:nvSpPr>
        <p:spPr>
          <a:xfrm>
            <a:off x="482600" y="5969000"/>
            <a:ext cx="889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ja-JP" sz="850">
                <a:solidFill>
                  <a:srgbClr val="303030"/>
                </a:solidFill>
              </a:rPr>
              <a:t>EEG </a:t>
            </a:r>
            <a:r>
              <a:rPr lang="ja-JP" altLang="en-US" sz="850">
                <a:solidFill>
                  <a:srgbClr val="303030"/>
                </a:solidFill>
              </a:rPr>
              <a:t>取得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8A136A94-2EF8-BA47-B35D-684284BB0ED7}"/>
              </a:ext>
            </a:extLst>
          </p:cNvPr>
          <p:cNvSpPr/>
          <p:nvPr/>
        </p:nvSpPr>
        <p:spPr>
          <a:xfrm>
            <a:off x="1371600" y="5994400"/>
            <a:ext cx="152400" cy="1270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73C82801-7B8C-644C-8B8D-F180C0540A5A}"/>
              </a:ext>
            </a:extLst>
          </p:cNvPr>
          <p:cNvSpPr txBox="1"/>
          <p:nvPr/>
        </p:nvSpPr>
        <p:spPr>
          <a:xfrm>
            <a:off x="1549400" y="5969000"/>
            <a:ext cx="889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ja-JP" altLang="en-US" sz="850">
                <a:solidFill>
                  <a:srgbClr val="303030"/>
                </a:solidFill>
              </a:rPr>
              <a:t>転送 </a:t>
            </a:r>
            <a:r>
              <a:rPr lang="en-US" altLang="ja-JP" sz="850">
                <a:solidFill>
                  <a:srgbClr val="303030"/>
                </a:solidFill>
              </a:rPr>
              <a:t>/ </a:t>
            </a:r>
            <a:r>
              <a:rPr lang="en" altLang="ja-JP" sz="850">
                <a:solidFill>
                  <a:srgbClr val="303030"/>
                </a:solidFill>
              </a:rPr>
              <a:t>DB</a:t>
            </a:r>
            <a:endParaRPr lang="ja-JP" altLang="en-US" sz="850">
              <a:solidFill>
                <a:srgbClr val="303030"/>
              </a:solidFill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85A7E5A1-8A1B-D04A-AB75-F6E33D5A56C5}"/>
              </a:ext>
            </a:extLst>
          </p:cNvPr>
          <p:cNvSpPr/>
          <p:nvPr/>
        </p:nvSpPr>
        <p:spPr>
          <a:xfrm>
            <a:off x="2438400" y="5994400"/>
            <a:ext cx="152400" cy="1270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46337C94-F35B-6A4A-B549-2117C702AB27}"/>
              </a:ext>
            </a:extLst>
          </p:cNvPr>
          <p:cNvSpPr txBox="1"/>
          <p:nvPr/>
        </p:nvSpPr>
        <p:spPr>
          <a:xfrm>
            <a:off x="2616200" y="5969000"/>
            <a:ext cx="889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ja-JP" altLang="en-US" sz="850">
                <a:solidFill>
                  <a:srgbClr val="303030"/>
                </a:solidFill>
              </a:rPr>
              <a:t>信号解析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0497526F-4495-0640-883B-B46DFD4FD26F}"/>
              </a:ext>
            </a:extLst>
          </p:cNvPr>
          <p:cNvSpPr/>
          <p:nvPr/>
        </p:nvSpPr>
        <p:spPr>
          <a:xfrm>
            <a:off x="3505200" y="5994400"/>
            <a:ext cx="152400" cy="127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DD1BAF84-F910-5B4C-A611-1F5C1E9C3E95}"/>
              </a:ext>
            </a:extLst>
          </p:cNvPr>
          <p:cNvSpPr txBox="1"/>
          <p:nvPr/>
        </p:nvSpPr>
        <p:spPr>
          <a:xfrm>
            <a:off x="3683000" y="5969000"/>
            <a:ext cx="1270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ja-JP" altLang="en-US" sz="850">
                <a:solidFill>
                  <a:srgbClr val="303030"/>
                </a:solidFill>
              </a:rPr>
              <a:t>判定 </a:t>
            </a:r>
            <a:r>
              <a:rPr lang="en-US" altLang="ja-JP" sz="850">
                <a:solidFill>
                  <a:srgbClr val="303030"/>
                </a:solidFill>
              </a:rPr>
              <a:t>/ </a:t>
            </a:r>
            <a:r>
              <a:rPr lang="ja-JP" altLang="en-US" sz="850">
                <a:solidFill>
                  <a:srgbClr val="303030"/>
                </a:solidFill>
              </a:rPr>
              <a:t>閉ループ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6F71CD07-1CE1-1B42-982D-96EC7F7CB1EC}"/>
              </a:ext>
            </a:extLst>
          </p:cNvPr>
          <p:cNvSpPr/>
          <p:nvPr/>
        </p:nvSpPr>
        <p:spPr>
          <a:xfrm>
            <a:off x="4953000" y="5994400"/>
            <a:ext cx="152400" cy="127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D0F43419-36D4-B541-A964-152C5A91ABAF}"/>
              </a:ext>
            </a:extLst>
          </p:cNvPr>
          <p:cNvSpPr txBox="1"/>
          <p:nvPr/>
        </p:nvSpPr>
        <p:spPr>
          <a:xfrm>
            <a:off x="5130800" y="5969000"/>
            <a:ext cx="1143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ja-JP" altLang="en-US" sz="850">
                <a:solidFill>
                  <a:srgbClr val="303030"/>
                </a:solidFill>
              </a:rPr>
              <a:t>ロボット制御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4D91A229-257C-E545-84D1-ADF8AE71F662}"/>
              </a:ext>
            </a:extLst>
          </p:cNvPr>
          <p:cNvSpPr/>
          <p:nvPr/>
        </p:nvSpPr>
        <p:spPr>
          <a:xfrm>
            <a:off x="6273800" y="5994400"/>
            <a:ext cx="152400" cy="1270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42FB981F-3472-8442-8D5A-E9E9F7552AF1}"/>
              </a:ext>
            </a:extLst>
          </p:cNvPr>
          <p:cNvSpPr txBox="1"/>
          <p:nvPr/>
        </p:nvSpPr>
        <p:spPr>
          <a:xfrm>
            <a:off x="6451600" y="5969000"/>
            <a:ext cx="889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ja-JP" sz="850">
                <a:solidFill>
                  <a:srgbClr val="303030"/>
                </a:solidFill>
              </a:rPr>
              <a:t>Autopilot</a:t>
            </a:r>
            <a:endParaRPr lang="ja-JP" altLang="en-US" sz="850">
              <a:solidFill>
                <a:srgbClr val="303030"/>
              </a:solidFill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49E3B873-BF07-8B41-8844-A56050CA0427}"/>
              </a:ext>
            </a:extLst>
          </p:cNvPr>
          <p:cNvSpPr/>
          <p:nvPr/>
        </p:nvSpPr>
        <p:spPr>
          <a:xfrm>
            <a:off x="7340600" y="5994400"/>
            <a:ext cx="152400" cy="127000"/>
          </a:xfrm>
          <a:prstGeom prst="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15D346CF-2E93-B345-B785-954C8A304E56}"/>
              </a:ext>
            </a:extLst>
          </p:cNvPr>
          <p:cNvSpPr txBox="1"/>
          <p:nvPr/>
        </p:nvSpPr>
        <p:spPr>
          <a:xfrm>
            <a:off x="7518400" y="5969000"/>
            <a:ext cx="1016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ja-JP" sz="850">
                <a:solidFill>
                  <a:srgbClr val="303030"/>
                </a:solidFill>
              </a:rPr>
              <a:t>Gemini API</a:t>
            </a:r>
            <a:endParaRPr lang="ja-JP" altLang="en-US" sz="850">
              <a:solidFill>
                <a:srgbClr val="303030"/>
              </a:solidFill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7D7A59ED-1F8F-BA40-BEAB-EF4F34ABDC8E}"/>
              </a:ext>
            </a:extLst>
          </p:cNvPr>
          <p:cNvSpPr/>
          <p:nvPr/>
        </p:nvSpPr>
        <p:spPr>
          <a:xfrm>
            <a:off x="8534400" y="5994400"/>
            <a:ext cx="152400" cy="1270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A141D141-330C-794A-8DEA-4CAC7DD59AB6}"/>
              </a:ext>
            </a:extLst>
          </p:cNvPr>
          <p:cNvSpPr txBox="1"/>
          <p:nvPr/>
        </p:nvSpPr>
        <p:spPr>
          <a:xfrm>
            <a:off x="8712200" y="5969000"/>
            <a:ext cx="2540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ja-JP" altLang="en-US" sz="850">
                <a:solidFill>
                  <a:srgbClr val="303030"/>
                </a:solidFill>
              </a:rPr>
              <a:t>境界 </a:t>
            </a:r>
            <a:r>
              <a:rPr lang="en-US" altLang="ja-JP" sz="850">
                <a:solidFill>
                  <a:srgbClr val="303030"/>
                </a:solidFill>
              </a:rPr>
              <a:t>(</a:t>
            </a:r>
            <a:r>
              <a:rPr lang="en" altLang="ja-JP" sz="850">
                <a:solidFill>
                  <a:srgbClr val="303030"/>
                </a:solidFill>
              </a:rPr>
              <a:t>LAN / </a:t>
            </a:r>
            <a:r>
              <a:rPr lang="ja-JP" altLang="en-US" sz="850">
                <a:solidFill>
                  <a:srgbClr val="303030"/>
                </a:solidFill>
              </a:rPr>
              <a:t>電圧 </a:t>
            </a:r>
            <a:r>
              <a:rPr lang="en-US" altLang="ja-JP" sz="850">
                <a:solidFill>
                  <a:srgbClr val="303030"/>
                </a:solidFill>
              </a:rPr>
              <a:t>/ </a:t>
            </a:r>
            <a:r>
              <a:rPr lang="en" altLang="ja-JP" sz="850">
                <a:solidFill>
                  <a:srgbClr val="303030"/>
                </a:solidFill>
              </a:rPr>
              <a:t>VPN)</a:t>
            </a:r>
            <a:endParaRPr lang="ja-JP" altLang="en-US" sz="850">
              <a:solidFill>
                <a:srgbClr val="303030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EEE626DD-D980-E348-B759-FAEFE0447F7F}"/>
              </a:ext>
            </a:extLst>
          </p:cNvPr>
          <p:cNvSpPr/>
          <p:nvPr/>
        </p:nvSpPr>
        <p:spPr>
          <a:xfrm>
            <a:off x="3524250" y="889000"/>
            <a:ext cx="12700" cy="1549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DE92485-FA71-4E4A-AFB2-5452AA9C7D80}"/>
              </a:ext>
            </a:extLst>
          </p:cNvPr>
          <p:cNvSpPr txBox="1"/>
          <p:nvPr/>
        </p:nvSpPr>
        <p:spPr>
          <a:xfrm>
            <a:off x="2832100" y="711200"/>
            <a:ext cx="13970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C0392B"/>
            </a:solidFill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ja-JP" sz="800" b="1">
                <a:solidFill>
                  <a:srgbClr val="C0392B"/>
                </a:solidFill>
              </a:rPr>
              <a:t>LAN </a:t>
            </a:r>
            <a:r>
              <a:rPr lang="ja-JP" altLang="en-US" sz="800" b="1">
                <a:solidFill>
                  <a:srgbClr val="C0392B"/>
                </a:solidFill>
              </a:rPr>
              <a:t>境界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F2B73964-5F2B-944B-B045-F9FE24822D1A}"/>
              </a:ext>
            </a:extLst>
          </p:cNvPr>
          <p:cNvSpPr txBox="1"/>
          <p:nvPr/>
        </p:nvSpPr>
        <p:spPr>
          <a:xfrm>
            <a:off x="2768600" y="2438400"/>
            <a:ext cx="1524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ja-JP" sz="750" i="1">
                <a:solidFill>
                  <a:srgbClr val="C0392B"/>
                </a:solidFill>
              </a:rPr>
              <a:t>LSL/MQTT (</a:t>
            </a:r>
            <a:r>
              <a:rPr lang="ja-JP" altLang="en-US" sz="750" i="1">
                <a:solidFill>
                  <a:srgbClr val="C0392B"/>
                </a:solidFill>
              </a:rPr>
              <a:t>素の</a:t>
            </a:r>
            <a:r>
              <a:rPr lang="en" altLang="ja-JP" sz="750" i="1">
                <a:solidFill>
                  <a:srgbClr val="C0392B"/>
                </a:solidFill>
              </a:rPr>
              <a:t>LAN)</a:t>
            </a:r>
            <a:endParaRPr lang="ja-JP" altLang="en-US" sz="750" i="1">
              <a:solidFill>
                <a:srgbClr val="C0392B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4D51300E-C195-4649-8CA1-B53D0FBA5BA8}"/>
              </a:ext>
            </a:extLst>
          </p:cNvPr>
          <p:cNvSpPr/>
          <p:nvPr/>
        </p:nvSpPr>
        <p:spPr>
          <a:xfrm>
            <a:off x="8591550" y="889000"/>
            <a:ext cx="12700" cy="1549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861C7B63-6A09-D44A-9A17-CF491697E3E4}"/>
              </a:ext>
            </a:extLst>
          </p:cNvPr>
          <p:cNvSpPr txBox="1"/>
          <p:nvPr/>
        </p:nvSpPr>
        <p:spPr>
          <a:xfrm>
            <a:off x="7899400" y="711200"/>
            <a:ext cx="13970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C0392B"/>
            </a:solidFill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800" b="1">
                <a:solidFill>
                  <a:srgbClr val="C0392B"/>
                </a:solidFill>
              </a:rPr>
              <a:t>判定 → 制御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9F48920B-6D7C-9C45-ACE3-34BDAA63855A}"/>
              </a:ext>
            </a:extLst>
          </p:cNvPr>
          <p:cNvSpPr txBox="1"/>
          <p:nvPr/>
        </p:nvSpPr>
        <p:spPr>
          <a:xfrm>
            <a:off x="7835900" y="2438400"/>
            <a:ext cx="1524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ja-JP" sz="750" i="1">
                <a:solidFill>
                  <a:srgbClr val="C0392B"/>
                </a:solidFill>
              </a:rPr>
              <a:t>HTTP POST</a:t>
            </a:r>
            <a:endParaRPr lang="ja-JP" altLang="en-US" sz="750" i="1">
              <a:solidFill>
                <a:srgbClr val="C0392B"/>
              </a:solidFill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5CCEB20F-2719-7941-840B-37FB5647A854}"/>
              </a:ext>
            </a:extLst>
          </p:cNvPr>
          <p:cNvSpPr/>
          <p:nvPr/>
        </p:nvSpPr>
        <p:spPr>
          <a:xfrm>
            <a:off x="10280650" y="889000"/>
            <a:ext cx="12700" cy="1549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FB0D5BD9-75B7-BF4D-9387-6F5C29CE0FDC}"/>
              </a:ext>
            </a:extLst>
          </p:cNvPr>
          <p:cNvSpPr txBox="1"/>
          <p:nvPr/>
        </p:nvSpPr>
        <p:spPr>
          <a:xfrm>
            <a:off x="9588500" y="711200"/>
            <a:ext cx="13970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C0392B"/>
            </a:solidFill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800" b="1">
                <a:solidFill>
                  <a:srgbClr val="C0392B"/>
                </a:solidFill>
              </a:rPr>
              <a:t>電圧境界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8BB956AC-C292-FB4D-93F7-1FD0319EE99F}"/>
              </a:ext>
            </a:extLst>
          </p:cNvPr>
          <p:cNvSpPr txBox="1"/>
          <p:nvPr/>
        </p:nvSpPr>
        <p:spPr>
          <a:xfrm>
            <a:off x="9525000" y="2438400"/>
            <a:ext cx="1524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ja-JP" sz="750" i="1">
                <a:solidFill>
                  <a:srgbClr val="C0392B"/>
                </a:solidFill>
              </a:rPr>
              <a:t>3.3V ⇄ 5V TTL</a:t>
            </a:r>
            <a:endParaRPr lang="ja-JP" altLang="en-US" sz="750" i="1">
              <a:solidFill>
                <a:srgbClr val="C0392B"/>
              </a:solidFill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59F5C707-C052-9E4B-A816-7086F38B9520}"/>
              </a:ext>
            </a:extLst>
          </p:cNvPr>
          <p:cNvSpPr/>
          <p:nvPr/>
        </p:nvSpPr>
        <p:spPr>
          <a:xfrm>
            <a:off x="1003300" y="704850"/>
            <a:ext cx="10121900" cy="127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B3BF6DE1-4989-A249-A590-24E7D4DCB7EB}"/>
              </a:ext>
            </a:extLst>
          </p:cNvPr>
          <p:cNvSpPr/>
          <p:nvPr/>
        </p:nvSpPr>
        <p:spPr>
          <a:xfrm>
            <a:off x="11118850" y="711200"/>
            <a:ext cx="12700" cy="279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4" name="下矢印 93">
            <a:extLst>
              <a:ext uri="{FF2B5EF4-FFF2-40B4-BE49-F238E27FC236}">
                <a16:creationId xmlns:a16="http://schemas.microsoft.com/office/drawing/2014/main" id="{C2A8B117-3BB5-F144-9A20-E88D66CAB738}"/>
              </a:ext>
            </a:extLst>
          </p:cNvPr>
          <p:cNvSpPr/>
          <p:nvPr/>
        </p:nvSpPr>
        <p:spPr>
          <a:xfrm>
            <a:off x="939800" y="711200"/>
            <a:ext cx="127000" cy="279400"/>
          </a:xfrm>
          <a:prstGeom prst="down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2E523765-A52A-6145-AA79-D4344E4588FF}"/>
              </a:ext>
            </a:extLst>
          </p:cNvPr>
          <p:cNvSpPr txBox="1"/>
          <p:nvPr/>
        </p:nvSpPr>
        <p:spPr>
          <a:xfrm>
            <a:off x="6858000" y="571500"/>
            <a:ext cx="4318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sz="900" b="1" i="1">
                <a:solidFill>
                  <a:srgbClr val="E97132"/>
                </a:solidFill>
              </a:rPr>
              <a:t>⟲ 閉ループ</a:t>
            </a:r>
            <a:r>
              <a:rPr lang="en-US" altLang="ja-JP" sz="900" b="1" i="1">
                <a:solidFill>
                  <a:srgbClr val="E97132"/>
                </a:solidFill>
              </a:rPr>
              <a:t>: </a:t>
            </a:r>
            <a:r>
              <a:rPr lang="en" altLang="ja-JP" sz="900" b="1" i="1">
                <a:solidFill>
                  <a:srgbClr val="E97132"/>
                </a:solidFill>
              </a:rPr>
              <a:t>Roomba </a:t>
            </a:r>
            <a:r>
              <a:rPr lang="ja-JP" altLang="en-US" sz="900" b="1" i="1">
                <a:solidFill>
                  <a:srgbClr val="E97132"/>
                </a:solidFill>
              </a:rPr>
              <a:t>走行 → 開眼 → </a:t>
            </a:r>
            <a:r>
              <a:rPr lang="el-GR" altLang="ja-JP" sz="900" b="1" i="1">
                <a:solidFill>
                  <a:srgbClr val="E97132"/>
                </a:solidFill>
              </a:rPr>
              <a:t>α </a:t>
            </a:r>
            <a:r>
              <a:rPr lang="ja-JP" altLang="en-US" sz="900" b="1" i="1">
                <a:solidFill>
                  <a:srgbClr val="E97132"/>
                </a:solidFill>
              </a:rPr>
              <a:t>減衰 </a:t>
            </a:r>
            <a:r>
              <a:rPr lang="en-US" altLang="ja-JP" sz="900" b="1" i="1">
                <a:solidFill>
                  <a:srgbClr val="E97132"/>
                </a:solidFill>
              </a:rPr>
              <a:t>(</a:t>
            </a:r>
            <a:r>
              <a:rPr lang="en" altLang="ja-JP" sz="900" b="1" i="1">
                <a:solidFill>
                  <a:srgbClr val="E97132"/>
                </a:solidFill>
              </a:rPr>
              <a:t>Berger</a:t>
            </a:r>
            <a:r>
              <a:rPr lang="ja-JP" altLang="en-US" sz="900" b="1" i="1">
                <a:solidFill>
                  <a:srgbClr val="E97132"/>
                </a:solidFill>
              </a:rPr>
              <a:t>効果</a:t>
            </a:r>
            <a:r>
              <a:rPr lang="en-US" altLang="ja-JP" sz="900" b="1" i="1">
                <a:solidFill>
                  <a:srgbClr val="E97132"/>
                </a:solidFill>
              </a:rPr>
              <a:t>)</a:t>
            </a:r>
            <a:endParaRPr lang="ja-JP" altLang="en-US" sz="900" b="1" i="1">
              <a:solidFill>
                <a:srgbClr val="E97132"/>
              </a:solidFill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E4384E33-B992-C046-80DA-38299E229B97}"/>
              </a:ext>
            </a:extLst>
          </p:cNvPr>
          <p:cNvSpPr/>
          <p:nvPr/>
        </p:nvSpPr>
        <p:spPr>
          <a:xfrm>
            <a:off x="5842000" y="3835400"/>
            <a:ext cx="6096000" cy="177800"/>
          </a:xfrm>
          <a:prstGeom prst="rect">
            <a:avLst/>
          </a:prstGeom>
          <a:solidFill>
            <a:srgbClr val="EDEDED"/>
          </a:solidFill>
          <a:ln w="6350" cap="flat" cmpd="sng" algn="ctr">
            <a:solidFill>
              <a:srgbClr val="5555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800" i="1">
                <a:solidFill>
                  <a:srgbClr val="555555"/>
                </a:solidFill>
              </a:rPr>
              <a:t>↑↓ 全コンテナは </a:t>
            </a:r>
            <a:r>
              <a:rPr lang="en" altLang="ja-JP" sz="800" i="1">
                <a:solidFill>
                  <a:srgbClr val="555555"/>
                </a:solidFill>
              </a:rPr>
              <a:t>Mosquitto (MQTT) </a:t>
            </a:r>
            <a:r>
              <a:rPr lang="ja-JP" altLang="en-US" sz="800" i="1">
                <a:solidFill>
                  <a:srgbClr val="555555"/>
                </a:solidFill>
              </a:rPr>
              <a:t>と </a:t>
            </a:r>
            <a:r>
              <a:rPr lang="en" altLang="ja-JP" sz="800" i="1">
                <a:solidFill>
                  <a:srgbClr val="555555"/>
                </a:solidFill>
              </a:rPr>
              <a:t>TimescaleDB </a:t>
            </a:r>
            <a:r>
              <a:rPr lang="ja-JP" altLang="en-US" sz="800" i="1">
                <a:solidFill>
                  <a:srgbClr val="555555"/>
                </a:solidFill>
              </a:rPr>
              <a:t>を共有バスとして利用</a:t>
            </a:r>
          </a:p>
        </p:txBody>
      </p:sp>
      <p:sp>
        <p:nvSpPr>
          <p:cNvPr id="98" name="上矢印 97">
            <a:extLst>
              <a:ext uri="{FF2B5EF4-FFF2-40B4-BE49-F238E27FC236}">
                <a16:creationId xmlns:a16="http://schemas.microsoft.com/office/drawing/2014/main" id="{E72F27D7-3374-CF47-86C8-DC419BDCE309}"/>
              </a:ext>
            </a:extLst>
          </p:cNvPr>
          <p:cNvSpPr/>
          <p:nvPr/>
        </p:nvSpPr>
        <p:spPr>
          <a:xfrm>
            <a:off x="4318000" y="3810000"/>
            <a:ext cx="101600" cy="228600"/>
          </a:xfrm>
          <a:prstGeom prst="upArrow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9" name="上矢印 98">
            <a:extLst>
              <a:ext uri="{FF2B5EF4-FFF2-40B4-BE49-F238E27FC236}">
                <a16:creationId xmlns:a16="http://schemas.microsoft.com/office/drawing/2014/main" id="{E4EB0488-1AD6-4A4B-ABCC-6B97C7710227}"/>
              </a:ext>
            </a:extLst>
          </p:cNvPr>
          <p:cNvSpPr/>
          <p:nvPr/>
        </p:nvSpPr>
        <p:spPr>
          <a:xfrm>
            <a:off x="4318000" y="2387600"/>
            <a:ext cx="101600" cy="279400"/>
          </a:xfrm>
          <a:prstGeom prst="upArrow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0" name="上矢印 99">
            <a:extLst>
              <a:ext uri="{FF2B5EF4-FFF2-40B4-BE49-F238E27FC236}">
                <a16:creationId xmlns:a16="http://schemas.microsoft.com/office/drawing/2014/main" id="{A5A8CA70-C594-3D42-AB9D-3DAF62A8F661}"/>
              </a:ext>
            </a:extLst>
          </p:cNvPr>
          <p:cNvSpPr/>
          <p:nvPr/>
        </p:nvSpPr>
        <p:spPr>
          <a:xfrm>
            <a:off x="1600200" y="3810000"/>
            <a:ext cx="101600" cy="228600"/>
          </a:xfrm>
          <a:prstGeom prst="upArrow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1" name="上矢印 100">
            <a:extLst>
              <a:ext uri="{FF2B5EF4-FFF2-40B4-BE49-F238E27FC236}">
                <a16:creationId xmlns:a16="http://schemas.microsoft.com/office/drawing/2014/main" id="{E094D298-681D-2F43-B8AE-536194A0A3F7}"/>
              </a:ext>
            </a:extLst>
          </p:cNvPr>
          <p:cNvSpPr/>
          <p:nvPr/>
        </p:nvSpPr>
        <p:spPr>
          <a:xfrm>
            <a:off x="1600200" y="2387600"/>
            <a:ext cx="101600" cy="279400"/>
          </a:xfrm>
          <a:prstGeom prst="upArrow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56139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925C8-DA5F-7500-F931-C39B319B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本日の流れ </a:t>
            </a:r>
            <a:r>
              <a:rPr kumimoji="1" lang="en-US" altLang="ja-JP"/>
              <a:t>— </a:t>
            </a:r>
            <a:r>
              <a:rPr kumimoji="1" lang="ja-JP" altLang="en-US"/>
              <a:t>データの旅を</a:t>
            </a:r>
            <a:r>
              <a:rPr kumimoji="1" lang="en-US" altLang="ja-JP"/>
              <a:t>6</a:t>
            </a:r>
            <a:r>
              <a:rPr kumimoji="1" lang="ja-JP" altLang="en-US"/>
              <a:t>ブロックで</a:t>
            </a:r>
          </a:p>
        </p:txBody>
      </p:sp>
      <p:sp>
        <p:nvSpPr>
          <p:cNvPr id="1000" name="Chevron1"/>
          <p:cNvSpPr/>
          <p:nvPr/>
        </p:nvSpPr>
        <p:spPr>
          <a:xfrm>
            <a:off x="508000" y="2540000"/>
            <a:ext cx="1778000" cy="1206500"/>
          </a:xfrm>
          <a:prstGeom prst="homePlate">
            <a:avLst/>
          </a:prstGeom>
          <a:solidFill>
            <a:srgbClr val="1F4E7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① 生成</a:t>
            </a:r>
          </a:p>
          <a:p>
            <a:pPr algn="ctr">
              <a:buNone/>
            </a:pPr>
            <a:r>
              <a:rPr lang="ja-JP" sz="1400" dirty="0">
                <a:solidFill>
                  <a:srgbClr val="FFFFFF"/>
                </a:solidFill>
              </a:rPr>
              <a:t>センサ/デバイス</a:t>
            </a:r>
          </a:p>
        </p:txBody>
      </p:sp>
      <p:sp>
        <p:nvSpPr>
          <p:cNvPr id="1001" name="Chevron2"/>
          <p:cNvSpPr/>
          <p:nvPr/>
        </p:nvSpPr>
        <p:spPr>
          <a:xfrm>
            <a:off x="2387600" y="2540000"/>
            <a:ext cx="1778000" cy="1206500"/>
          </a:xfrm>
          <a:prstGeom prst="homePlate">
            <a:avLst/>
          </a:prstGeom>
          <a:solidFill>
            <a:srgbClr val="1F4E7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② 転送</a:t>
            </a:r>
          </a:p>
          <a:p>
            <a:pPr algn="ctr">
              <a:buNone/>
            </a:pPr>
            <a:r>
              <a:rPr lang="ja-JP" sz="1400" dirty="0">
                <a:solidFill>
                  <a:srgbClr val="FFFFFF"/>
                </a:solidFill>
              </a:rPr>
              <a:t>MQTT</a:t>
            </a:r>
          </a:p>
        </p:txBody>
      </p:sp>
      <p:sp>
        <p:nvSpPr>
          <p:cNvPr id="1002" name="Chevron3"/>
          <p:cNvSpPr/>
          <p:nvPr/>
        </p:nvSpPr>
        <p:spPr>
          <a:xfrm>
            <a:off x="4267200" y="2540000"/>
            <a:ext cx="1778000" cy="1206500"/>
          </a:xfrm>
          <a:prstGeom prst="homePlate">
            <a:avLst/>
          </a:prstGeom>
          <a:solidFill>
            <a:srgbClr val="1F4E7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③ 加工</a:t>
            </a:r>
          </a:p>
          <a:p>
            <a:pPr algn="ctr">
              <a:buNone/>
            </a:pPr>
            <a:r>
              <a:rPr lang="ja-JP" sz="1400" dirty="0">
                <a:solidFill>
                  <a:srgbClr val="FFFFFF"/>
                </a:solidFill>
              </a:rPr>
              <a:t>LSL / 前処理</a:t>
            </a:r>
          </a:p>
        </p:txBody>
      </p:sp>
      <p:sp>
        <p:nvSpPr>
          <p:cNvPr id="1003" name="Chevron4"/>
          <p:cNvSpPr/>
          <p:nvPr/>
        </p:nvSpPr>
        <p:spPr>
          <a:xfrm>
            <a:off x="6146800" y="2540000"/>
            <a:ext cx="1778000" cy="1206500"/>
          </a:xfrm>
          <a:prstGeom prst="homePlate">
            <a:avLst/>
          </a:prstGeom>
          <a:solidFill>
            <a:srgbClr val="E07B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④ 蓄積</a:t>
            </a:r>
          </a:p>
          <a:p>
            <a:pPr algn="ctr">
              <a:buNone/>
            </a:pPr>
            <a:r>
              <a:rPr lang="ja-JP" sz="1400" dirty="0">
                <a:solidFill>
                  <a:srgbClr val="FFFFFF"/>
                </a:solidFill>
              </a:rPr>
              <a:t>保存設計 (山場)</a:t>
            </a:r>
          </a:p>
        </p:txBody>
      </p:sp>
      <p:sp>
        <p:nvSpPr>
          <p:cNvPr id="1004" name="Chevron5"/>
          <p:cNvSpPr/>
          <p:nvPr/>
        </p:nvSpPr>
        <p:spPr>
          <a:xfrm>
            <a:off x="8026400" y="2540000"/>
            <a:ext cx="1778000" cy="1206500"/>
          </a:xfrm>
          <a:prstGeom prst="homePlate">
            <a:avLst/>
          </a:prstGeom>
          <a:solidFill>
            <a:srgbClr val="1F4E7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⑤ 判断</a:t>
            </a:r>
          </a:p>
          <a:p>
            <a:pPr algn="ctr">
              <a:buNone/>
            </a:pPr>
            <a:r>
              <a:rPr lang="ja-JP" sz="1400" dirty="0">
                <a:solidFill>
                  <a:srgbClr val="FFFFFF"/>
                </a:solidFill>
              </a:rPr>
              <a:t>autopilot</a:t>
            </a:r>
          </a:p>
        </p:txBody>
      </p:sp>
      <p:sp>
        <p:nvSpPr>
          <p:cNvPr id="1005" name="Chevron6"/>
          <p:cNvSpPr/>
          <p:nvPr/>
        </p:nvSpPr>
        <p:spPr>
          <a:xfrm>
            <a:off x="9906000" y="2540000"/>
            <a:ext cx="1778000" cy="1206500"/>
          </a:xfrm>
          <a:prstGeom prst="homePlate">
            <a:avLst/>
          </a:prstGeom>
          <a:solidFill>
            <a:srgbClr val="1F4E7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⑥ 配信</a:t>
            </a:r>
          </a:p>
          <a:p>
            <a:pPr algn="ctr">
              <a:buNone/>
            </a:pPr>
            <a:r>
              <a:rPr lang="ja-JP" sz="1400" dirty="0">
                <a:solidFill>
                  <a:srgbClr val="FFFFFF"/>
                </a:solidFill>
              </a:rPr>
              <a:t>ロボット制御</a:t>
            </a:r>
          </a:p>
        </p:txBody>
      </p:sp>
      <p:sp>
        <p:nvSpPr>
          <p:cNvPr id="1100" name="Note"/>
          <p:cNvSpPr txBox="1"/>
          <p:nvPr/>
        </p:nvSpPr>
        <p:spPr>
          <a:xfrm>
            <a:off x="838200" y="4572000"/>
            <a:ext cx="105156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1600" dirty="0">
                <a:solidFill>
                  <a:srgbClr val="4B5563"/>
                </a:solidFill>
              </a:rPr>
              <a:t>ハードウェア順ではなく、データエンジニアに馴染みのある「データの流れ」軸で整理します</a:t>
            </a:r>
          </a:p>
          <a:p>
            <a:pPr algn="ctr">
              <a:buNone/>
            </a:pPr>
            <a:r>
              <a:rPr lang="ja-JP" sz="1400" i="1" dirty="0">
                <a:solidFill>
                  <a:srgbClr val="E07B00"/>
                </a:solidFill>
              </a:rPr>
              <a:t>※ ④ 蓄積を独立した山場として扱います</a:t>
            </a:r>
          </a:p>
        </p:txBody>
      </p:sp>
    </p:spTree>
    <p:extLst>
      <p:ext uri="{BB962C8B-B14F-4D97-AF65-F5344CB8AC3E}">
        <p14:creationId xmlns:p14="http://schemas.microsoft.com/office/powerpoint/2010/main" val="2506353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2DBAE-9480-D3EA-3D9E-0EC6D7AEE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3200" b="1" dirty="0"/>
              <a:t>① 何を作ったか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36F349-F89F-4D87-1A0C-00B75D136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sz="2400" b="1" dirty="0">
                <a:solidFill>
                  <a:srgbClr val="1F4E79"/>
                </a:solidFill>
              </a:rPr>
              <a:t>脳波(EEG)でロボット掃除機を動かすシステム</a:t>
            </a:r>
          </a:p>
          <a:p>
            <a:pPr marL="0" indent="0">
              <a:buNone/>
            </a:pPr>
            <a:r>
              <a:rPr lang="ja-JP" sz="1400" dirty="0">
                <a:solidFill>
                  <a:srgbClr val="6B7280"/>
                </a:solidFill>
              </a:rPr>
              <a:t> 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頭に付けたセンサで脳波を取り、Roomba を動かす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センサ → 推論 → 制御コマンドが</a:t>
            </a:r>
            <a:r>
              <a:rPr lang="ja-JP" sz="1800" b="1" dirty="0">
                <a:solidFill>
                  <a:srgbClr val="E07B00"/>
                </a:solidFill>
              </a:rPr>
              <a:t>1秒以内</a:t>
            </a:r>
            <a:r>
              <a:rPr lang="ja-JP" sz="1800" dirty="0"/>
              <a:t>で1周する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複数台のマシンを跨いだ「リアルタイム・データパイプライン」</a:t>
            </a:r>
          </a:p>
          <a:p>
            <a:pPr marL="0" indent="0">
              <a:buNone/>
            </a:pPr>
            <a:r>
              <a:rPr lang="ja-JP" sz="1400" dirty="0">
                <a:solidFill>
                  <a:srgbClr val="6B7280"/>
                </a:solidFill>
              </a:rPr>
              <a:t> </a:t>
            </a:r>
          </a:p>
          <a:p>
            <a:pPr marL="0" indent="0">
              <a:buNone/>
            </a:pPr>
            <a:r>
              <a:rPr lang="ja-JP" sz="1600" i="1" dirty="0">
                <a:solidFill>
                  <a:srgbClr val="4B5563"/>
                </a:solidFill>
              </a:rPr>
              <a:t>本日は「ロボットを動かす話」ではなく、その裏側の </a:t>
            </a:r>
            <a:r>
              <a:rPr lang="ja-JP" sz="1600" b="1" i="1" dirty="0">
                <a:solidFill>
                  <a:srgbClr val="1F4E79"/>
                </a:solidFill>
              </a:rPr>
              <a:t>データ基盤の設計</a:t>
            </a:r>
            <a:r>
              <a:rPr lang="ja-JP" sz="1600" i="1" dirty="0">
                <a:solidFill>
                  <a:srgbClr val="4B5563"/>
                </a:solidFill>
              </a:rPr>
              <a:t> の話をします。</a:t>
            </a:r>
          </a:p>
        </p:txBody>
      </p:sp>
    </p:spTree>
    <p:extLst>
      <p:ext uri="{BB962C8B-B14F-4D97-AF65-F5344CB8AC3E}">
        <p14:creationId xmlns:p14="http://schemas.microsoft.com/office/powerpoint/2010/main" val="1552346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5C2424-21B9-C5C8-A608-84311AE9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sz="2800" b="1" dirty="0"/>
              <a:t>①全体像 — 普段見ているシステム図(カオス版)</a:t>
            </a:r>
          </a:p>
        </p:txBody>
      </p:sp>
      <p:sp>
        <p:nvSpPr>
          <p:cNvPr id="9000" name="Lane1BG"/>
          <p:cNvSpPr/>
          <p:nvPr/>
        </p:nvSpPr>
        <p:spPr>
          <a:xfrm>
            <a:off x="285750" y="1428750"/>
            <a:ext cx="2667000" cy="3429000"/>
          </a:xfrm>
          <a:prstGeom prst="rect">
            <a:avLst/>
          </a:prstGeom>
          <a:solidFill>
            <a:srgbClr val="FAFBFC"/>
          </a:solidFill>
          <a:ln w="6350">
            <a:solidFill>
              <a:srgbClr val="D5DA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01" name="Lane2BG"/>
          <p:cNvSpPr/>
          <p:nvPr/>
        </p:nvSpPr>
        <p:spPr>
          <a:xfrm>
            <a:off x="3048000" y="1428750"/>
            <a:ext cx="2762250" cy="3429000"/>
          </a:xfrm>
          <a:prstGeom prst="rect">
            <a:avLst/>
          </a:prstGeom>
          <a:solidFill>
            <a:srgbClr val="FAFBFC"/>
          </a:solidFill>
          <a:ln w="6350">
            <a:solidFill>
              <a:srgbClr val="D5DA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02" name="Lane3BG"/>
          <p:cNvSpPr/>
          <p:nvPr/>
        </p:nvSpPr>
        <p:spPr>
          <a:xfrm>
            <a:off x="5905500" y="1428750"/>
            <a:ext cx="2952750" cy="3429000"/>
          </a:xfrm>
          <a:prstGeom prst="rect">
            <a:avLst/>
          </a:prstGeom>
          <a:solidFill>
            <a:srgbClr val="FAFBFC"/>
          </a:solidFill>
          <a:ln w="6350">
            <a:solidFill>
              <a:srgbClr val="D5DA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03" name="Lane1Hdr"/>
          <p:cNvSpPr/>
          <p:nvPr/>
        </p:nvSpPr>
        <p:spPr>
          <a:xfrm>
            <a:off x="285750" y="1428750"/>
            <a:ext cx="2667000" cy="2095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</a:rPr>
              <a:t>脳波計測 PC (Win)</a:t>
            </a:r>
          </a:p>
        </p:txBody>
      </p:sp>
      <p:sp>
        <p:nvSpPr>
          <p:cNvPr id="9004" name="Lane2Hdr"/>
          <p:cNvSpPr/>
          <p:nvPr/>
        </p:nvSpPr>
        <p:spPr>
          <a:xfrm>
            <a:off x="3048000" y="1428750"/>
            <a:ext cx="2762250" cy="2095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</a:rPr>
              <a:t>推論 PC (Linux)</a:t>
            </a:r>
          </a:p>
        </p:txBody>
      </p:sp>
      <p:sp>
        <p:nvSpPr>
          <p:cNvPr id="9005" name="Lane3Hdr"/>
          <p:cNvSpPr/>
          <p:nvPr/>
        </p:nvSpPr>
        <p:spPr>
          <a:xfrm>
            <a:off x="5905500" y="1428750"/>
            <a:ext cx="2952750" cy="2095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000" b="1" dirty="0">
                <a:solidFill>
                  <a:srgbClr val="FFFFFF"/>
                </a:solidFill>
              </a:rPr>
              <a:t>ロボット側 (Roomba + Arduino + Pi-B)</a:t>
            </a:r>
          </a:p>
        </p:txBody>
      </p:sp>
      <p:sp>
        <p:nvSpPr>
          <p:cNvPr id="9006" name="Headset"/>
          <p:cNvSpPr/>
          <p:nvPr/>
        </p:nvSpPr>
        <p:spPr>
          <a:xfrm>
            <a:off x="476250" y="1790700"/>
            <a:ext cx="571500" cy="361950"/>
          </a:xfrm>
          <a:prstGeom prst="ellipse">
            <a:avLst/>
          </a:prstGeom>
          <a:solidFill>
            <a:srgbClr val="E07B00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>
              <a:buNone/>
            </a:pPr>
            <a:r>
              <a:rPr lang="ja-JP" sz="1400" b="1" dirty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9007" name="HeadsetLbl"/>
          <p:cNvSpPr txBox="1"/>
          <p:nvPr/>
        </p:nvSpPr>
        <p:spPr>
          <a:xfrm>
            <a:off x="361950" y="2190750"/>
            <a:ext cx="85725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800" b="1" dirty="0">
                <a:solidFill>
                  <a:srgbClr val="1A1A1A"/>
                </a:solidFill>
              </a:rPr>
              <a:t>EEG ヘッドセット</a:t>
            </a:r>
          </a:p>
        </p:txBody>
      </p:sp>
      <p:sp>
        <p:nvSpPr>
          <p:cNvPr id="9008" name="HeadsetSpec"/>
          <p:cNvSpPr txBox="1"/>
          <p:nvPr/>
        </p:nvSpPr>
        <p:spPr>
          <a:xfrm>
            <a:off x="361950" y="2324100"/>
            <a:ext cx="85725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8ch / 250Hz</a:t>
            </a:r>
          </a:p>
        </p:txBody>
      </p:sp>
      <p:sp>
        <p:nvSpPr>
          <p:cNvPr id="9009" name="SDK"/>
          <p:cNvSpPr/>
          <p:nvPr/>
        </p:nvSpPr>
        <p:spPr>
          <a:xfrm>
            <a:off x="1238250" y="1828800"/>
            <a:ext cx="762000" cy="34290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6350">
            <a:solidFill>
              <a:srgbClr val="1F4E7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1F4E79"/>
                </a:solidFill>
              </a:rPr>
              <a:t>ベンダー SDK</a:t>
            </a:r>
          </a:p>
        </p:txBody>
      </p:sp>
      <p:sp>
        <p:nvSpPr>
          <p:cNvPr id="9010" name="SDKDet"/>
          <p:cNvSpPr txBox="1"/>
          <p:nvPr/>
        </p:nvSpPr>
        <p:spPr>
          <a:xfrm>
            <a:off x="1238250" y="2190750"/>
            <a:ext cx="7620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(C++, USB)</a:t>
            </a:r>
          </a:p>
        </p:txBody>
      </p:sp>
      <p:sp>
        <p:nvSpPr>
          <p:cNvPr id="9011" name="Acq"/>
          <p:cNvSpPr/>
          <p:nvPr/>
        </p:nvSpPr>
        <p:spPr>
          <a:xfrm>
            <a:off x="2133600" y="1828800"/>
            <a:ext cx="723900" cy="34290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取得デーモン</a:t>
            </a:r>
          </a:p>
        </p:txBody>
      </p:sp>
      <p:sp>
        <p:nvSpPr>
          <p:cNvPr id="9012" name="AcqDet"/>
          <p:cNvSpPr txBox="1"/>
          <p:nvPr/>
        </p:nvSpPr>
        <p:spPr>
          <a:xfrm>
            <a:off x="2133600" y="2190750"/>
            <a:ext cx="7239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Python</a:t>
            </a:r>
          </a:p>
        </p:txBody>
      </p:sp>
      <p:sp>
        <p:nvSpPr>
          <p:cNvPr id="9013" name="LSL1"/>
          <p:cNvSpPr/>
          <p:nvPr/>
        </p:nvSpPr>
        <p:spPr>
          <a:xfrm>
            <a:off x="1238250" y="2552700"/>
            <a:ext cx="762000" cy="285750"/>
          </a:xfrm>
          <a:prstGeom prst="roundRect">
            <a:avLst>
              <a:gd name="adj" fmla="val 15000"/>
            </a:avLst>
          </a:prstGeom>
          <a:solidFill>
            <a:srgbClr val="E07B00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LSL outlet</a:t>
            </a:r>
          </a:p>
        </p:txBody>
      </p:sp>
      <p:sp>
        <p:nvSpPr>
          <p:cNvPr id="9014" name="LSL1Det"/>
          <p:cNvSpPr txBox="1"/>
          <p:nvPr/>
        </p:nvSpPr>
        <p:spPr>
          <a:xfrm>
            <a:off x="1238250" y="2857500"/>
            <a:ext cx="7620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EEG stream</a:t>
            </a:r>
          </a:p>
        </p:txBody>
      </p:sp>
      <p:sp>
        <p:nvSpPr>
          <p:cNvPr id="9015" name="MQTTpub1"/>
          <p:cNvSpPr/>
          <p:nvPr/>
        </p:nvSpPr>
        <p:spPr>
          <a:xfrm>
            <a:off x="2133600" y="2552700"/>
            <a:ext cx="723900" cy="285750"/>
          </a:xfrm>
          <a:prstGeom prst="roundRect">
            <a:avLst>
              <a:gd name="adj" fmla="val 15000"/>
            </a:avLst>
          </a:prstGeom>
          <a:solidFill>
            <a:srgbClr val="4A7BA6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MQTT pub</a:t>
            </a:r>
          </a:p>
        </p:txBody>
      </p:sp>
      <p:sp>
        <p:nvSpPr>
          <p:cNvPr id="9016" name="MQTTpub1Det"/>
          <p:cNvSpPr txBox="1"/>
          <p:nvPr/>
        </p:nvSpPr>
        <p:spPr>
          <a:xfrm>
            <a:off x="2133600" y="2857500"/>
            <a:ext cx="7239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device/status</a:t>
            </a:r>
          </a:p>
        </p:txBody>
      </p:sp>
      <p:sp>
        <p:nvSpPr>
          <p:cNvPr id="9017" name="XDF"/>
          <p:cNvSpPr/>
          <p:nvPr/>
        </p:nvSpPr>
        <p:spPr>
          <a:xfrm>
            <a:off x="476250" y="2571750"/>
            <a:ext cx="571500" cy="342900"/>
          </a:xfrm>
          <a:prstGeom prst="can">
            <a:avLst/>
          </a:prstGeom>
          <a:solidFill>
            <a:srgbClr val="3E8E3E"/>
          </a:solidFill>
          <a:ln>
            <a:solidFill>
              <a:srgbClr val="3E8E3E"/>
            </a:solidFill>
          </a:ln>
        </p:spPr>
        <p:txBody>
          <a:bodyPr wrap="square" lIns="18000" tIns="9000" rIns="18000" bIns="9000" anchor="ctr"/>
          <a:lstStyle/>
          <a:p>
            <a:pPr algn="ctr">
              <a:buNone/>
            </a:pPr>
            <a:r>
              <a:rPr lang="ja-JP" sz="700" b="1" dirty="0">
                <a:solidFill>
                  <a:srgbClr val="FFFFFF"/>
                </a:solidFill>
              </a:rPr>
              <a:t>.xdf 録画</a:t>
            </a:r>
          </a:p>
        </p:txBody>
      </p:sp>
      <p:sp>
        <p:nvSpPr>
          <p:cNvPr id="9018" name="XDFDet"/>
          <p:cNvSpPr txBox="1"/>
          <p:nvPr/>
        </p:nvSpPr>
        <p:spPr>
          <a:xfrm>
            <a:off x="361950" y="2971800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ローカル保管</a:t>
            </a:r>
          </a:p>
        </p:txBody>
      </p:sp>
      <p:cxnSp>
        <p:nvCxnSpPr>
          <p:cNvPr id="9019" name="a1"/>
          <p:cNvCxnSpPr/>
          <p:nvPr/>
        </p:nvCxnSpPr>
        <p:spPr>
          <a:xfrm>
            <a:off x="1047750" y="1971675"/>
            <a:ext cx="190500" cy="9525"/>
          </a:xfrm>
          <a:prstGeom prst="straightConnector1">
            <a:avLst/>
          </a:prstGeom>
          <a:ln w="12700">
            <a:solidFill>
              <a:srgbClr val="1F4E79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0" name="a2"/>
          <p:cNvCxnSpPr/>
          <p:nvPr/>
        </p:nvCxnSpPr>
        <p:spPr>
          <a:xfrm>
            <a:off x="2000250" y="1971675"/>
            <a:ext cx="114300" cy="9525"/>
          </a:xfrm>
          <a:prstGeom prst="straightConnector1">
            <a:avLst/>
          </a:prstGeom>
          <a:ln w="12700">
            <a:solidFill>
              <a:srgbClr val="1F4E79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1" name="a3"/>
          <p:cNvCxnSpPr/>
          <p:nvPr/>
        </p:nvCxnSpPr>
        <p:spPr>
          <a:xfrm>
            <a:off x="2495550" y="2171700"/>
            <a:ext cx="9525" cy="381000"/>
          </a:xfrm>
          <a:prstGeom prst="straightConnector1">
            <a:avLst/>
          </a:prstGeom>
          <a:ln w="12700">
            <a:solidFill>
              <a:srgbClr val="1F4E79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2" name="a4"/>
          <p:cNvCxnSpPr/>
          <p:nvPr/>
        </p:nvCxnSpPr>
        <p:spPr>
          <a:xfrm>
            <a:off x="1619250" y="2171700"/>
            <a:ext cx="9525" cy="381000"/>
          </a:xfrm>
          <a:prstGeom prst="straightConnector1">
            <a:avLst/>
          </a:prstGeom>
          <a:ln w="12700">
            <a:solidFill>
              <a:srgbClr val="E07B00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3" name="a5"/>
          <p:cNvCxnSpPr/>
          <p:nvPr/>
        </p:nvCxnSpPr>
        <p:spPr>
          <a:xfrm flipH="1">
            <a:off x="1047750" y="2095500"/>
            <a:ext cx="190500" cy="590550"/>
          </a:xfrm>
          <a:prstGeom prst="straightConnector1">
            <a:avLst/>
          </a:prstGeom>
          <a:ln w="9525">
            <a:solidFill>
              <a:srgbClr val="3E8E3E"/>
            </a:solidFill>
            <a:prstDash val="dash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24" name="Lane1Note"/>
          <p:cNvSpPr txBox="1"/>
          <p:nvPr/>
        </p:nvSpPr>
        <p:spPr>
          <a:xfrm>
            <a:off x="361950" y="3048000"/>
            <a:ext cx="2571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700" i="1" dirty="0">
                <a:solidFill>
                  <a:srgbClr val="6B7280"/>
                </a:solidFill>
              </a:rPr>
              <a:t>※ 取得デーモンは 8ch を 4ms ごとに pull → LSL は同一マシン内、MQTT は他マシンへ</a:t>
            </a:r>
          </a:p>
        </p:txBody>
      </p:sp>
      <p:sp>
        <p:nvSpPr>
          <p:cNvPr id="9025" name="LSLin"/>
          <p:cNvSpPr/>
          <p:nvPr/>
        </p:nvSpPr>
        <p:spPr>
          <a:xfrm>
            <a:off x="3162300" y="1828800"/>
            <a:ext cx="800100" cy="342900"/>
          </a:xfrm>
          <a:prstGeom prst="roundRect">
            <a:avLst>
              <a:gd name="adj" fmla="val 15000"/>
            </a:avLst>
          </a:prstGeom>
          <a:solidFill>
            <a:srgbClr val="E07B00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LSL inlet</a:t>
            </a:r>
          </a:p>
        </p:txBody>
      </p:sp>
      <p:sp>
        <p:nvSpPr>
          <p:cNvPr id="9026" name="LSLinDet"/>
          <p:cNvSpPr txBox="1"/>
          <p:nvPr/>
        </p:nvSpPr>
        <p:spPr>
          <a:xfrm>
            <a:off x="3162300" y="2190750"/>
            <a:ext cx="8001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pylsl</a:t>
            </a:r>
          </a:p>
        </p:txBody>
      </p:sp>
      <p:sp>
        <p:nvSpPr>
          <p:cNvPr id="9027" name="MQTTsub"/>
          <p:cNvSpPr/>
          <p:nvPr/>
        </p:nvSpPr>
        <p:spPr>
          <a:xfrm>
            <a:off x="4057650" y="1828800"/>
            <a:ext cx="819150" cy="342900"/>
          </a:xfrm>
          <a:prstGeom prst="roundRect">
            <a:avLst>
              <a:gd name="adj" fmla="val 15000"/>
            </a:avLst>
          </a:prstGeom>
          <a:solidFill>
            <a:srgbClr val="4A7BA6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MQTT sub</a:t>
            </a:r>
          </a:p>
        </p:txBody>
      </p:sp>
      <p:sp>
        <p:nvSpPr>
          <p:cNvPr id="9028" name="MQTTsubDet"/>
          <p:cNvSpPr txBox="1"/>
          <p:nvPr/>
        </p:nvSpPr>
        <p:spPr>
          <a:xfrm>
            <a:off x="4057650" y="2190750"/>
            <a:ext cx="8191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device/status</a:t>
            </a:r>
          </a:p>
        </p:txBody>
      </p:sp>
      <p:sp>
        <p:nvSpPr>
          <p:cNvPr id="9029" name="Prep"/>
          <p:cNvSpPr/>
          <p:nvPr/>
        </p:nvSpPr>
        <p:spPr>
          <a:xfrm>
            <a:off x="4972050" y="1828800"/>
            <a:ext cx="762000" cy="34290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前処理</a:t>
            </a:r>
          </a:p>
        </p:txBody>
      </p:sp>
      <p:sp>
        <p:nvSpPr>
          <p:cNvPr id="9030" name="PrepDet"/>
          <p:cNvSpPr txBox="1"/>
          <p:nvPr/>
        </p:nvSpPr>
        <p:spPr>
          <a:xfrm>
            <a:off x="4972050" y="2190750"/>
            <a:ext cx="7620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BPF / 窓化</a:t>
            </a:r>
          </a:p>
        </p:txBody>
      </p:sp>
      <p:sp>
        <p:nvSpPr>
          <p:cNvPr id="9031" name="Feat"/>
          <p:cNvSpPr/>
          <p:nvPr/>
        </p:nvSpPr>
        <p:spPr>
          <a:xfrm>
            <a:off x="3162300" y="2438400"/>
            <a:ext cx="800100" cy="30480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6350">
            <a:solidFill>
              <a:srgbClr val="1F4E7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1F4E79"/>
                </a:solidFill>
              </a:rPr>
              <a:t>特徴量抽出</a:t>
            </a:r>
          </a:p>
        </p:txBody>
      </p:sp>
      <p:sp>
        <p:nvSpPr>
          <p:cNvPr id="9032" name="FeatDet"/>
          <p:cNvSpPr txBox="1"/>
          <p:nvPr/>
        </p:nvSpPr>
        <p:spPr>
          <a:xfrm>
            <a:off x="3162300" y="2762250"/>
            <a:ext cx="8001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PSD / CSP</a:t>
            </a:r>
          </a:p>
        </p:txBody>
      </p:sp>
      <p:sp>
        <p:nvSpPr>
          <p:cNvPr id="9033" name="Model"/>
          <p:cNvSpPr/>
          <p:nvPr/>
        </p:nvSpPr>
        <p:spPr>
          <a:xfrm>
            <a:off x="4057650" y="2438400"/>
            <a:ext cx="819150" cy="304800"/>
          </a:xfrm>
          <a:prstGeom prst="roundRect">
            <a:avLst>
              <a:gd name="adj" fmla="val 15000"/>
            </a:avLst>
          </a:prstGeom>
          <a:solidFill>
            <a:srgbClr val="E07B00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推論モデル</a:t>
            </a:r>
          </a:p>
        </p:txBody>
      </p:sp>
      <p:sp>
        <p:nvSpPr>
          <p:cNvPr id="9034" name="ModelDet"/>
          <p:cNvSpPr txBox="1"/>
          <p:nvPr/>
        </p:nvSpPr>
        <p:spPr>
          <a:xfrm>
            <a:off x="4057650" y="2762250"/>
            <a:ext cx="8191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PyTorch</a:t>
            </a:r>
          </a:p>
        </p:txBody>
      </p:sp>
      <p:sp>
        <p:nvSpPr>
          <p:cNvPr id="9035" name="Auto"/>
          <p:cNvSpPr/>
          <p:nvPr/>
        </p:nvSpPr>
        <p:spPr>
          <a:xfrm>
            <a:off x="4972050" y="2438400"/>
            <a:ext cx="762000" cy="30480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autopilot</a:t>
            </a:r>
          </a:p>
        </p:txBody>
      </p:sp>
      <p:sp>
        <p:nvSpPr>
          <p:cNvPr id="9036" name="AutoDet"/>
          <p:cNvSpPr txBox="1"/>
          <p:nvPr/>
        </p:nvSpPr>
        <p:spPr>
          <a:xfrm>
            <a:off x="4972050" y="2762250"/>
            <a:ext cx="7620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ポリシー</a:t>
            </a:r>
          </a:p>
        </p:txBody>
      </p:sp>
      <p:sp>
        <p:nvSpPr>
          <p:cNvPr id="9037" name="Dec"/>
          <p:cNvSpPr/>
          <p:nvPr/>
        </p:nvSpPr>
        <p:spPr>
          <a:xfrm>
            <a:off x="3476625" y="2952750"/>
            <a:ext cx="952500" cy="533400"/>
          </a:xfrm>
          <a:prstGeom prst="diamond">
            <a:avLst/>
          </a:prstGeom>
          <a:solidFill>
            <a:srgbClr val="E07B00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閾値判定</a:t>
            </a:r>
          </a:p>
        </p:txBody>
      </p:sp>
      <p:sp>
        <p:nvSpPr>
          <p:cNvPr id="9038" name="CmdPub"/>
          <p:cNvSpPr/>
          <p:nvPr/>
        </p:nvSpPr>
        <p:spPr>
          <a:xfrm>
            <a:off x="4552950" y="3048000"/>
            <a:ext cx="1181100" cy="342900"/>
          </a:xfrm>
          <a:prstGeom prst="roundRect">
            <a:avLst>
              <a:gd name="adj" fmla="val 15000"/>
            </a:avLst>
          </a:prstGeom>
          <a:solidFill>
            <a:srgbClr val="4A7BA6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MQTT pub: robot/cmd</a:t>
            </a:r>
          </a:p>
        </p:txBody>
      </p:sp>
      <p:sp>
        <p:nvSpPr>
          <p:cNvPr id="9039" name="CmdDet"/>
          <p:cNvSpPr txBox="1"/>
          <p:nvPr/>
        </p:nvSpPr>
        <p:spPr>
          <a:xfrm>
            <a:off x="4552950" y="3409950"/>
            <a:ext cx="11811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{dir, speed, ts}</a:t>
            </a:r>
          </a:p>
        </p:txBody>
      </p:sp>
      <p:sp>
        <p:nvSpPr>
          <p:cNvPr id="9040" name="DB1"/>
          <p:cNvSpPr/>
          <p:nvPr/>
        </p:nvSpPr>
        <p:spPr>
          <a:xfrm>
            <a:off x="3162300" y="3619500"/>
            <a:ext cx="742950" cy="342900"/>
          </a:xfrm>
          <a:prstGeom prst="can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18000" tIns="9000" rIns="18000" bIns="9000" anchor="ctr"/>
          <a:lstStyle/>
          <a:p>
            <a:pPr algn="ctr">
              <a:buNone/>
            </a:pPr>
            <a:r>
              <a:rPr lang="ja-JP" sz="700" b="1" dirty="0">
                <a:solidFill>
                  <a:srgbClr val="FFFFFF"/>
                </a:solidFill>
              </a:rPr>
              <a:t>TimescaleDB</a:t>
            </a:r>
          </a:p>
        </p:txBody>
      </p:sp>
      <p:sp>
        <p:nvSpPr>
          <p:cNvPr id="9041" name="DB1Det"/>
          <p:cNvSpPr txBox="1"/>
          <p:nvPr/>
        </p:nvSpPr>
        <p:spPr>
          <a:xfrm>
            <a:off x="3162300" y="4019550"/>
            <a:ext cx="7429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セッション</a:t>
            </a:r>
          </a:p>
        </p:txBody>
      </p:sp>
      <p:sp>
        <p:nvSpPr>
          <p:cNvPr id="9042" name="DB2"/>
          <p:cNvSpPr/>
          <p:nvPr/>
        </p:nvSpPr>
        <p:spPr>
          <a:xfrm>
            <a:off x="4000500" y="3619500"/>
            <a:ext cx="742950" cy="342900"/>
          </a:xfrm>
          <a:prstGeom prst="can">
            <a:avLst/>
          </a:prstGeom>
          <a:solidFill>
            <a:srgbClr val="2A8C8C"/>
          </a:solidFill>
          <a:ln>
            <a:solidFill>
              <a:srgbClr val="2A8C8C"/>
            </a:solidFill>
          </a:ln>
        </p:spPr>
        <p:txBody>
          <a:bodyPr wrap="square" lIns="18000" tIns="9000" rIns="18000" bIns="9000" anchor="ctr"/>
          <a:lstStyle/>
          <a:p>
            <a:pPr algn="ctr">
              <a:buNone/>
            </a:pPr>
            <a:r>
              <a:rPr lang="ja-JP" sz="700" b="1" dirty="0">
                <a:solidFill>
                  <a:srgbClr val="FFFFFF"/>
                </a:solidFill>
              </a:rPr>
              <a:t>S3 / xdf</a:t>
            </a:r>
          </a:p>
        </p:txBody>
      </p:sp>
      <p:sp>
        <p:nvSpPr>
          <p:cNvPr id="9043" name="DB2Det"/>
          <p:cNvSpPr txBox="1"/>
          <p:nvPr/>
        </p:nvSpPr>
        <p:spPr>
          <a:xfrm>
            <a:off x="4000500" y="4019550"/>
            <a:ext cx="7429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学習用</a:t>
            </a:r>
          </a:p>
        </p:txBody>
      </p:sp>
      <p:sp>
        <p:nvSpPr>
          <p:cNvPr id="9044" name="DB3"/>
          <p:cNvSpPr/>
          <p:nvPr/>
        </p:nvSpPr>
        <p:spPr>
          <a:xfrm>
            <a:off x="4838700" y="3619500"/>
            <a:ext cx="742950" cy="342900"/>
          </a:xfrm>
          <a:prstGeom prst="can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txBody>
          <a:bodyPr wrap="square" lIns="18000" tIns="9000" rIns="18000" bIns="9000" anchor="ctr"/>
          <a:lstStyle/>
          <a:p>
            <a:pPr algn="ctr">
              <a:buNone/>
            </a:pPr>
            <a:r>
              <a:rPr lang="ja-JP" sz="700" b="1" dirty="0">
                <a:solidFill>
                  <a:srgbClr val="FFFFFF"/>
                </a:solidFill>
              </a:rPr>
              <a:t>Prom / Loki</a:t>
            </a:r>
          </a:p>
        </p:txBody>
      </p:sp>
      <p:sp>
        <p:nvSpPr>
          <p:cNvPr id="9045" name="DB3Det"/>
          <p:cNvSpPr txBox="1"/>
          <p:nvPr/>
        </p:nvSpPr>
        <p:spPr>
          <a:xfrm>
            <a:off x="4838700" y="4019550"/>
            <a:ext cx="7429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監視</a:t>
            </a:r>
          </a:p>
        </p:txBody>
      </p:sp>
      <p:cxnSp>
        <p:nvCxnSpPr>
          <p:cNvPr id="9046" name="b1"/>
          <p:cNvCxnSpPr/>
          <p:nvPr/>
        </p:nvCxnSpPr>
        <p:spPr>
          <a:xfrm>
            <a:off x="3962400" y="1971675"/>
            <a:ext cx="95250" cy="9525"/>
          </a:xfrm>
          <a:prstGeom prst="straightConnector1">
            <a:avLst/>
          </a:prstGeom>
          <a:ln w="12700">
            <a:solidFill>
              <a:srgbClr val="1F4E79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7" name="b2"/>
          <p:cNvCxnSpPr/>
          <p:nvPr/>
        </p:nvCxnSpPr>
        <p:spPr>
          <a:xfrm>
            <a:off x="3562350" y="2171700"/>
            <a:ext cx="9525" cy="266700"/>
          </a:xfrm>
          <a:prstGeom prst="straightConnector1">
            <a:avLst/>
          </a:prstGeom>
          <a:ln w="12700">
            <a:solidFill>
              <a:srgbClr val="E07B00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8" name="b3"/>
          <p:cNvCxnSpPr/>
          <p:nvPr/>
        </p:nvCxnSpPr>
        <p:spPr>
          <a:xfrm>
            <a:off x="3962400" y="2590800"/>
            <a:ext cx="95250" cy="9525"/>
          </a:xfrm>
          <a:prstGeom prst="straightConnector1">
            <a:avLst/>
          </a:prstGeom>
          <a:ln w="12700">
            <a:solidFill>
              <a:srgbClr val="1F4E79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9" name="b4"/>
          <p:cNvCxnSpPr/>
          <p:nvPr/>
        </p:nvCxnSpPr>
        <p:spPr>
          <a:xfrm>
            <a:off x="4876800" y="2590800"/>
            <a:ext cx="95250" cy="9525"/>
          </a:xfrm>
          <a:prstGeom prst="straightConnector1">
            <a:avLst/>
          </a:prstGeom>
          <a:ln w="12700">
            <a:solidFill>
              <a:srgbClr val="1F4E79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0" name="b5"/>
          <p:cNvCxnSpPr/>
          <p:nvPr/>
        </p:nvCxnSpPr>
        <p:spPr>
          <a:xfrm>
            <a:off x="5353050" y="2743200"/>
            <a:ext cx="9525" cy="304800"/>
          </a:xfrm>
          <a:prstGeom prst="straightConnector1">
            <a:avLst/>
          </a:prstGeom>
          <a:ln w="12700">
            <a:solidFill>
              <a:srgbClr val="C0392B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1" name="b6"/>
          <p:cNvCxnSpPr/>
          <p:nvPr/>
        </p:nvCxnSpPr>
        <p:spPr>
          <a:xfrm>
            <a:off x="3952875" y="3219450"/>
            <a:ext cx="600075" cy="9525"/>
          </a:xfrm>
          <a:prstGeom prst="straightConnector1">
            <a:avLst/>
          </a:prstGeom>
          <a:ln w="12700">
            <a:solidFill>
              <a:srgbClr val="C0392B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2" name="b7"/>
          <p:cNvCxnSpPr/>
          <p:nvPr/>
        </p:nvCxnSpPr>
        <p:spPr>
          <a:xfrm flipH="1">
            <a:off x="3952875" y="2743200"/>
            <a:ext cx="1400175" cy="304800"/>
          </a:xfrm>
          <a:prstGeom prst="straightConnector1">
            <a:avLst/>
          </a:prstGeom>
          <a:ln w="6350">
            <a:solidFill>
              <a:srgbClr val="6B7280"/>
            </a:solidFill>
            <a:prstDash val="dash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3" name="br1"/>
          <p:cNvCxnSpPr/>
          <p:nvPr/>
        </p:nvCxnSpPr>
        <p:spPr>
          <a:xfrm flipH="1">
            <a:off x="3533775" y="2743200"/>
            <a:ext cx="28575" cy="876300"/>
          </a:xfrm>
          <a:prstGeom prst="line">
            <a:avLst/>
          </a:prstGeom>
          <a:ln w="6350">
            <a:solidFill>
              <a:srgbClr val="6B7280"/>
            </a:solidFill>
            <a:prstDash val="dash"/>
          </a:ln>
        </p:spPr>
      </p:cxnSp>
      <p:cxnSp>
        <p:nvCxnSpPr>
          <p:cNvPr id="9054" name="br2"/>
          <p:cNvCxnSpPr/>
          <p:nvPr/>
        </p:nvCxnSpPr>
        <p:spPr>
          <a:xfrm flipH="1">
            <a:off x="4371975" y="2743200"/>
            <a:ext cx="95250" cy="876300"/>
          </a:xfrm>
          <a:prstGeom prst="line">
            <a:avLst/>
          </a:prstGeom>
          <a:ln w="6350">
            <a:solidFill>
              <a:srgbClr val="6B7280"/>
            </a:solidFill>
            <a:prstDash val="dash"/>
          </a:ln>
        </p:spPr>
      </p:cxnSp>
      <p:cxnSp>
        <p:nvCxnSpPr>
          <p:cNvPr id="9055" name="br3"/>
          <p:cNvCxnSpPr/>
          <p:nvPr/>
        </p:nvCxnSpPr>
        <p:spPr>
          <a:xfrm flipH="1">
            <a:off x="5210175" y="2743200"/>
            <a:ext cx="142875" cy="876300"/>
          </a:xfrm>
          <a:prstGeom prst="line">
            <a:avLst/>
          </a:prstGeom>
          <a:ln w="6350">
            <a:solidFill>
              <a:srgbClr val="6B7280"/>
            </a:solidFill>
            <a:prstDash val="dash"/>
          </a:ln>
        </p:spPr>
      </p:cxnSp>
      <p:sp>
        <p:nvSpPr>
          <p:cNvPr id="9056" name="Lane2Note"/>
          <p:cNvSpPr txBox="1"/>
          <p:nvPr/>
        </p:nvSpPr>
        <p:spPr>
          <a:xfrm>
            <a:off x="3162300" y="421005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700" i="1" dirty="0">
                <a:solidFill>
                  <a:srgbClr val="6B7280"/>
                </a:solidFill>
              </a:rPr>
              <a:t>※ 同一マシン内は LSL でゼロコピー的に共有 → 3経路に枝分かれして蓄積</a:t>
            </a:r>
          </a:p>
        </p:txBody>
      </p:sp>
      <p:sp>
        <p:nvSpPr>
          <p:cNvPr id="9057" name="Broker"/>
          <p:cNvSpPr/>
          <p:nvPr/>
        </p:nvSpPr>
        <p:spPr>
          <a:xfrm>
            <a:off x="6076950" y="1828800"/>
            <a:ext cx="838200" cy="342900"/>
          </a:xfrm>
          <a:prstGeom prst="roundRect">
            <a:avLst>
              <a:gd name="adj" fmla="val 15000"/>
            </a:avLst>
          </a:prstGeom>
          <a:solidFill>
            <a:srgbClr val="4A7BA6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MQTT broker</a:t>
            </a:r>
          </a:p>
        </p:txBody>
      </p:sp>
      <p:sp>
        <p:nvSpPr>
          <p:cNvPr id="9058" name="BrokerDet"/>
          <p:cNvSpPr txBox="1"/>
          <p:nvPr/>
        </p:nvSpPr>
        <p:spPr>
          <a:xfrm>
            <a:off x="6076950" y="2190750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mosquitto / TLS</a:t>
            </a:r>
          </a:p>
        </p:txBody>
      </p:sp>
      <p:sp>
        <p:nvSpPr>
          <p:cNvPr id="9059" name="Tail"/>
          <p:cNvSpPr/>
          <p:nvPr/>
        </p:nvSpPr>
        <p:spPr>
          <a:xfrm>
            <a:off x="7010400" y="1828800"/>
            <a:ext cx="781050" cy="209550"/>
          </a:xfrm>
          <a:prstGeom prst="roundRect">
            <a:avLst>
              <a:gd name="adj" fmla="val 15000"/>
            </a:avLst>
          </a:prstGeom>
          <a:solidFill>
            <a:srgbClr val="1A3A5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700" b="1" dirty="0">
                <a:solidFill>
                  <a:srgbClr val="FFFFFF"/>
                </a:solidFill>
              </a:rPr>
              <a:t>Tailscale VPN</a:t>
            </a:r>
          </a:p>
        </p:txBody>
      </p:sp>
      <p:sp>
        <p:nvSpPr>
          <p:cNvPr id="9060" name="TLS"/>
          <p:cNvSpPr/>
          <p:nvPr/>
        </p:nvSpPr>
        <p:spPr>
          <a:xfrm>
            <a:off x="7886700" y="1828800"/>
            <a:ext cx="723900" cy="20955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700" b="1" dirty="0">
                <a:solidFill>
                  <a:srgbClr val="FFFFFF"/>
                </a:solidFill>
              </a:rPr>
              <a:t>TLS 1.3 / cert</a:t>
            </a:r>
          </a:p>
        </p:txBody>
      </p:sp>
      <p:sp>
        <p:nvSpPr>
          <p:cNvPr id="9061" name="ESP"/>
          <p:cNvSpPr/>
          <p:nvPr/>
        </p:nvSpPr>
        <p:spPr>
          <a:xfrm>
            <a:off x="6076950" y="2209800"/>
            <a:ext cx="838200" cy="361950"/>
          </a:xfrm>
          <a:prstGeom prst="roundRect">
            <a:avLst>
              <a:gd name="adj" fmla="val 15000"/>
            </a:avLst>
          </a:prstGeom>
          <a:solidFill>
            <a:srgbClr val="E07B00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Arduino</a:t>
            </a:r>
          </a:p>
        </p:txBody>
      </p:sp>
      <p:sp>
        <p:nvSpPr>
          <p:cNvPr id="9062" name="ESPDet"/>
          <p:cNvSpPr txBox="1"/>
          <p:nvPr/>
        </p:nvSpPr>
        <p:spPr>
          <a:xfrm>
            <a:off x="6076950" y="2590800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MQTT sub + UART</a:t>
            </a:r>
          </a:p>
        </p:txBody>
      </p:sp>
      <p:sp>
        <p:nvSpPr>
          <p:cNvPr id="9063" name="LS"/>
          <p:cNvSpPr/>
          <p:nvPr/>
        </p:nvSpPr>
        <p:spPr>
          <a:xfrm>
            <a:off x="7010400" y="2209800"/>
            <a:ext cx="781050" cy="36195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6350">
            <a:solidFill>
              <a:srgbClr val="1F4E7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1F4E79"/>
                </a:solidFill>
              </a:rPr>
              <a:t>電圧変換</a:t>
            </a:r>
          </a:p>
        </p:txBody>
      </p:sp>
      <p:sp>
        <p:nvSpPr>
          <p:cNvPr id="9064" name="LSDet"/>
          <p:cNvSpPr txBox="1"/>
          <p:nvPr/>
        </p:nvSpPr>
        <p:spPr>
          <a:xfrm>
            <a:off x="7010400" y="2590800"/>
            <a:ext cx="7810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3.3V ↔ 5V</a:t>
            </a:r>
          </a:p>
        </p:txBody>
      </p:sp>
      <p:sp>
        <p:nvSpPr>
          <p:cNvPr id="9065" name="Roomba"/>
          <p:cNvSpPr/>
          <p:nvPr/>
        </p:nvSpPr>
        <p:spPr>
          <a:xfrm>
            <a:off x="7886700" y="2209800"/>
            <a:ext cx="838200" cy="36195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Roomba OI</a:t>
            </a:r>
          </a:p>
        </p:txBody>
      </p:sp>
      <p:sp>
        <p:nvSpPr>
          <p:cNvPr id="9066" name="RoombaDet"/>
          <p:cNvSpPr txBox="1"/>
          <p:nvPr/>
        </p:nvSpPr>
        <p:spPr>
          <a:xfrm>
            <a:off x="7886700" y="2590800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Drive cmd / sensor</a:t>
            </a:r>
          </a:p>
        </p:txBody>
      </p:sp>
      <p:sp>
        <p:nvSpPr>
          <p:cNvPr id="9067" name="Tele"/>
          <p:cNvSpPr/>
          <p:nvPr/>
        </p:nvSpPr>
        <p:spPr>
          <a:xfrm>
            <a:off x="6076950" y="2819400"/>
            <a:ext cx="838200" cy="304800"/>
          </a:xfrm>
          <a:prstGeom prst="roundRect">
            <a:avLst>
              <a:gd name="adj" fmla="val 15000"/>
            </a:avLst>
          </a:prstGeom>
          <a:solidFill>
            <a:srgbClr val="4A7BA6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700" b="1" dirty="0">
                <a:solidFill>
                  <a:srgbClr val="FFFFFF"/>
                </a:solidFill>
              </a:rPr>
              <a:t>MQTT pub: telemetry</a:t>
            </a:r>
          </a:p>
        </p:txBody>
      </p:sp>
      <p:sp>
        <p:nvSpPr>
          <p:cNvPr id="9068" name="TeleDet"/>
          <p:cNvSpPr txBox="1"/>
          <p:nvPr/>
        </p:nvSpPr>
        <p:spPr>
          <a:xfrm>
            <a:off x="6076950" y="3143250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bumper / battery</a:t>
            </a:r>
          </a:p>
        </p:txBody>
      </p:sp>
      <p:sp>
        <p:nvSpPr>
          <p:cNvPr id="9069" name="Health"/>
          <p:cNvSpPr/>
          <p:nvPr/>
        </p:nvSpPr>
        <p:spPr>
          <a:xfrm>
            <a:off x="7048500" y="2819400"/>
            <a:ext cx="742950" cy="419100"/>
          </a:xfrm>
          <a:prstGeom prst="diamond">
            <a:avLst/>
          </a:prstGeom>
          <a:solidFill>
            <a:srgbClr val="3E8E3E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>
              <a:buNone/>
            </a:pPr>
            <a:r>
              <a:rPr lang="ja-JP" sz="700" b="1" dirty="0">
                <a:solidFill>
                  <a:srgbClr val="FFFFFF"/>
                </a:solidFill>
              </a:rPr>
              <a:t>health OK?</a:t>
            </a:r>
          </a:p>
        </p:txBody>
      </p:sp>
      <p:sp>
        <p:nvSpPr>
          <p:cNvPr id="9070" name="Kill"/>
          <p:cNvSpPr/>
          <p:nvPr/>
        </p:nvSpPr>
        <p:spPr>
          <a:xfrm>
            <a:off x="7886700" y="2857500"/>
            <a:ext cx="838200" cy="30480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緊急停止</a:t>
            </a:r>
          </a:p>
        </p:txBody>
      </p:sp>
      <p:sp>
        <p:nvSpPr>
          <p:cNvPr id="9071" name="KillDet"/>
          <p:cNvSpPr txBox="1"/>
          <p:nvPr/>
        </p:nvSpPr>
        <p:spPr>
          <a:xfrm>
            <a:off x="7886700" y="3181350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retain / will</a:t>
            </a:r>
          </a:p>
        </p:txBody>
      </p:sp>
      <p:sp>
        <p:nvSpPr>
          <p:cNvPr id="9072" name="Power"/>
          <p:cNvSpPr/>
          <p:nvPr/>
        </p:nvSpPr>
        <p:spPr>
          <a:xfrm>
            <a:off x="7010400" y="3352800"/>
            <a:ext cx="781050" cy="304800"/>
          </a:xfrm>
          <a:prstGeom prst="roundRect">
            <a:avLst>
              <a:gd name="adj" fmla="val 15000"/>
            </a:avLst>
          </a:prstGeom>
          <a:solidFill>
            <a:srgbClr val="3A3A3A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電源系</a:t>
            </a:r>
          </a:p>
        </p:txBody>
      </p:sp>
      <p:sp>
        <p:nvSpPr>
          <p:cNvPr id="9073" name="PowerDet"/>
          <p:cNvSpPr txBox="1"/>
          <p:nvPr/>
        </p:nvSpPr>
        <p:spPr>
          <a:xfrm>
            <a:off x="7010400" y="3676650"/>
            <a:ext cx="7810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Roomba 14.4V</a:t>
            </a:r>
          </a:p>
        </p:txBody>
      </p:sp>
      <p:sp>
        <p:nvSpPr>
          <p:cNvPr id="9074" name="WebUI"/>
          <p:cNvSpPr/>
          <p:nvPr/>
        </p:nvSpPr>
        <p:spPr>
          <a:xfrm>
            <a:off x="6076950" y="3352800"/>
            <a:ext cx="838200" cy="304800"/>
          </a:xfrm>
          <a:prstGeom prst="roundRect">
            <a:avLst>
              <a:gd name="adj" fmla="val 15000"/>
            </a:avLst>
          </a:prstGeom>
          <a:solidFill>
            <a:srgbClr val="7E57C2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FFFFFF"/>
                </a:solidFill>
              </a:rPr>
              <a:t>Web UI (mon)</a:t>
            </a:r>
          </a:p>
        </p:txBody>
      </p:sp>
      <p:sp>
        <p:nvSpPr>
          <p:cNvPr id="9075" name="WebUIDet"/>
          <p:cNvSpPr txBox="1"/>
          <p:nvPr/>
        </p:nvSpPr>
        <p:spPr>
          <a:xfrm>
            <a:off x="6076950" y="3676650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WS / React</a:t>
            </a:r>
          </a:p>
        </p:txBody>
      </p:sp>
      <p:sp>
        <p:nvSpPr>
          <p:cNvPr id="9076" name="Op"/>
          <p:cNvSpPr/>
          <p:nvPr/>
        </p:nvSpPr>
        <p:spPr>
          <a:xfrm>
            <a:off x="7886700" y="3352800"/>
            <a:ext cx="838200" cy="30480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6350">
            <a:solidFill>
              <a:srgbClr val="1F4E79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800" b="1" dirty="0">
                <a:solidFill>
                  <a:srgbClr val="1F4E79"/>
                </a:solidFill>
              </a:rPr>
              <a:t>オペレータ</a:t>
            </a:r>
          </a:p>
        </p:txBody>
      </p:sp>
      <p:sp>
        <p:nvSpPr>
          <p:cNvPr id="9077" name="OpDet"/>
          <p:cNvSpPr txBox="1"/>
          <p:nvPr/>
        </p:nvSpPr>
        <p:spPr>
          <a:xfrm>
            <a:off x="7886700" y="3676650"/>
            <a:ext cx="8382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700" dirty="0">
                <a:solidFill>
                  <a:srgbClr val="6B7280"/>
                </a:solidFill>
              </a:rPr>
              <a:t>監視 + 介入</a:t>
            </a:r>
          </a:p>
        </p:txBody>
      </p:sp>
      <p:cxnSp>
        <p:nvCxnSpPr>
          <p:cNvPr id="9078" name="c1"/>
          <p:cNvCxnSpPr/>
          <p:nvPr/>
        </p:nvCxnSpPr>
        <p:spPr>
          <a:xfrm>
            <a:off x="6915150" y="2381250"/>
            <a:ext cx="95250" cy="9525"/>
          </a:xfrm>
          <a:prstGeom prst="straightConnector1">
            <a:avLst/>
          </a:prstGeom>
          <a:ln w="12700">
            <a:solidFill>
              <a:srgbClr val="1F4E79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" name="c2"/>
          <p:cNvCxnSpPr/>
          <p:nvPr/>
        </p:nvCxnSpPr>
        <p:spPr>
          <a:xfrm>
            <a:off x="7791450" y="2381250"/>
            <a:ext cx="95250" cy="9525"/>
          </a:xfrm>
          <a:prstGeom prst="straightConnector1">
            <a:avLst/>
          </a:prstGeom>
          <a:ln w="12700">
            <a:solidFill>
              <a:srgbClr val="1F4E79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0" name="c3"/>
          <p:cNvCxnSpPr/>
          <p:nvPr/>
        </p:nvCxnSpPr>
        <p:spPr>
          <a:xfrm>
            <a:off x="8286750" y="2571750"/>
            <a:ext cx="9525" cy="285750"/>
          </a:xfrm>
          <a:prstGeom prst="straightConnector1">
            <a:avLst/>
          </a:prstGeom>
          <a:ln w="9525">
            <a:solidFill>
              <a:srgbClr val="6B7280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1" name="c4"/>
          <p:cNvCxnSpPr/>
          <p:nvPr/>
        </p:nvCxnSpPr>
        <p:spPr>
          <a:xfrm>
            <a:off x="6496050" y="2571750"/>
            <a:ext cx="9525" cy="247650"/>
          </a:xfrm>
          <a:prstGeom prst="straightConnector1">
            <a:avLst/>
          </a:prstGeom>
          <a:ln w="9525">
            <a:solidFill>
              <a:srgbClr val="E07B00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2" name="c5"/>
          <p:cNvCxnSpPr/>
          <p:nvPr/>
        </p:nvCxnSpPr>
        <p:spPr>
          <a:xfrm>
            <a:off x="7419975" y="3238500"/>
            <a:ext cx="9525" cy="114300"/>
          </a:xfrm>
          <a:prstGeom prst="straightConnector1">
            <a:avLst/>
          </a:prstGeom>
          <a:ln w="9525">
            <a:solidFill>
              <a:srgbClr val="3E8E3E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3" name="c6"/>
          <p:cNvCxnSpPr/>
          <p:nvPr/>
        </p:nvCxnSpPr>
        <p:spPr>
          <a:xfrm flipV="1">
            <a:off x="6076950" y="2971800"/>
            <a:ext cx="9525" cy="685800"/>
          </a:xfrm>
          <a:prstGeom prst="line">
            <a:avLst/>
          </a:prstGeom>
          <a:ln w="6350">
            <a:solidFill>
              <a:srgbClr val="7E57C2"/>
            </a:solidFill>
            <a:prstDash val="dash"/>
          </a:ln>
        </p:spPr>
      </p:cxnSp>
      <p:cxnSp>
        <p:nvCxnSpPr>
          <p:cNvPr id="9084" name="c7"/>
          <p:cNvCxnSpPr/>
          <p:nvPr/>
        </p:nvCxnSpPr>
        <p:spPr>
          <a:xfrm>
            <a:off x="7791450" y="3028950"/>
            <a:ext cx="95250" cy="9525"/>
          </a:xfrm>
          <a:prstGeom prst="straightConnector1">
            <a:avLst/>
          </a:prstGeom>
          <a:ln w="12700">
            <a:solidFill>
              <a:srgbClr val="C0392B"/>
            </a:solidFill>
            <a:prstDash val="solid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5" name="c8"/>
          <p:cNvCxnSpPr/>
          <p:nvPr/>
        </p:nvCxnSpPr>
        <p:spPr>
          <a:xfrm flipV="1">
            <a:off x="6915150" y="3505200"/>
            <a:ext cx="95250" cy="171450"/>
          </a:xfrm>
          <a:prstGeom prst="straightConnector1">
            <a:avLst/>
          </a:prstGeom>
          <a:ln w="9525">
            <a:solidFill>
              <a:srgbClr val="3A3A3A"/>
            </a:solidFill>
            <a:prstDash val="dash"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86" name="Lane3Note"/>
          <p:cNvSpPr txBox="1"/>
          <p:nvPr/>
        </p:nvSpPr>
        <p:spPr>
          <a:xfrm>
            <a:off x="6076950" y="4210050"/>
            <a:ext cx="27622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700" i="1" dirty="0">
                <a:solidFill>
                  <a:srgbClr val="6B7280"/>
                </a:solidFill>
              </a:rPr>
              <a:t>※ 電圧変換と緊急停止が地味だが本気でハマる箇所</a:t>
            </a:r>
          </a:p>
        </p:txBody>
      </p:sp>
      <p:cxnSp>
        <p:nvCxnSpPr>
          <p:cNvPr id="9087" name="x1"/>
          <p:cNvCxnSpPr/>
          <p:nvPr/>
        </p:nvCxnSpPr>
        <p:spPr>
          <a:xfrm flipV="1">
            <a:off x="2857500" y="2000250"/>
            <a:ext cx="3219450" cy="695325"/>
          </a:xfrm>
          <a:prstGeom prst="line">
            <a:avLst/>
          </a:prstGeom>
          <a:ln w="12700">
            <a:solidFill>
              <a:srgbClr val="4A7BA6"/>
            </a:solidFill>
            <a:prstDash val="solid"/>
          </a:ln>
        </p:spPr>
      </p:cxnSp>
      <p:cxnSp>
        <p:nvCxnSpPr>
          <p:cNvPr id="9088" name="x2"/>
          <p:cNvCxnSpPr/>
          <p:nvPr/>
        </p:nvCxnSpPr>
        <p:spPr>
          <a:xfrm flipV="1">
            <a:off x="5734050" y="2095500"/>
            <a:ext cx="342900" cy="1123950"/>
          </a:xfrm>
          <a:prstGeom prst="line">
            <a:avLst/>
          </a:prstGeom>
          <a:ln w="12700">
            <a:solidFill>
              <a:srgbClr val="4A7BA6"/>
            </a:solidFill>
            <a:prstDash val="solid"/>
          </a:ln>
        </p:spPr>
      </p:cxnSp>
      <p:cxnSp>
        <p:nvCxnSpPr>
          <p:cNvPr id="9089" name="x3"/>
          <p:cNvCxnSpPr/>
          <p:nvPr/>
        </p:nvCxnSpPr>
        <p:spPr>
          <a:xfrm flipH="1">
            <a:off x="4876800" y="2000250"/>
            <a:ext cx="1200150" cy="9525"/>
          </a:xfrm>
          <a:prstGeom prst="line">
            <a:avLst/>
          </a:prstGeom>
          <a:ln w="9525">
            <a:solidFill>
              <a:srgbClr val="4A7BA6"/>
            </a:solidFill>
            <a:prstDash val="dash"/>
          </a:ln>
        </p:spPr>
      </p:cxnSp>
      <p:cxnSp>
        <p:nvCxnSpPr>
          <p:cNvPr id="9090" name="x4"/>
          <p:cNvCxnSpPr/>
          <p:nvPr/>
        </p:nvCxnSpPr>
        <p:spPr>
          <a:xfrm flipH="1" flipV="1">
            <a:off x="4876800" y="2076450"/>
            <a:ext cx="1200150" cy="895350"/>
          </a:xfrm>
          <a:prstGeom prst="line">
            <a:avLst/>
          </a:prstGeom>
          <a:ln w="9525">
            <a:solidFill>
              <a:srgbClr val="4A7BA6"/>
            </a:solidFill>
            <a:prstDash val="dash"/>
          </a:ln>
        </p:spPr>
      </p:cxnSp>
      <p:cxnSp>
        <p:nvCxnSpPr>
          <p:cNvPr id="9091" name="x5"/>
          <p:cNvCxnSpPr/>
          <p:nvPr/>
        </p:nvCxnSpPr>
        <p:spPr>
          <a:xfrm flipV="1">
            <a:off x="2000250" y="2000250"/>
            <a:ext cx="1162050" cy="695325"/>
          </a:xfrm>
          <a:prstGeom prst="line">
            <a:avLst/>
          </a:prstGeom>
          <a:ln w="12700">
            <a:solidFill>
              <a:srgbClr val="E07B00"/>
            </a:solidFill>
            <a:prstDash val="solid"/>
          </a:ln>
        </p:spPr>
      </p:cxnSp>
      <p:cxnSp>
        <p:nvCxnSpPr>
          <p:cNvPr id="9092" name="x6"/>
          <p:cNvCxnSpPr/>
          <p:nvPr/>
        </p:nvCxnSpPr>
        <p:spPr>
          <a:xfrm flipV="1">
            <a:off x="5734050" y="2381250"/>
            <a:ext cx="342900" cy="838200"/>
          </a:xfrm>
          <a:prstGeom prst="line">
            <a:avLst/>
          </a:prstGeom>
          <a:ln w="12700">
            <a:solidFill>
              <a:srgbClr val="C0392B"/>
            </a:solidFill>
            <a:prstDash val="solid"/>
          </a:ln>
        </p:spPr>
      </p:cxnSp>
      <p:cxnSp>
        <p:nvCxnSpPr>
          <p:cNvPr id="9093" name="x7"/>
          <p:cNvCxnSpPr/>
          <p:nvPr/>
        </p:nvCxnSpPr>
        <p:spPr>
          <a:xfrm>
            <a:off x="1047750" y="2743200"/>
            <a:ext cx="2952750" cy="1028700"/>
          </a:xfrm>
          <a:prstGeom prst="line">
            <a:avLst/>
          </a:prstGeom>
          <a:ln w="6350">
            <a:solidFill>
              <a:srgbClr val="3E8E3E"/>
            </a:solidFill>
            <a:prstDash val="dash"/>
          </a:ln>
        </p:spPr>
      </p:cxnSp>
      <p:cxnSp>
        <p:nvCxnSpPr>
          <p:cNvPr id="9094" name="x8"/>
          <p:cNvCxnSpPr/>
          <p:nvPr/>
        </p:nvCxnSpPr>
        <p:spPr>
          <a:xfrm flipH="1" flipV="1">
            <a:off x="5353050" y="2667000"/>
            <a:ext cx="2533650" cy="838200"/>
          </a:xfrm>
          <a:prstGeom prst="line">
            <a:avLst/>
          </a:prstGeom>
          <a:ln w="6350">
            <a:solidFill>
              <a:srgbClr val="6B7280"/>
            </a:solidFill>
            <a:prstDash val="dash"/>
          </a:ln>
        </p:spPr>
      </p:cxnSp>
      <p:sp>
        <p:nvSpPr>
          <p:cNvPr id="9095" name="Topic1"/>
          <p:cNvSpPr txBox="1"/>
          <p:nvPr/>
        </p:nvSpPr>
        <p:spPr>
          <a:xfrm>
            <a:off x="2286000" y="1504950"/>
            <a:ext cx="19050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700" b="1" dirty="0">
                <a:solidFill>
                  <a:srgbClr val="4A7BA6"/>
                </a:solidFill>
              </a:rPr>
              <a:t>▼ MQTT topic: eeg/+, robot/cmd, robot/telem</a:t>
            </a:r>
          </a:p>
        </p:txBody>
      </p:sp>
      <p:sp>
        <p:nvSpPr>
          <p:cNvPr id="9096" name="Topic2"/>
          <p:cNvSpPr txBox="1"/>
          <p:nvPr/>
        </p:nvSpPr>
        <p:spPr>
          <a:xfrm>
            <a:off x="5143500" y="1504950"/>
            <a:ext cx="190500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700" b="1" dirty="0">
                <a:solidFill>
                  <a:srgbClr val="E07B00"/>
                </a:solidFill>
              </a:rPr>
              <a:t>▼ LSL stream: 'EEG_8ch_250'</a:t>
            </a:r>
          </a:p>
        </p:txBody>
      </p:sp>
      <p:sp>
        <p:nvSpPr>
          <p:cNvPr id="9097" name="LegendBG"/>
          <p:cNvSpPr/>
          <p:nvPr/>
        </p:nvSpPr>
        <p:spPr>
          <a:xfrm>
            <a:off x="285750" y="4619625"/>
            <a:ext cx="8572500" cy="285750"/>
          </a:xfrm>
          <a:prstGeom prst="rect">
            <a:avLst/>
          </a:prstGeom>
          <a:solidFill>
            <a:srgbClr val="FFFFFF"/>
          </a:solidFill>
          <a:ln w="6350">
            <a:solidFill>
              <a:srgbClr val="D5DA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98" name="LegSw0"/>
          <p:cNvSpPr/>
          <p:nvPr/>
        </p:nvSpPr>
        <p:spPr>
          <a:xfrm>
            <a:off x="476250" y="4705350"/>
            <a:ext cx="133350" cy="114300"/>
          </a:xfrm>
          <a:prstGeom prst="rect">
            <a:avLst/>
          </a:prstGeom>
          <a:solidFill>
            <a:srgbClr val="4A7B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99" name="LegLbl0"/>
          <p:cNvSpPr txBox="1"/>
          <p:nvPr/>
        </p:nvSpPr>
        <p:spPr>
          <a:xfrm>
            <a:off x="647700" y="47148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800" b="1" dirty="0">
                <a:solidFill>
                  <a:srgbClr val="1A1A1A"/>
                </a:solidFill>
              </a:rPr>
              <a:t>MQTT</a:t>
            </a:r>
          </a:p>
        </p:txBody>
      </p:sp>
      <p:sp>
        <p:nvSpPr>
          <p:cNvPr id="9100" name="LegSw1"/>
          <p:cNvSpPr/>
          <p:nvPr/>
        </p:nvSpPr>
        <p:spPr>
          <a:xfrm>
            <a:off x="1524000" y="4705350"/>
            <a:ext cx="133350" cy="114300"/>
          </a:xfrm>
          <a:prstGeom prst="rect">
            <a:avLst/>
          </a:prstGeom>
          <a:solidFill>
            <a:srgbClr val="E07B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1" name="LegLbl1"/>
          <p:cNvSpPr txBox="1"/>
          <p:nvPr/>
        </p:nvSpPr>
        <p:spPr>
          <a:xfrm>
            <a:off x="1695450" y="47148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800" b="1" dirty="0">
                <a:solidFill>
                  <a:srgbClr val="1A1A1A"/>
                </a:solidFill>
              </a:rPr>
              <a:t>LSL</a:t>
            </a:r>
          </a:p>
        </p:txBody>
      </p:sp>
      <p:sp>
        <p:nvSpPr>
          <p:cNvPr id="9102" name="LegSw2"/>
          <p:cNvSpPr/>
          <p:nvPr/>
        </p:nvSpPr>
        <p:spPr>
          <a:xfrm>
            <a:off x="2571750" y="4705350"/>
            <a:ext cx="133350" cy="1143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3" name="LegLbl2"/>
          <p:cNvSpPr txBox="1"/>
          <p:nvPr/>
        </p:nvSpPr>
        <p:spPr>
          <a:xfrm>
            <a:off x="2743200" y="47148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800" b="1" dirty="0">
                <a:solidFill>
                  <a:srgbClr val="1A1A1A"/>
                </a:solidFill>
              </a:rPr>
              <a:t>コマンド</a:t>
            </a:r>
          </a:p>
        </p:txBody>
      </p:sp>
      <p:sp>
        <p:nvSpPr>
          <p:cNvPr id="9104" name="LegSw3"/>
          <p:cNvSpPr/>
          <p:nvPr/>
        </p:nvSpPr>
        <p:spPr>
          <a:xfrm>
            <a:off x="3619500" y="4705350"/>
            <a:ext cx="133350" cy="114300"/>
          </a:xfrm>
          <a:prstGeom prst="rect">
            <a:avLst/>
          </a:prstGeom>
          <a:solidFill>
            <a:srgbClr val="3E8E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5" name="LegLbl3"/>
          <p:cNvSpPr txBox="1"/>
          <p:nvPr/>
        </p:nvSpPr>
        <p:spPr>
          <a:xfrm>
            <a:off x="3790950" y="47148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800" b="1" dirty="0">
                <a:solidFill>
                  <a:srgbClr val="1A1A1A"/>
                </a:solidFill>
              </a:rPr>
              <a:t>記録/アップロード</a:t>
            </a:r>
          </a:p>
        </p:txBody>
      </p:sp>
      <p:sp>
        <p:nvSpPr>
          <p:cNvPr id="9106" name="LegSw4"/>
          <p:cNvSpPr/>
          <p:nvPr/>
        </p:nvSpPr>
        <p:spPr>
          <a:xfrm>
            <a:off x="4667250" y="4705350"/>
            <a:ext cx="133350" cy="1143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7" name="LegLbl4"/>
          <p:cNvSpPr txBox="1"/>
          <p:nvPr/>
        </p:nvSpPr>
        <p:spPr>
          <a:xfrm>
            <a:off x="4838700" y="47148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800" b="1" dirty="0">
                <a:solidFill>
                  <a:srgbClr val="1A1A1A"/>
                </a:solidFill>
              </a:rPr>
              <a:t>ロジック</a:t>
            </a:r>
          </a:p>
        </p:txBody>
      </p:sp>
      <p:sp>
        <p:nvSpPr>
          <p:cNvPr id="9108" name="LegSw5"/>
          <p:cNvSpPr/>
          <p:nvPr/>
        </p:nvSpPr>
        <p:spPr>
          <a:xfrm>
            <a:off x="5715000" y="4705350"/>
            <a:ext cx="133350" cy="1143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9" name="LegLbl5"/>
          <p:cNvSpPr txBox="1"/>
          <p:nvPr/>
        </p:nvSpPr>
        <p:spPr>
          <a:xfrm>
            <a:off x="5886450" y="47148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800" b="1" dirty="0">
                <a:solidFill>
                  <a:srgbClr val="1A1A1A"/>
                </a:solidFill>
              </a:rPr>
              <a:t>監視/UI</a:t>
            </a:r>
          </a:p>
        </p:txBody>
      </p:sp>
      <p:sp>
        <p:nvSpPr>
          <p:cNvPr id="9110" name="LegSw6"/>
          <p:cNvSpPr/>
          <p:nvPr/>
        </p:nvSpPr>
        <p:spPr>
          <a:xfrm>
            <a:off x="6762750" y="4705350"/>
            <a:ext cx="133350" cy="1143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1" name="LegLbl6"/>
          <p:cNvSpPr txBox="1"/>
          <p:nvPr/>
        </p:nvSpPr>
        <p:spPr>
          <a:xfrm>
            <a:off x="6934200" y="47148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800" b="1" dirty="0">
                <a:solidFill>
                  <a:srgbClr val="1A1A1A"/>
                </a:solidFill>
              </a:rPr>
              <a:t>参照(破線)</a:t>
            </a:r>
          </a:p>
        </p:txBody>
      </p:sp>
      <p:sp>
        <p:nvSpPr>
          <p:cNvPr id="9112" name="ChaosCaption"/>
          <p:cNvSpPr txBox="1"/>
          <p:nvPr/>
        </p:nvSpPr>
        <p:spPr>
          <a:xfrm>
            <a:off x="285750" y="4972050"/>
            <a:ext cx="857250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800" i="1" dirty="0">
                <a:solidFill>
                  <a:srgbClr val="6B7280"/>
                </a:solidFill>
              </a:rPr>
              <a:t>「実線=メイン経路 / 破線=参照・補助経路」 — 普段の説明資料はこの粒度。今日はこれを6ステージに整理して読み解きます。</a:t>
            </a:r>
          </a:p>
        </p:txBody>
      </p:sp>
    </p:spTree>
    <p:extLst>
      <p:ext uri="{BB962C8B-B14F-4D97-AF65-F5344CB8AC3E}">
        <p14:creationId xmlns:p14="http://schemas.microsoft.com/office/powerpoint/2010/main" val="2028133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73F613-9E0D-7CF7-AB61-A9523B4E0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3200" b="1" dirty="0"/>
              <a:t>① システム俯瞰 — データの流れ</a:t>
            </a:r>
          </a:p>
        </p:txBody>
      </p:sp>
      <p:sp>
        <p:nvSpPr>
          <p:cNvPr id="2000" name="Stage1"/>
          <p:cNvSpPr/>
          <p:nvPr/>
        </p:nvSpPr>
        <p:spPr>
          <a:xfrm>
            <a:off x="698500" y="2540000"/>
            <a:ext cx="1714500" cy="13335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① 生成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EEGヘッドセット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(Pi-A)</a:t>
            </a:r>
          </a:p>
        </p:txBody>
      </p:sp>
      <p:sp>
        <p:nvSpPr>
          <p:cNvPr id="2100" name="Arrow1"/>
          <p:cNvSpPr/>
          <p:nvPr/>
        </p:nvSpPr>
        <p:spPr>
          <a:xfrm>
            <a:off x="2387600" y="3130550"/>
            <a:ext cx="152400" cy="1524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1" name="Stage2"/>
          <p:cNvSpPr/>
          <p:nvPr/>
        </p:nvSpPr>
        <p:spPr>
          <a:xfrm>
            <a:off x="2514600" y="2540000"/>
            <a:ext cx="1714500" cy="13335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② 転送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MQTT broker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(集約PC)</a:t>
            </a:r>
          </a:p>
        </p:txBody>
      </p:sp>
      <p:sp>
        <p:nvSpPr>
          <p:cNvPr id="2101" name="Arrow2"/>
          <p:cNvSpPr/>
          <p:nvPr/>
        </p:nvSpPr>
        <p:spPr>
          <a:xfrm>
            <a:off x="4203700" y="3130550"/>
            <a:ext cx="152400" cy="1524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2" name="Stage3"/>
          <p:cNvSpPr/>
          <p:nvPr/>
        </p:nvSpPr>
        <p:spPr>
          <a:xfrm>
            <a:off x="4330700" y="2540000"/>
            <a:ext cx="1714500" cy="13335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③ 加工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LSL stream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(集約PC)</a:t>
            </a:r>
          </a:p>
        </p:txBody>
      </p:sp>
      <p:sp>
        <p:nvSpPr>
          <p:cNvPr id="2102" name="Arrow3"/>
          <p:cNvSpPr/>
          <p:nvPr/>
        </p:nvSpPr>
        <p:spPr>
          <a:xfrm>
            <a:off x="6019800" y="3130550"/>
            <a:ext cx="152400" cy="1524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3" name="Stage4"/>
          <p:cNvSpPr/>
          <p:nvPr/>
        </p:nvSpPr>
        <p:spPr>
          <a:xfrm>
            <a:off x="6146800" y="2540000"/>
            <a:ext cx="1714500" cy="1333500"/>
          </a:xfrm>
          <a:prstGeom prst="roundRect">
            <a:avLst>
              <a:gd name="adj" fmla="val 10000"/>
            </a:avLst>
          </a:prstGeom>
          <a:solidFill>
            <a:srgbClr val="E07B00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④ 蓄積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TimescaleDB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+ オブジェクト</a:t>
            </a:r>
          </a:p>
        </p:txBody>
      </p:sp>
      <p:sp>
        <p:nvSpPr>
          <p:cNvPr id="2103" name="Arrow4"/>
          <p:cNvSpPr/>
          <p:nvPr/>
        </p:nvSpPr>
        <p:spPr>
          <a:xfrm>
            <a:off x="7835900" y="3130550"/>
            <a:ext cx="152400" cy="1524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4" name="Stage5"/>
          <p:cNvSpPr/>
          <p:nvPr/>
        </p:nvSpPr>
        <p:spPr>
          <a:xfrm>
            <a:off x="7962900" y="2540000"/>
            <a:ext cx="1714500" cy="13335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⑤ 判断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推論モデル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→ 制御コマンド</a:t>
            </a:r>
          </a:p>
        </p:txBody>
      </p:sp>
      <p:sp>
        <p:nvSpPr>
          <p:cNvPr id="2104" name="Arrow5"/>
          <p:cNvSpPr/>
          <p:nvPr/>
        </p:nvSpPr>
        <p:spPr>
          <a:xfrm>
            <a:off x="9652000" y="3130550"/>
            <a:ext cx="152400" cy="1524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5" name="Stage6"/>
          <p:cNvSpPr/>
          <p:nvPr/>
        </p:nvSpPr>
        <p:spPr>
          <a:xfrm>
            <a:off x="9779000" y="2540000"/>
            <a:ext cx="1714500" cy="13335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FFFFFF"/>
                </a:solidFill>
              </a:rPr>
              <a:t>⑥ 配信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Pi-B → Roomba</a:t>
            </a:r>
          </a:p>
          <a:p>
            <a:pPr algn="ctr">
              <a:buNone/>
            </a:pPr>
            <a:r>
              <a:rPr lang="ja-JP" sz="1100" dirty="0">
                <a:solidFill>
                  <a:srgbClr val="FFFFFF"/>
                </a:solidFill>
              </a:rPr>
              <a:t>(USB serial)</a:t>
            </a:r>
          </a:p>
        </p:txBody>
      </p:sp>
      <p:sp>
        <p:nvSpPr>
          <p:cNvPr id="2200" name="TopLabel"/>
          <p:cNvSpPr txBox="1"/>
          <p:nvPr/>
        </p:nvSpPr>
        <p:spPr>
          <a:xfrm>
            <a:off x="698500" y="2159000"/>
            <a:ext cx="10795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400" b="1" dirty="0">
                <a:solidFill>
                  <a:srgbClr val="4B5563"/>
                </a:solidFill>
              </a:rPr>
              <a:t>データの流れ →</a:t>
            </a:r>
          </a:p>
        </p:txBody>
      </p:sp>
      <p:sp>
        <p:nvSpPr>
          <p:cNvPr id="2300" name="Machine1"/>
          <p:cNvSpPr/>
          <p:nvPr/>
        </p:nvSpPr>
        <p:spPr>
          <a:xfrm>
            <a:off x="698500" y="4318000"/>
            <a:ext cx="1714500" cy="7620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dash"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ja-JP" sz="1400" b="1" dirty="0">
                <a:solidFill>
                  <a:srgbClr val="374151"/>
                </a:solidFill>
              </a:rPr>
              <a:t>Pi-A</a:t>
            </a:r>
          </a:p>
          <a:p>
            <a:pPr algn="ctr">
              <a:buNone/>
            </a:pPr>
            <a:r>
              <a:rPr lang="ja-JP" sz="1100" dirty="0">
                <a:solidFill>
                  <a:srgbClr val="6B7280"/>
                </a:solidFill>
              </a:rPr>
              <a:t>(センサ側)</a:t>
            </a:r>
          </a:p>
        </p:txBody>
      </p:sp>
      <p:sp>
        <p:nvSpPr>
          <p:cNvPr id="2301" name="Machine2"/>
          <p:cNvSpPr/>
          <p:nvPr/>
        </p:nvSpPr>
        <p:spPr>
          <a:xfrm>
            <a:off x="2514600" y="4318000"/>
            <a:ext cx="7162800" cy="762000"/>
          </a:xfrm>
          <a:prstGeom prst="rect">
            <a:avLst/>
          </a:prstGeom>
          <a:solidFill>
            <a:srgbClr val="FEF3E2"/>
          </a:solidFill>
          <a:ln w="6350">
            <a:solidFill>
              <a:srgbClr val="D1D5DB"/>
            </a:solidFill>
            <a:prstDash val="dash"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ja-JP" sz="1400" b="1" dirty="0">
                <a:solidFill>
                  <a:srgbClr val="374151"/>
                </a:solidFill>
              </a:rPr>
              <a:t>集約PC</a:t>
            </a:r>
          </a:p>
          <a:p>
            <a:pPr algn="ctr">
              <a:buNone/>
            </a:pPr>
            <a:r>
              <a:rPr lang="ja-JP" sz="1100" dirty="0">
                <a:solidFill>
                  <a:srgbClr val="6B7280"/>
                </a:solidFill>
              </a:rPr>
              <a:t>(MQTT + LSL + 推論 + DB)</a:t>
            </a:r>
          </a:p>
        </p:txBody>
      </p:sp>
      <p:sp>
        <p:nvSpPr>
          <p:cNvPr id="2302" name="Machine3"/>
          <p:cNvSpPr/>
          <p:nvPr/>
        </p:nvSpPr>
        <p:spPr>
          <a:xfrm>
            <a:off x="9779000" y="4318000"/>
            <a:ext cx="1714500" cy="7620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dash"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ja-JP" sz="1400" b="1" dirty="0">
                <a:solidFill>
                  <a:srgbClr val="374151"/>
                </a:solidFill>
              </a:rPr>
              <a:t>Pi-B</a:t>
            </a:r>
          </a:p>
          <a:p>
            <a:pPr algn="ctr">
              <a:buNone/>
            </a:pPr>
            <a:r>
              <a:rPr lang="ja-JP" sz="1100" dirty="0">
                <a:solidFill>
                  <a:srgbClr val="6B7280"/>
                </a:solidFill>
              </a:rPr>
              <a:t>(ロボット側)</a:t>
            </a:r>
          </a:p>
        </p:txBody>
      </p:sp>
      <p:sp>
        <p:nvSpPr>
          <p:cNvPr id="2400" name="MachineLabel"/>
          <p:cNvSpPr txBox="1"/>
          <p:nvPr/>
        </p:nvSpPr>
        <p:spPr>
          <a:xfrm>
            <a:off x="698500" y="40259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400" b="1" dirty="0">
                <a:solidFill>
                  <a:srgbClr val="4B5563"/>
                </a:solidFill>
              </a:rPr>
              <a:t>実行マシン</a:t>
            </a:r>
          </a:p>
        </p:txBody>
      </p:sp>
      <p:sp>
        <p:nvSpPr>
          <p:cNvPr id="2500" name="BottomNote"/>
          <p:cNvSpPr txBox="1"/>
          <p:nvPr/>
        </p:nvSpPr>
        <p:spPr>
          <a:xfrm>
            <a:off x="698500" y="5397500"/>
            <a:ext cx="10795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600" dirty="0"/>
              <a:t>このスライドが</a:t>
            </a:r>
            <a:r>
              <a:rPr lang="ja-JP" sz="1600" b="1" dirty="0">
                <a:solidFill>
                  <a:srgbClr val="E07B00"/>
                </a:solidFill>
              </a:rPr>
              <a:t>本日のホーム画面</a:t>
            </a:r>
            <a:r>
              <a:rPr lang="ja-JP" sz="1600" dirty="0"/>
              <a:t>です。次から各ブロックをズームしていきます。</a:t>
            </a:r>
          </a:p>
          <a:p>
            <a:pPr algn="l">
              <a:buNone/>
            </a:pPr>
            <a:r>
              <a:rPr lang="ja-JP" sz="1400" i="1" dirty="0">
                <a:solidFill>
                  <a:srgbClr val="6B7280"/>
                </a:solidFill>
              </a:rPr>
              <a:t>※ ハードウェア軸ではなく、データが「どこを通り、どこで形を変えるか」を軸にしています。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561590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4B622A-C9E4-ADBA-7C3A-ABD67424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6B7280"/>
                </a:solidFill>
              </a:rPr>
              <a:t>① 生成 ｜ </a:t>
            </a:r>
            <a:r>
              <a:rPr lang="ja-JP" sz="3200" b="1" dirty="0"/>
              <a:t>センサとデバイス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452EC3-006F-FAE0-0F6D-77F5C7C3F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sz="2000" b="1" dirty="0">
                <a:solidFill>
                  <a:srgbClr val="1F4E79"/>
                </a:solidFill>
              </a:rPr>
              <a:t>EEG ヘッドセット (PiEEG) — Raspberry Pi に直結したセンサ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頭皮に貼る電極 → アナログ電圧 → ADC → デジタル値の時系列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サンプルあたり </a:t>
            </a:r>
            <a:r>
              <a:rPr lang="ja-JP" sz="1800" b="1" dirty="0">
                <a:solidFill>
                  <a:srgbClr val="E07B00"/>
                </a:solidFill>
              </a:rPr>
              <a:t>8チャンネル × float32</a:t>
            </a:r>
            <a:r>
              <a:rPr lang="ja-JP" sz="1800" dirty="0"/>
              <a:t> (= 32 byte) を </a:t>
            </a:r>
            <a:r>
              <a:rPr lang="ja-JP" sz="1800" b="1" dirty="0">
                <a:solidFill>
                  <a:srgbClr val="E07B00"/>
                </a:solidFill>
              </a:rPr>
              <a:t>250 Hz</a:t>
            </a:r>
            <a:r>
              <a:rPr lang="ja-JP" sz="1800" dirty="0"/>
              <a:t> で吐き続ける</a:t>
            </a:r>
          </a:p>
          <a:p>
            <a:pPr marL="0" indent="0">
              <a:buNone/>
            </a:pPr>
            <a:r>
              <a:rPr lang="ja-JP" sz="1200" dirty="0">
                <a:solidFill>
                  <a:srgbClr val="6B7280"/>
                </a:solidFill>
              </a:rPr>
              <a:t> </a:t>
            </a:r>
          </a:p>
          <a:p>
            <a:pPr marL="0" indent="0">
              <a:buNone/>
            </a:pPr>
            <a:r>
              <a:rPr lang="ja-JP" sz="2000" b="1" dirty="0">
                <a:solidFill>
                  <a:srgbClr val="1F4E79"/>
                </a:solidFill>
              </a:rPr>
              <a:t>生成側マシン: Pi-A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センサと「同じハードに乗っている」のがポイント — ここから先は普通のIPネットワーク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Pi-A の役割は</a:t>
            </a:r>
            <a:r>
              <a:rPr lang="ja-JP" sz="1800" b="1" dirty="0"/>
              <a:t>「センサの薄いラッパー」</a:t>
            </a:r>
            <a:r>
              <a:rPr lang="ja-JP" sz="1800" dirty="0"/>
              <a:t> — 推論も保存もしない</a:t>
            </a:r>
          </a:p>
        </p:txBody>
      </p:sp>
    </p:spTree>
    <p:extLst>
      <p:ext uri="{BB962C8B-B14F-4D97-AF65-F5344CB8AC3E}">
        <p14:creationId xmlns:p14="http://schemas.microsoft.com/office/powerpoint/2010/main" val="201054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EBDDF1-2294-63E1-D3EB-D4B7AB21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6B7280"/>
                </a:solidFill>
              </a:rPr>
              <a:t>① 生成 ｜ </a:t>
            </a:r>
            <a:r>
              <a:rPr lang="ja-JP" sz="3200" b="1" dirty="0"/>
              <a:t>データの形と量</a:t>
            </a:r>
          </a:p>
        </p:txBody>
      </p:sp>
      <p:sp>
        <p:nvSpPr>
          <p:cNvPr id="3000" name="Card1"/>
          <p:cNvSpPr/>
          <p:nvPr/>
        </p:nvSpPr>
        <p:spPr>
          <a:xfrm>
            <a:off x="1143000" y="21590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1F4E79"/>
            </a:solidFill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ja-JP" sz="1400" b="1" dirty="0">
                <a:solidFill>
                  <a:srgbClr val="6B7280"/>
                </a:solidFill>
              </a:rPr>
              <a:t>1サンプル</a:t>
            </a:r>
          </a:p>
          <a:p>
            <a:pPr algn="ctr">
              <a:buNone/>
            </a:pPr>
            <a:r>
              <a:rPr lang="ja-JP" sz="3600" b="1" dirty="0">
                <a:solidFill>
                  <a:srgbClr val="1F4E79"/>
                </a:solidFill>
              </a:rPr>
              <a:t>64 byte</a:t>
            </a:r>
          </a:p>
          <a:p>
            <a:pPr algn="ctr">
              <a:buNone/>
            </a:pPr>
            <a:r>
              <a:rPr lang="ja-JP" sz="1400" dirty="0">
                <a:solidFill>
                  <a:srgbClr val="4B5563"/>
                </a:solidFill>
              </a:rPr>
              <a:t>16ch × 24bit ΔΣ ADC</a:t>
            </a:r>
          </a:p>
          <a:p>
            <a:pPr algn="ctr">
              <a:buNone/>
            </a:pPr>
            <a:r>
              <a:rPr lang="ja-JP" sz="1100" dirty="0">
                <a:solidFill>
                  <a:srgbClr val="6B7280"/>
                </a:solidFill>
              </a:rPr>
              <a:t>(内部表現 4B/ch)</a:t>
            </a:r>
          </a:p>
        </p:txBody>
      </p:sp>
      <p:sp>
        <p:nvSpPr>
          <p:cNvPr id="3001" name="Card2"/>
          <p:cNvSpPr/>
          <p:nvPr/>
        </p:nvSpPr>
        <p:spPr>
          <a:xfrm>
            <a:off x="4572000" y="21590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1F4E79"/>
            </a:solidFill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ja-JP" sz="1400" b="1" dirty="0">
                <a:solidFill>
                  <a:srgbClr val="6B7280"/>
                </a:solidFill>
              </a:rPr>
              <a:t>1秒</a:t>
            </a:r>
          </a:p>
          <a:p>
            <a:pPr algn="ctr">
              <a:buNone/>
            </a:pPr>
            <a:r>
              <a:rPr lang="ja-JP" sz="3600" b="1" dirty="0">
                <a:solidFill>
                  <a:srgbClr val="1F4E79"/>
                </a:solidFill>
              </a:rPr>
              <a:t>16 KB</a:t>
            </a:r>
          </a:p>
          <a:p>
            <a:pPr algn="ctr">
              <a:buNone/>
            </a:pPr>
            <a:r>
              <a:rPr lang="ja-JP" sz="1400" dirty="0">
                <a:solidFill>
                  <a:srgbClr val="4B5563"/>
                </a:solidFill>
              </a:rPr>
              <a:t>250サンプル × 64B</a:t>
            </a:r>
          </a:p>
          <a:p>
            <a:pPr algn="ctr">
              <a:buNone/>
            </a:pPr>
            <a:r>
              <a:rPr lang="ja-JP" sz="1100" dirty="0">
                <a:solidFill>
                  <a:srgbClr val="6B7280"/>
                </a:solidFill>
              </a:rPr>
              <a:t>(ペイロードは約 12 KB)</a:t>
            </a:r>
          </a:p>
        </p:txBody>
      </p:sp>
      <p:sp>
        <p:nvSpPr>
          <p:cNvPr id="3002" name="Card3"/>
          <p:cNvSpPr/>
          <p:nvPr/>
        </p:nvSpPr>
        <p:spPr>
          <a:xfrm>
            <a:off x="8001000" y="2159000"/>
            <a:ext cx="3048000" cy="1651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1F4E79"/>
            </a:solidFill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ja-JP" sz="1400" b="1" dirty="0">
                <a:solidFill>
                  <a:srgbClr val="6B7280"/>
                </a:solidFill>
              </a:rPr>
              <a:t>1分</a:t>
            </a:r>
          </a:p>
          <a:p>
            <a:pPr algn="ctr">
              <a:buNone/>
            </a:pPr>
            <a:r>
              <a:rPr lang="ja-JP" sz="3600" b="1" dirty="0">
                <a:solidFill>
                  <a:srgbClr val="1F4E79"/>
                </a:solidFill>
              </a:rPr>
              <a:t>≈ 960 KB</a:t>
            </a:r>
          </a:p>
          <a:p>
            <a:pPr algn="ctr">
              <a:buNone/>
            </a:pPr>
            <a:r>
              <a:rPr lang="ja-JP" sz="1400" dirty="0">
                <a:solidFill>
                  <a:srgbClr val="4B5563"/>
                </a:solidFill>
              </a:rPr>
              <a:t>= 1セッション分</a:t>
            </a:r>
          </a:p>
          <a:p>
            <a:pPr algn="ctr">
              <a:buNone/>
            </a:pPr>
            <a:r>
              <a:rPr lang="ja-JP" sz="1100" dirty="0">
                <a:solidFill>
                  <a:srgbClr val="6B7280"/>
                </a:solidFill>
              </a:rPr>
              <a:t>(うちαは ch 6,7 のみ)</a:t>
            </a:r>
          </a:p>
        </p:txBody>
      </p:sp>
      <p:sp>
        <p:nvSpPr>
          <p:cNvPr id="3100" name="Insight"/>
          <p:cNvSpPr/>
          <p:nvPr/>
        </p:nvSpPr>
        <p:spPr>
          <a:xfrm>
            <a:off x="838200" y="4254500"/>
            <a:ext cx="10515600" cy="177800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txBody>
          <a:bodyPr wrap="square" lIns="228600" tIns="171450" rIns="228600" bIns="171450" anchor="t"/>
          <a:lstStyle/>
          <a:p>
            <a:pPr algn="l">
              <a:buNone/>
            </a:pPr>
            <a:r>
              <a:rPr lang="ja-JP" sz="1600" b="1" dirty="0">
                <a:solidFill>
                  <a:srgbClr val="E07B00"/>
                </a:solidFill>
              </a:rPr>
              <a:t>データエンジニア視点での示唆</a:t>
            </a:r>
          </a:p>
          <a:p>
            <a:pPr marL="228600" indent="-228600" algn="l">
              <a:buFont typeface="Arial"/>
              <a:buChar char="•"/>
            </a:pPr>
            <a:r>
              <a:rPr lang="ja-JP" sz="1600" dirty="0"/>
              <a:t>帯域は小さい — しかし</a:t>
            </a:r>
            <a:r>
              <a:rPr lang="ja-JP" sz="1600" b="1" dirty="0"/>
              <a:t>「止まらない」「順番が崩れない」</a:t>
            </a:r>
            <a:r>
              <a:rPr lang="ja-JP" sz="1600" dirty="0"/>
              <a:t>ことが要件</a:t>
            </a:r>
          </a:p>
          <a:p>
            <a:pPr marL="228600" indent="-228600" algn="l">
              <a:buFont typeface="Arial"/>
              <a:buChar char="•"/>
            </a:pPr>
            <a:r>
              <a:rPr lang="ja-JP" sz="1600" dirty="0"/>
              <a:t>250 Hz = 4ms ごとに1サンプル → 数100msの遅延でも体感に響く</a:t>
            </a:r>
          </a:p>
        </p:txBody>
      </p:sp>
    </p:spTree>
    <p:extLst>
      <p:ext uri="{BB962C8B-B14F-4D97-AF65-F5344CB8AC3E}">
        <p14:creationId xmlns:p14="http://schemas.microsoft.com/office/powerpoint/2010/main" val="374994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BFAB76-1C2E-CC08-3B03-D7B416B03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6B7280"/>
                </a:solidFill>
              </a:rPr>
              <a:t>② 転送 ｜ </a:t>
            </a:r>
            <a:r>
              <a:rPr lang="ja-JP" sz="3200" b="1" dirty="0"/>
              <a:t>MQTT とは — 30秒で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97CFEB-7D08-0D1A-25DF-6F738C9CC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sz="2000" dirty="0"/>
              <a:t>一言で: </a:t>
            </a:r>
            <a:r>
              <a:rPr lang="ja-JP" sz="2000" b="1" dirty="0">
                <a:solidFill>
                  <a:srgbClr val="E07B00"/>
                </a:solidFill>
              </a:rPr>
              <a:t>軽量な pub/sub のメッセージブローカー</a:t>
            </a:r>
          </a:p>
          <a:p>
            <a:pPr marL="0" indent="0">
              <a:buNone/>
            </a:pPr>
            <a:r>
              <a:rPr lang="ja-JP" sz="1200" dirty="0"/>
              <a:t> </a:t>
            </a:r>
          </a:p>
          <a:p>
            <a:pPr marL="342900" indent="-342900">
              <a:buFont typeface="Arial"/>
              <a:buChar char="•"/>
            </a:pPr>
            <a:r>
              <a:rPr lang="ja-JP" sz="1800" b="1" dirty="0">
                <a:solidFill>
                  <a:srgbClr val="1F4E79"/>
                </a:solidFill>
              </a:rPr>
              <a:t>Topic</a:t>
            </a:r>
            <a:r>
              <a:rPr lang="ja-JP" sz="1800" dirty="0"/>
              <a:t>: 文字列のパス ( 例: </a:t>
            </a:r>
            <a:r>
              <a:rPr lang="ja-JP" sz="1800" dirty="0">
                <a:latin typeface="Consolas"/>
              </a:rPr>
              <a:t>eeg/raw</a:t>
            </a:r>
            <a:r>
              <a:rPr lang="ja-JP" sz="1800" dirty="0"/>
              <a:t> , </a:t>
            </a:r>
            <a:r>
              <a:rPr lang="ja-JP" sz="1800" dirty="0">
                <a:latin typeface="Consolas"/>
              </a:rPr>
              <a:t>roomba/cmd</a:t>
            </a:r>
            <a:r>
              <a:rPr lang="ja-JP" sz="1800" dirty="0"/>
              <a:t> )</a:t>
            </a:r>
          </a:p>
          <a:p>
            <a:pPr marL="342900" indent="-342900">
              <a:buFont typeface="Arial"/>
              <a:buChar char="•"/>
            </a:pPr>
            <a:r>
              <a:rPr lang="ja-JP" sz="1800" b="1" dirty="0">
                <a:solidFill>
                  <a:srgbClr val="1F4E79"/>
                </a:solidFill>
              </a:rPr>
              <a:t>Publisher</a:t>
            </a:r>
            <a:r>
              <a:rPr lang="ja-JP" sz="1800" dirty="0"/>
              <a:t> が topic に投げる、</a:t>
            </a:r>
            <a:r>
              <a:rPr lang="ja-JP" sz="1800" b="1" dirty="0">
                <a:solidFill>
                  <a:srgbClr val="1F4E79"/>
                </a:solidFill>
              </a:rPr>
              <a:t>Subscriber</a:t>
            </a:r>
            <a:r>
              <a:rPr lang="ja-JP" sz="1800" dirty="0"/>
              <a:t> が受け取る (Kafka と似た発想)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ペイロードは中身を問わない (バイナリ可)</a:t>
            </a:r>
          </a:p>
          <a:p>
            <a:pPr marL="0" indent="0">
              <a:buNone/>
            </a:pPr>
            <a:r>
              <a:rPr lang="ja-JP" sz="1200" dirty="0"/>
              <a:t> </a:t>
            </a:r>
          </a:p>
          <a:p>
            <a:pPr marL="0" indent="0">
              <a:buNone/>
            </a:pPr>
            <a:r>
              <a:rPr lang="ja-JP" sz="1800" b="1" dirty="0"/>
              <a:t>今回の鍵となる2つの機能</a:t>
            </a:r>
          </a:p>
          <a:p>
            <a:pPr marL="342900" indent="-342900">
              <a:buFont typeface="Arial"/>
              <a:buChar char="•"/>
            </a:pPr>
            <a:r>
              <a:rPr lang="ja-JP" sz="1800" b="1" dirty="0">
                <a:solidFill>
                  <a:srgbClr val="E07B00"/>
                </a:solidFill>
              </a:rPr>
              <a:t>retain</a:t>
            </a:r>
            <a:r>
              <a:rPr lang="ja-JP" sz="1800" dirty="0"/>
              <a:t> : 「最後の値」をブローカーが覚えていて、後から繋いだ subscriber にも即配る</a:t>
            </a:r>
          </a:p>
          <a:p>
            <a:pPr marL="342900" indent="-342900">
              <a:buFont typeface="Arial"/>
              <a:buChar char="•"/>
            </a:pPr>
            <a:r>
              <a:rPr lang="ja-JP" sz="1800" b="1" dirty="0">
                <a:solidFill>
                  <a:srgbClr val="E07B00"/>
                </a:solidFill>
              </a:rPr>
              <a:t>last-will</a:t>
            </a:r>
            <a:r>
              <a:rPr lang="ja-JP" sz="1800" dirty="0"/>
              <a:t> : クライアントが落ちたとき「遺言」を自動配信 → 状態管理が楽になる</a:t>
            </a:r>
          </a:p>
        </p:txBody>
      </p:sp>
    </p:spTree>
    <p:extLst>
      <p:ext uri="{BB962C8B-B14F-4D97-AF65-F5344CB8AC3E}">
        <p14:creationId xmlns:p14="http://schemas.microsoft.com/office/powerpoint/2010/main" val="1202355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9D6D72-E81A-5F20-DC64-5C10DFD7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6B7280"/>
                </a:solidFill>
              </a:rPr>
              <a:t>② 転送 ｜ </a:t>
            </a:r>
            <a:r>
              <a:rPr lang="ja-JP" sz="3200" b="1" dirty="0"/>
              <a:t>このシステムでの使い方</a:t>
            </a:r>
          </a:p>
        </p:txBody>
      </p:sp>
      <p:sp>
        <p:nvSpPr>
          <p:cNvPr id="4000" name="Node0"/>
          <p:cNvSpPr/>
          <p:nvPr/>
        </p:nvSpPr>
        <p:spPr>
          <a:xfrm>
            <a:off x="1143000" y="2476500"/>
            <a:ext cx="1905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1F4E79"/>
                </a:solidFill>
              </a:rPr>
              <a:t>Pi-A</a:t>
            </a:r>
          </a:p>
          <a:p>
            <a:pPr algn="ctr">
              <a:buNone/>
            </a:pPr>
            <a:r>
              <a:rPr lang="ja-JP" sz="1200" dirty="0">
                <a:solidFill>
                  <a:srgbClr val="6B7280"/>
                </a:solidFill>
              </a:rPr>
              <a:t>EEG 取得 (LSL outlet)</a:t>
            </a:r>
          </a:p>
        </p:txBody>
      </p:sp>
      <p:sp>
        <p:nvSpPr>
          <p:cNvPr id="4001" name="Node1"/>
          <p:cNvSpPr/>
          <p:nvPr/>
        </p:nvSpPr>
        <p:spPr>
          <a:xfrm>
            <a:off x="5080000" y="2476500"/>
            <a:ext cx="1905000" cy="11430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19050">
            <a:solidFill>
              <a:srgbClr val="1F4E79"/>
            </a:solidFill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ja-JP" sz="1800" b="1" dirty="0">
                <a:solidFill>
                  <a:srgbClr val="FFFFFF"/>
                </a:solidFill>
              </a:rPr>
              <a:t>集約PC</a:t>
            </a:r>
          </a:p>
          <a:p>
            <a:pPr algn="ctr">
              <a:buNone/>
            </a:pPr>
            <a:r>
              <a:rPr lang="ja-JP" sz="1200" dirty="0">
                <a:solidFill>
                  <a:srgbClr val="FFFFFF"/>
                </a:solidFill>
              </a:rPr>
              <a:t>LSL inlet → 推論</a:t>
            </a:r>
          </a:p>
          <a:p>
            <a:pPr algn="ctr">
              <a:buNone/>
            </a:pPr>
            <a:r>
              <a:rPr lang="ja-JP" sz="1200" dirty="0">
                <a:solidFill>
                  <a:srgbClr val="FFFFFF"/>
                </a:solidFill>
              </a:rPr>
              <a:t>+ Mosquitto (MQTT broker)</a:t>
            </a:r>
          </a:p>
        </p:txBody>
      </p:sp>
      <p:sp>
        <p:nvSpPr>
          <p:cNvPr id="4002" name="Node2"/>
          <p:cNvSpPr/>
          <p:nvPr/>
        </p:nvSpPr>
        <p:spPr>
          <a:xfrm>
            <a:off x="9144000" y="2476500"/>
            <a:ext cx="1905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ja-JP" sz="2000" b="1" dirty="0">
                <a:solidFill>
                  <a:srgbClr val="1F4E79"/>
                </a:solidFill>
              </a:rPr>
              <a:t>Pi-B</a:t>
            </a:r>
          </a:p>
          <a:p>
            <a:pPr algn="ctr">
              <a:buNone/>
            </a:pPr>
            <a:r>
              <a:rPr lang="ja-JP" sz="1200" dirty="0">
                <a:solidFill>
                  <a:srgbClr val="6B7280"/>
                </a:solidFill>
              </a:rPr>
              <a:t>制御 (MQTT subscriber)</a:t>
            </a:r>
          </a:p>
        </p:txBody>
      </p:sp>
      <p:sp>
        <p:nvSpPr>
          <p:cNvPr id="4100" name="Arr1"/>
          <p:cNvSpPr/>
          <p:nvPr/>
        </p:nvSpPr>
        <p:spPr>
          <a:xfrm>
            <a:off x="3073400" y="2984500"/>
            <a:ext cx="1981200" cy="1270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0" name="TopLbl1"/>
          <p:cNvSpPr txBox="1"/>
          <p:nvPr/>
        </p:nvSpPr>
        <p:spPr>
          <a:xfrm>
            <a:off x="3073400" y="2565400"/>
            <a:ext cx="19812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300" b="1" dirty="0">
                <a:solidFill>
                  <a:srgbClr val="E07B00"/>
                </a:solidFill>
              </a:rPr>
              <a:t>LSL (UDP multicast + TCP)</a:t>
            </a:r>
          </a:p>
          <a:p>
            <a:pPr algn="ctr">
              <a:buNone/>
            </a:pPr>
            <a:r>
              <a:rPr lang="en-US" sz="1100" dirty="0">
                <a:solidFill>
                  <a:srgbClr val="6B7280"/>
                </a:solidFill>
                <a:latin typeface="Consolas"/>
              </a:rPr>
              <a:t>EEG_16ch_250</a:t>
            </a:r>
          </a:p>
        </p:txBody>
      </p:sp>
      <p:sp>
        <p:nvSpPr>
          <p:cNvPr id="4101" name="Arr2"/>
          <p:cNvSpPr/>
          <p:nvPr/>
        </p:nvSpPr>
        <p:spPr>
          <a:xfrm>
            <a:off x="7010400" y="2984500"/>
            <a:ext cx="2108200" cy="1270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1" name="TopLbl2"/>
          <p:cNvSpPr txBox="1"/>
          <p:nvPr/>
        </p:nvSpPr>
        <p:spPr>
          <a:xfrm>
            <a:off x="7010400" y="2565400"/>
            <a:ext cx="21082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300" b="1" dirty="0">
                <a:solidFill>
                  <a:srgbClr val="1F4E79"/>
                </a:solidFill>
              </a:rPr>
              <a:t>MQTT (TCP)</a:t>
            </a:r>
          </a:p>
          <a:p>
            <a:pPr algn="ctr">
              <a:buNone/>
            </a:pPr>
            <a:r>
              <a:rPr lang="en-US" sz="1100" dirty="0">
                <a:solidFill>
                  <a:srgbClr val="6B7280"/>
                </a:solidFill>
                <a:latin typeface="Consolas"/>
              </a:rPr>
              <a:t>roomba/cmd</a:t>
            </a:r>
          </a:p>
        </p:txBody>
      </p:sp>
      <p:sp>
        <p:nvSpPr>
          <p:cNvPr id="4200" name="Why"/>
          <p:cNvSpPr/>
          <p:nvPr/>
        </p:nvSpPr>
        <p:spPr>
          <a:xfrm>
            <a:off x="838200" y="4127500"/>
            <a:ext cx="105156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ja-JP" sz="1800" b="1" dirty="0">
                <a:solidFill>
                  <a:srgbClr val="1F4E79"/>
                </a:solidFill>
              </a:rPr>
              <a:t>MQTT を選んだ理由 (制御コマンド側)</a:t>
            </a:r>
          </a:p>
          <a:p>
            <a:pPr marL="342900" indent="-342900" algn="l">
              <a:buFont typeface="Arial"/>
              <a:buChar char="•"/>
            </a:pPr>
            <a:r>
              <a:rPr lang="ja-JP" sz="1600" dirty="0"/>
              <a:t>PC 内コンテナ群 (推論/監視) + Pi-B が「お互いの IP を直接知らなくていい」 — broker さえ見えれば動く</a:t>
            </a:r>
          </a:p>
          <a:p>
            <a:pPr marL="342900" indent="-342900" algn="l">
              <a:buFont typeface="Arial"/>
              <a:buChar char="•"/>
            </a:pPr>
            <a:r>
              <a:rPr lang="ja-JP" sz="1600" dirty="0"/>
              <a:t>制御コマンドは </a:t>
            </a:r>
            <a:r>
              <a:rPr lang="ja-JP" sz="1600" b="1" dirty="0">
                <a:solidFill>
                  <a:srgbClr val="E07B00"/>
                </a:solidFill>
              </a:rPr>
              <a:t>retain=true</a:t>
            </a:r>
            <a:r>
              <a:rPr lang="ja-JP" sz="1600" dirty="0"/>
              <a:t> → Pi-B 再起動でも「最新コマンド」を即取得</a:t>
            </a:r>
          </a:p>
          <a:p>
            <a:pPr marL="342900" indent="-342900" algn="l">
              <a:buFont typeface="Arial"/>
              <a:buChar char="•"/>
            </a:pPr>
            <a:r>
              <a:rPr lang="ja-JP" sz="1600" dirty="0"/>
              <a:t>推論コンテナが落ちたら </a:t>
            </a:r>
            <a:r>
              <a:rPr lang="ja-JP" sz="1600" b="1" dirty="0">
                <a:solidFill>
                  <a:srgbClr val="E07B00"/>
                </a:solidFill>
              </a:rPr>
              <a:t>last-will</a:t>
            </a:r>
            <a:r>
              <a:rPr lang="ja-JP" sz="1600" dirty="0"/>
              <a:t> でロボットを自動停止 → ハートビート実装が要らない</a:t>
            </a:r>
          </a:p>
          <a:p>
            <a:pPr marL="0" indent="0" algn="l">
              <a:buNone/>
            </a:pPr>
            <a:r>
              <a:rPr lang="ja-JP" sz="1100" dirty="0"/>
              <a:t> </a:t>
            </a:r>
          </a:p>
          <a:p>
            <a:pPr marL="0" indent="0" algn="l">
              <a:buNone/>
            </a:pPr>
            <a:r>
              <a:rPr lang="ja-JP" sz="1300" i="1" dirty="0">
                <a:solidFill>
                  <a:srgbClr val="6B7280"/>
                </a:solidFill>
              </a:rPr>
              <a:t>※ センサ→PC 側 (高頻度の生波形) は MQTT ではなく LSL を使用。理由は次スライド (③加工) で。</a:t>
            </a:r>
          </a:p>
        </p:txBody>
      </p:sp>
    </p:spTree>
    <p:extLst>
      <p:ext uri="{BB962C8B-B14F-4D97-AF65-F5344CB8AC3E}">
        <p14:creationId xmlns:p14="http://schemas.microsoft.com/office/powerpoint/2010/main" val="106412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FC4897-2E8F-E491-E80F-57E1D827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3200" b="1" dirty="0"/>
              <a:t>余談: MQTT と Kafka はどう違う?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C676AC-7DC7-F683-8283-5F095900D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sz="1700" i="1" dirty="0">
                <a:solidFill>
                  <a:srgbClr val="6B7280"/>
                </a:solidFill>
              </a:rPr>
              <a:t>「pub/sub なら Kafka でいいのでは?」とよく聞かれるので。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MQTT</a:t>
            </a:r>
            <a:r>
              <a:rPr lang="ja-JP" sz="1600" dirty="0"/>
              <a:t> — </a:t>
            </a:r>
            <a:r>
              <a:rPr lang="ja-JP" sz="1600" b="1" dirty="0"/>
              <a:t>「軽量な現在値の交換」が得意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ペイロード小・低遅延・トピックは木構造の文字列 (</a:t>
            </a:r>
            <a:r>
              <a:rPr lang="ja-JP" sz="1500" dirty="0">
                <a:latin typeface="Consolas"/>
              </a:rPr>
              <a:t>roomba/cmd</a:t>
            </a:r>
            <a:r>
              <a:rPr lang="ja-JP" sz="1500" dirty="0"/>
              <a:t>)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retain で「最新値」、last-will で「死活」 → IoT/制御向けの便利機能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broker は基本</a:t>
            </a:r>
            <a:r>
              <a:rPr lang="ja-JP" sz="1500" b="1" dirty="0"/>
              <a:t>揮発</a:t>
            </a:r>
            <a:r>
              <a:rPr lang="ja-JP" sz="1500" dirty="0"/>
              <a:t> — 過去ログは取れない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E07B00"/>
                </a:solidFill>
              </a:rPr>
              <a:t>Kafka</a:t>
            </a:r>
            <a:r>
              <a:rPr lang="ja-JP" sz="1600" dirty="0"/>
              <a:t> — </a:t>
            </a:r>
            <a:r>
              <a:rPr lang="ja-JP" sz="1600" b="1" dirty="0"/>
              <a:t>「全イベントを永続ログとして残す」が得意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topic は </a:t>
            </a:r>
            <a:r>
              <a:rPr lang="ja-JP" sz="1500" b="1" dirty="0"/>
              <a:t>追記型のログ</a:t>
            </a:r>
            <a:r>
              <a:rPr lang="ja-JP" sz="1500" dirty="0"/>
              <a:t> — 過去に巻き戻して再生できる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パーティション + コンシューマグループで水平スケール、再起動でも offset 管理で安全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その代わり broker は重い (Zookeeper や KRaft 込み)、最小遅延では MQTT に負ける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500" b="1" dirty="0">
                <a:solidFill>
                  <a:srgbClr val="1F4E79"/>
                </a:solidFill>
              </a:rPr>
              <a:t>今回の選択: </a:t>
            </a:r>
            <a:r>
              <a:rPr lang="ja-JP" sz="1500" dirty="0"/>
              <a:t>「最新値が分かれば十分・低遅延・組み込みも繋ぐ」要件なので MQTT。ログ再生が要件になれば Kafka 併用も検討余地あり。</a:t>
            </a:r>
          </a:p>
        </p:txBody>
      </p:sp>
    </p:spTree>
    <p:extLst>
      <p:ext uri="{BB962C8B-B14F-4D97-AF65-F5344CB8AC3E}">
        <p14:creationId xmlns:p14="http://schemas.microsoft.com/office/powerpoint/2010/main" val="2138784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75FE6D-98C9-50DD-B657-4C2D70E4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6B7280"/>
                </a:solidFill>
              </a:rPr>
              <a:t>③ 加工 ｜ </a:t>
            </a:r>
            <a:r>
              <a:rPr lang="ja-JP" sz="3200" b="1" dirty="0"/>
              <a:t>LSL とは — 30秒で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0A73DB-B58F-9286-D448-DDCE2790F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sz="2000" dirty="0"/>
              <a:t>一言で: </a:t>
            </a:r>
            <a:r>
              <a:rPr lang="ja-JP" sz="2000" b="1" dirty="0">
                <a:solidFill>
                  <a:srgbClr val="E07B00"/>
                </a:solidFill>
              </a:rPr>
              <a:t>時系列ストリーム + 時刻同期</a:t>
            </a:r>
            <a:r>
              <a:rPr lang="ja-JP" sz="2000" dirty="0"/>
              <a:t> がワンセットの中継規格</a:t>
            </a:r>
          </a:p>
          <a:p>
            <a:pPr marL="0" indent="0">
              <a:buNone/>
            </a:pPr>
            <a:r>
              <a:rPr lang="ja-JP" sz="1200" dirty="0"/>
              <a:t> </a:t>
            </a:r>
          </a:p>
          <a:p>
            <a:pPr marL="0" indent="0">
              <a:buNone/>
            </a:pPr>
            <a:r>
              <a:rPr lang="ja-JP" sz="1800" b="1" dirty="0"/>
              <a:t>Lab Streaming Layer (脳波/生体信号系で定番)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「stream」という単位で </a:t>
            </a:r>
            <a:r>
              <a:rPr lang="ja-JP" sz="1800" b="1" dirty="0">
                <a:solidFill>
                  <a:srgbClr val="1F4E79"/>
                </a:solidFill>
              </a:rPr>
              <a:t>chunk + timestamp</a:t>
            </a:r>
            <a:r>
              <a:rPr lang="ja-JP" sz="1800" dirty="0"/>
              <a:t> を流す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サンプリングレート / チャンネル数 / dtype が </a:t>
            </a:r>
            <a:r>
              <a:rPr lang="ja-JP" sz="1800" b="1" dirty="0"/>
              <a:t>スキーマとして固定</a:t>
            </a:r>
            <a:r>
              <a:rPr lang="ja-JP" sz="1800" dirty="0"/>
              <a:t> される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時刻合わせを </a:t>
            </a:r>
            <a:r>
              <a:rPr lang="ja-JP" sz="1800" b="1" dirty="0">
                <a:solidFill>
                  <a:srgbClr val="E07B00"/>
                </a:solidFill>
              </a:rPr>
              <a:t>LSL 側がやってくれる</a:t>
            </a:r>
            <a:r>
              <a:rPr lang="ja-JP" sz="1800" dirty="0"/>
              <a:t> — NTP 風の補正を自前で書かなくていい</a:t>
            </a:r>
          </a:p>
          <a:p>
            <a:pPr marL="342900" indent="-342900">
              <a:buFont typeface="Arial"/>
              <a:buChar char="•"/>
            </a:pPr>
            <a:r>
              <a:rPr lang="ja-JP" sz="1800" dirty="0"/>
              <a:t>transport は </a:t>
            </a:r>
            <a:r>
              <a:rPr lang="ja-JP" sz="1800" b="1" dirty="0"/>
              <a:t>UDP マルチキャスト (検出) + TCP (転送)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500" i="1" dirty="0">
                <a:solidFill>
                  <a:srgbClr val="C0392B"/>
                </a:solidFill>
              </a:rPr>
              <a:t>※ LSL は一般にはマシン内プロセス間で使われますが、本プロジェクトでは Pi-A → PC を LAN で跨いで使っています。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565317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22AAEF-CFBD-C927-D5C6-1D8A9A15F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6B7280"/>
                </a:solidFill>
              </a:rPr>
              <a:t>③ 加工 ｜ </a:t>
            </a:r>
            <a:r>
              <a:rPr lang="ja-JP" sz="3200" b="1" dirty="0"/>
              <a:t>パイプラインの中身</a:t>
            </a:r>
          </a:p>
        </p:txBody>
      </p:sp>
      <p:sp>
        <p:nvSpPr>
          <p:cNvPr id="5000" name="Step0"/>
          <p:cNvSpPr/>
          <p:nvPr/>
        </p:nvSpPr>
        <p:spPr>
          <a:xfrm>
            <a:off x="889000" y="2095500"/>
            <a:ext cx="3302000" cy="7112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l">
              <a:buNone/>
            </a:pPr>
            <a:r>
              <a:rPr lang="ja-JP" sz="1600" b="1" dirty="0">
                <a:solidFill>
                  <a:srgbClr val="FFFFFF"/>
                </a:solidFill>
              </a:rPr>
              <a:t>LSL inlet</a:t>
            </a:r>
          </a:p>
          <a:p>
            <a:pPr algn="l">
              <a:buNone/>
            </a:pPr>
            <a:r>
              <a:rPr lang="ja-JP" sz="1200" dirty="0">
                <a:solidFill>
                  <a:srgbClr val="FFFFFF"/>
                </a:solidFill>
              </a:rPr>
              <a:t>Pi-A の outlet を LAN マルチキャストで受信</a:t>
            </a:r>
          </a:p>
        </p:txBody>
      </p:sp>
      <p:sp>
        <p:nvSpPr>
          <p:cNvPr id="5100" name="Arr0"/>
          <p:cNvSpPr/>
          <p:nvPr/>
        </p:nvSpPr>
        <p:spPr>
          <a:xfrm>
            <a:off x="2463800" y="2844800"/>
            <a:ext cx="152400" cy="1524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1" name="Step1"/>
          <p:cNvSpPr/>
          <p:nvPr/>
        </p:nvSpPr>
        <p:spPr>
          <a:xfrm>
            <a:off x="889000" y="3035300"/>
            <a:ext cx="3302000" cy="7112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l">
              <a:buNone/>
            </a:pPr>
            <a:r>
              <a:rPr lang="ja-JP" sz="1600" b="1" dirty="0">
                <a:solidFill>
                  <a:srgbClr val="FFFFFF"/>
                </a:solidFill>
              </a:rPr>
              <a:t>前処理</a:t>
            </a:r>
          </a:p>
          <a:p>
            <a:pPr algn="l">
              <a:buNone/>
            </a:pPr>
            <a:r>
              <a:rPr lang="ja-JP" sz="1200" dirty="0">
                <a:solidFill>
                  <a:srgbClr val="FFFFFF"/>
                </a:solidFill>
              </a:rPr>
              <a:t>バンドパス → α帯抽出 (ch 6,7) → 窓化</a:t>
            </a:r>
          </a:p>
        </p:txBody>
      </p:sp>
      <p:sp>
        <p:nvSpPr>
          <p:cNvPr id="5101" name="Arr1"/>
          <p:cNvSpPr/>
          <p:nvPr/>
        </p:nvSpPr>
        <p:spPr>
          <a:xfrm>
            <a:off x="2463800" y="3784600"/>
            <a:ext cx="152400" cy="1524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2" name="Step2"/>
          <p:cNvSpPr/>
          <p:nvPr/>
        </p:nvSpPr>
        <p:spPr>
          <a:xfrm>
            <a:off x="889000" y="3975100"/>
            <a:ext cx="3302000" cy="711200"/>
          </a:xfrm>
          <a:prstGeom prst="roundRect">
            <a:avLst>
              <a:gd name="adj" fmla="val 12000"/>
            </a:avLst>
          </a:prstGeom>
          <a:solidFill>
            <a:srgbClr val="E07B00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l">
              <a:buNone/>
            </a:pPr>
            <a:r>
              <a:rPr lang="ja-JP" sz="1600" b="1" dirty="0">
                <a:solidFill>
                  <a:srgbClr val="FFFFFF"/>
                </a:solidFill>
              </a:rPr>
              <a:t>特徴量・推論</a:t>
            </a:r>
          </a:p>
          <a:p>
            <a:pPr algn="l">
              <a:buNone/>
            </a:pPr>
            <a:r>
              <a:rPr lang="ja-JP" sz="1200" dirty="0">
                <a:solidFill>
                  <a:srgbClr val="FFFFFF"/>
                </a:solidFill>
              </a:rPr>
              <a:t>PSD / 閾値判定 → イベント生成</a:t>
            </a:r>
          </a:p>
        </p:txBody>
      </p:sp>
      <p:sp>
        <p:nvSpPr>
          <p:cNvPr id="5102" name="Arr2"/>
          <p:cNvSpPr/>
          <p:nvPr/>
        </p:nvSpPr>
        <p:spPr>
          <a:xfrm>
            <a:off x="2463800" y="4724400"/>
            <a:ext cx="152400" cy="1524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3" name="Step3"/>
          <p:cNvSpPr/>
          <p:nvPr/>
        </p:nvSpPr>
        <p:spPr>
          <a:xfrm>
            <a:off x="889000" y="4914900"/>
            <a:ext cx="3302000" cy="711200"/>
          </a:xfrm>
          <a:prstGeom prst="roundRect">
            <a:avLst>
              <a:gd name="adj" fmla="val 12000"/>
            </a:avLst>
          </a:prstGeom>
          <a:solidFill>
            <a:srgbClr val="4A7BA6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l">
              <a:buNone/>
            </a:pPr>
            <a:r>
              <a:rPr lang="ja-JP" sz="1600" b="1" dirty="0">
                <a:solidFill>
                  <a:srgbClr val="FFFFFF"/>
                </a:solidFill>
              </a:rPr>
              <a:t>MQTT publish</a:t>
            </a:r>
          </a:p>
          <a:p>
            <a:pPr algn="l">
              <a:buNone/>
            </a:pPr>
            <a:r>
              <a:rPr lang="ja-JP" sz="1200" dirty="0">
                <a:solidFill>
                  <a:srgbClr val="FFFFFF"/>
                </a:solidFill>
              </a:rPr>
              <a:t>PC 内 Mosquitto → Pi-B (roomba/cmd)</a:t>
            </a:r>
          </a:p>
        </p:txBody>
      </p:sp>
      <p:sp>
        <p:nvSpPr>
          <p:cNvPr id="5200" name="Callout"/>
          <p:cNvSpPr/>
          <p:nvPr/>
        </p:nvSpPr>
        <p:spPr>
          <a:xfrm>
            <a:off x="4953000" y="2095500"/>
            <a:ext cx="6527800" cy="3683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1D5DB"/>
            </a:solidFill>
          </a:ln>
        </p:spPr>
        <p:txBody>
          <a:bodyPr wrap="square" lIns="228600" tIns="171450" rIns="228600" bIns="171450" anchor="t"/>
          <a:lstStyle/>
          <a:p>
            <a:pPr marL="0" indent="0" algn="l">
              <a:buNone/>
            </a:pPr>
            <a:r>
              <a:rPr lang="ja-JP" sz="1800" b="1" dirty="0">
                <a:solidFill>
                  <a:srgbClr val="1F4E79"/>
                </a:solidFill>
              </a:rPr>
              <a:t>役割分担の実態</a:t>
            </a:r>
          </a:p>
          <a:p>
            <a:pPr marL="0" indent="0" algn="l">
              <a:buNone/>
            </a:pPr>
            <a:r>
              <a:rPr lang="ja-JP" sz="1000" dirty="0"/>
              <a:t> </a:t>
            </a:r>
          </a:p>
          <a:p>
            <a:pPr marL="285750" indent="-285750" algn="l">
              <a:buFont typeface="Arial"/>
              <a:buChar char="•"/>
            </a:pPr>
            <a:r>
              <a:rPr lang="ja-JP" sz="1500" b="1" dirty="0">
                <a:solidFill>
                  <a:srgbClr val="E07B00"/>
                </a:solidFill>
              </a:rPr>
              <a:t>LSL</a:t>
            </a:r>
            <a:r>
              <a:rPr lang="ja-JP" sz="1500" dirty="0"/>
              <a:t>: Pi-A → PC を </a:t>
            </a:r>
            <a:r>
              <a:rPr lang="ja-JP" sz="1500" b="1" dirty="0"/>
              <a:t>LAN マルチキャストで跨ぐ</a:t>
            </a:r>
            <a:r>
              <a:rPr lang="ja-JP" sz="1500" dirty="0"/>
              <a:t> (時刻同期込み)</a:t>
            </a:r>
          </a:p>
          <a:p>
            <a:pPr marL="285750" indent="-285750" algn="l">
              <a:buFont typeface="Arial"/>
              <a:buChar char="•"/>
            </a:pPr>
            <a:r>
              <a:rPr lang="ja-JP" sz="1500" b="1" dirty="0">
                <a:solidFill>
                  <a:srgbClr val="1F4E79"/>
                </a:solidFill>
              </a:rPr>
              <a:t>MQTT</a:t>
            </a:r>
            <a:r>
              <a:rPr lang="ja-JP" sz="1500" dirty="0"/>
              <a:t>: PC 内コンテナ間 + PC → Pi-B (制御コマンド)</a:t>
            </a:r>
          </a:p>
          <a:p>
            <a:pPr marL="0" indent="0" algn="l">
              <a:buNone/>
            </a:pPr>
            <a:r>
              <a:rPr lang="ja-JP" sz="1000" dirty="0"/>
              <a:t> </a:t>
            </a:r>
          </a:p>
          <a:p>
            <a:pPr marL="0" indent="0" algn="l">
              <a:buNone/>
            </a:pPr>
            <a:r>
              <a:rPr lang="ja-JP" sz="1400" b="1" dirty="0">
                <a:solidFill>
                  <a:srgbClr val="C0392B"/>
                </a:solidFill>
              </a:rPr>
              <a:t>※ 注意:</a:t>
            </a:r>
            <a:r>
              <a:rPr lang="ja-JP" sz="1400" dirty="0"/>
              <a:t> LSL は一般的にはマシン内向けだが、本プロジェクトでは LAN マルチキャストで跨いで使用</a:t>
            </a:r>
          </a:p>
          <a:p>
            <a:pPr marL="0" indent="0" algn="l">
              <a:buNone/>
            </a:pPr>
            <a:r>
              <a:rPr lang="ja-JP" sz="1000" dirty="0"/>
              <a:t> </a:t>
            </a:r>
          </a:p>
          <a:p>
            <a:pPr marL="285750" indent="-285750" algn="l">
              <a:buFont typeface="Arial"/>
              <a:buChar char="•"/>
            </a:pPr>
            <a:r>
              <a:rPr lang="ja-JP" sz="1400" dirty="0"/>
              <a:t>そのおかげで時刻同期は LSL に任せられる</a:t>
            </a:r>
          </a:p>
          <a:p>
            <a:pPr marL="285750" indent="-285750" algn="l">
              <a:buFont typeface="Arial"/>
              <a:buChar char="•"/>
            </a:pPr>
            <a:r>
              <a:rPr lang="ja-JP" sz="1400" dirty="0"/>
              <a:t>制御は broker 経由なので Pi-B が再起動しても retain で即復帰</a:t>
            </a:r>
          </a:p>
        </p:txBody>
      </p:sp>
    </p:spTree>
    <p:extLst>
      <p:ext uri="{BB962C8B-B14F-4D97-AF65-F5344CB8AC3E}">
        <p14:creationId xmlns:p14="http://schemas.microsoft.com/office/powerpoint/2010/main" val="280216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B8A340-63F1-E556-13AA-D2C2D5D2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E07B00"/>
                </a:solidFill>
              </a:rPr>
              <a:t>④ 蓄積 ｜ </a:t>
            </a:r>
            <a:r>
              <a:rPr lang="ja-JP" sz="3200" b="1" dirty="0"/>
              <a:t>2つの相反する要件をどう両立するか</a:t>
            </a:r>
          </a:p>
        </p:txBody>
      </p:sp>
      <p:sp>
        <p:nvSpPr>
          <p:cNvPr id="6000" name="Req0"/>
          <p:cNvSpPr/>
          <p:nvPr/>
        </p:nvSpPr>
        <p:spPr>
          <a:xfrm>
            <a:off x="1092200" y="2032000"/>
            <a:ext cx="4826000" cy="3175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9525">
            <a:solidFill>
              <a:srgbClr val="1F4E79"/>
            </a:solidFill>
          </a:ln>
        </p:spPr>
        <p:txBody>
          <a:bodyPr wrap="square" lIns="228600" tIns="228600" rIns="228600" bIns="228600" anchor="t"/>
          <a:lstStyle/>
          <a:p>
            <a:pPr marL="0" indent="0" algn="l">
              <a:buNone/>
            </a:pPr>
            <a:r>
              <a:rPr lang="ja-JP" sz="2000" b="1" dirty="0">
                <a:solidFill>
                  <a:srgbClr val="1F4E79"/>
                </a:solidFill>
              </a:rPr>
              <a:t>リアルタイム経路</a:t>
            </a:r>
          </a:p>
          <a:p>
            <a:pPr marL="0" indent="0" algn="l">
              <a:buNone/>
            </a:pPr>
            <a:r>
              <a:rPr lang="ja-JP" sz="1400" i="1" dirty="0">
                <a:solidFill>
                  <a:srgbClr val="6B7280"/>
                </a:solidFill>
              </a:rPr>
              <a:t>「今この瞬間の判断」のため</a:t>
            </a:r>
          </a:p>
          <a:p>
            <a:pPr marL="0" indent="0" algn="l">
              <a:buNone/>
            </a:pPr>
            <a:r>
              <a:rPr lang="ja-JP" sz="1000" dirty="0"/>
              <a:t> </a:t>
            </a:r>
          </a:p>
          <a:p>
            <a:pPr marL="285750" indent="-285750" algn="l">
              <a:buFont typeface="Arial"/>
              <a:buChar char="•"/>
            </a:pPr>
            <a:r>
              <a:rPr lang="ja-JP" sz="1600" dirty="0"/>
              <a:t>最新値が &lt; 50ms で読める</a:t>
            </a:r>
          </a:p>
          <a:p>
            <a:pPr marL="285750" indent="-285750" algn="l">
              <a:buFont typeface="Arial"/>
              <a:buChar char="•"/>
            </a:pPr>
            <a:r>
              <a:rPr lang="ja-JP" sz="1600" dirty="0"/>
              <a:t>推論モデルが直前 N サンプルを毎ループ参照</a:t>
            </a:r>
          </a:p>
          <a:p>
            <a:pPr marL="285750" indent="-285750" algn="l">
              <a:buFont typeface="Arial"/>
              <a:buChar char="•"/>
            </a:pPr>
            <a:r>
              <a:rPr lang="ja-JP" sz="1600" dirty="0"/>
              <a:t>落としていい (古いデータは捨てる)</a:t>
            </a:r>
          </a:p>
        </p:txBody>
      </p:sp>
      <p:sp>
        <p:nvSpPr>
          <p:cNvPr id="6001" name="Req1"/>
          <p:cNvSpPr/>
          <p:nvPr/>
        </p:nvSpPr>
        <p:spPr>
          <a:xfrm>
            <a:off x="6273800" y="2032000"/>
            <a:ext cx="4826000" cy="31750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9525">
            <a:solidFill>
              <a:srgbClr val="E07B00"/>
            </a:solidFill>
          </a:ln>
        </p:spPr>
        <p:txBody>
          <a:bodyPr wrap="square" lIns="228600" tIns="228600" rIns="228600" bIns="228600" anchor="t"/>
          <a:lstStyle/>
          <a:p>
            <a:pPr marL="0" indent="0" algn="l">
              <a:buNone/>
            </a:pPr>
            <a:r>
              <a:rPr lang="ja-JP" sz="2000" b="1" dirty="0">
                <a:solidFill>
                  <a:srgbClr val="E07B00"/>
                </a:solidFill>
              </a:rPr>
              <a:t>蓄積経路</a:t>
            </a:r>
          </a:p>
          <a:p>
            <a:pPr marL="0" indent="0" algn="l">
              <a:buNone/>
            </a:pPr>
            <a:r>
              <a:rPr lang="ja-JP" sz="1400" i="1" dirty="0">
                <a:solidFill>
                  <a:srgbClr val="6B7280"/>
                </a:solidFill>
              </a:rPr>
              <a:t>「あとから学習・分析」のため</a:t>
            </a:r>
          </a:p>
          <a:p>
            <a:pPr marL="0" indent="0" algn="l">
              <a:buNone/>
            </a:pPr>
            <a:r>
              <a:rPr lang="ja-JP" sz="1000" dirty="0"/>
              <a:t> </a:t>
            </a:r>
          </a:p>
          <a:p>
            <a:pPr marL="285750" indent="-285750" algn="l">
              <a:buFont typeface="Arial"/>
              <a:buChar char="•"/>
            </a:pPr>
            <a:r>
              <a:rPr lang="ja-JP" sz="1600" dirty="0"/>
              <a:t>全サンプルを 1つも欠けず長期保存</a:t>
            </a:r>
          </a:p>
          <a:p>
            <a:pPr marL="285750" indent="-285750" algn="l">
              <a:buFont typeface="Arial"/>
              <a:buChar char="•"/>
            </a:pPr>
            <a:r>
              <a:rPr lang="ja-JP" sz="1600" dirty="0"/>
              <a:t>セッション単位で取り出せる</a:t>
            </a:r>
          </a:p>
          <a:p>
            <a:pPr marL="285750" indent="-285750" algn="l">
              <a:buFont typeface="Arial"/>
              <a:buChar char="•"/>
            </a:pPr>
            <a:r>
              <a:rPr lang="ja-JP" sz="1600" dirty="0"/>
              <a:t>再学習・オフライン分析に耐える</a:t>
            </a:r>
          </a:p>
        </p:txBody>
      </p:sp>
      <p:sp>
        <p:nvSpPr>
          <p:cNvPr id="6100" name="VS"/>
          <p:cNvSpPr/>
          <p:nvPr/>
        </p:nvSpPr>
        <p:spPr>
          <a:xfrm>
            <a:off x="5943600" y="3390900"/>
            <a:ext cx="304800" cy="4572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6200" name="Take"/>
          <p:cNvSpPr/>
          <p:nvPr/>
        </p:nvSpPr>
        <p:spPr>
          <a:xfrm>
            <a:off x="838200" y="539750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1800" b="1" dirty="0">
                <a:solidFill>
                  <a:srgbClr val="1A1A1A"/>
                </a:solidFill>
              </a:rPr>
              <a:t>→ 答え: </a:t>
            </a:r>
            <a:r>
              <a:rPr lang="ja-JP" sz="1800" b="1" dirty="0">
                <a:solidFill>
                  <a:srgbClr val="E07B00"/>
                </a:solidFill>
              </a:rPr>
              <a:t>「ストリーム」と「ストア」を分け、両方に枝分かれさせる</a:t>
            </a:r>
          </a:p>
        </p:txBody>
      </p:sp>
    </p:spTree>
    <p:extLst>
      <p:ext uri="{BB962C8B-B14F-4D97-AF65-F5344CB8AC3E}">
        <p14:creationId xmlns:p14="http://schemas.microsoft.com/office/powerpoint/2010/main" val="3210994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DAE805-6341-60DA-CE76-7A04C1DA9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E07B00"/>
                </a:solidFill>
              </a:rPr>
              <a:t>④ 蓄積 ｜ </a:t>
            </a:r>
            <a:r>
              <a:rPr lang="ja-JP" sz="3200" b="1" dirty="0"/>
              <a:t>枝分かれの設計図</a:t>
            </a:r>
          </a:p>
        </p:txBody>
      </p:sp>
      <p:sp>
        <p:nvSpPr>
          <p:cNvPr id="7000" name="Src"/>
          <p:cNvSpPr/>
          <p:nvPr/>
        </p:nvSpPr>
        <p:spPr>
          <a:xfrm>
            <a:off x="4572000" y="2095500"/>
            <a:ext cx="3048000" cy="635000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</p:spPr>
        <p:txBody>
          <a:bodyPr wrap="square" lIns="91440" tIns="22860" rIns="91440" bIns="22860" anchor="ctr"/>
          <a:lstStyle/>
          <a:p>
            <a:pPr algn="ctr">
              <a:buNone/>
            </a:pPr>
            <a:r>
              <a:rPr lang="ja-JP" sz="1600" b="1" dirty="0">
                <a:solidFill>
                  <a:srgbClr val="FFFFFF"/>
                </a:solidFill>
              </a:rPr>
              <a:t>LSL stream (前処理済み)</a:t>
            </a:r>
          </a:p>
        </p:txBody>
      </p:sp>
      <p:sp>
        <p:nvSpPr>
          <p:cNvPr id="7100" name="Branch0"/>
          <p:cNvSpPr/>
          <p:nvPr/>
        </p:nvSpPr>
        <p:spPr>
          <a:xfrm>
            <a:off x="1016000" y="3429000"/>
            <a:ext cx="3048000" cy="2540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9525">
            <a:solidFill>
              <a:srgbClr val="C0392B"/>
            </a:solidFill>
          </a:ln>
        </p:spPr>
        <p:txBody>
          <a:bodyPr wrap="square" lIns="137160" tIns="137160" rIns="137160" bIns="137160" anchor="t"/>
          <a:lstStyle/>
          <a:p>
            <a:pPr marL="0" indent="0" algn="l">
              <a:buNone/>
            </a:pPr>
            <a:r>
              <a:rPr lang="ja-JP" sz="1700" b="1" dirty="0">
                <a:solidFill>
                  <a:srgbClr val="C0392B"/>
                </a:solidFill>
              </a:rPr>
              <a:t>Hot — Ring Buffer</a:t>
            </a:r>
          </a:p>
          <a:p>
            <a:pPr marL="0" indent="0" algn="l">
              <a:buNone/>
            </a:pPr>
            <a:r>
              <a:rPr lang="ja-JP" sz="1100" b="1" dirty="0">
                <a:solidFill>
                  <a:srgbClr val="2E8540"/>
                </a:solidFill>
              </a:rPr>
              <a:t>[ 現在実装済 ]</a:t>
            </a:r>
          </a:p>
          <a:p>
            <a:pPr marL="0" indent="0" algn="l">
              <a:buNone/>
            </a:pPr>
            <a:r>
              <a:rPr lang="ja-JP" sz="1300" dirty="0">
                <a:solidFill>
                  <a:srgbClr val="6B7280"/>
                </a:solidFill>
              </a:rPr>
              <a:t>in-memory (numpy / deque)</a:t>
            </a:r>
          </a:p>
          <a:p>
            <a:pPr marL="0" indent="0" algn="l">
              <a:buNone/>
            </a:pPr>
            <a:r>
              <a:rPr lang="ja-JP" sz="1100" dirty="0"/>
              <a:t> </a:t>
            </a:r>
          </a:p>
          <a:p>
            <a:pPr marL="0" indent="0" algn="l">
              <a:buNone/>
            </a:pPr>
            <a:r>
              <a:rPr lang="ja-JP" sz="1400" b="1" dirty="0"/>
              <a:t>用途</a:t>
            </a:r>
          </a:p>
          <a:p>
            <a:pPr marL="0" indent="0" algn="l">
              <a:buNone/>
            </a:pPr>
            <a:r>
              <a:rPr lang="ja-JP" sz="1400" dirty="0"/>
              <a:t>⑤ 推論モデル用</a:t>
            </a:r>
          </a:p>
          <a:p>
            <a:pPr marL="0" indent="0" algn="l">
              <a:buNone/>
            </a:pPr>
            <a:r>
              <a:rPr lang="ja-JP" sz="1100" dirty="0"/>
              <a:t> </a:t>
            </a:r>
          </a:p>
          <a:p>
            <a:pPr marL="0" indent="0" algn="l">
              <a:buNone/>
            </a:pPr>
            <a:r>
              <a:rPr lang="ja-JP" sz="1400" b="1" dirty="0"/>
              <a:t>仕組み</a:t>
            </a:r>
          </a:p>
          <a:p>
            <a:pPr marL="0" indent="0" algn="l">
              <a:buNone/>
            </a:pPr>
            <a:r>
              <a:rPr lang="ja-JP" sz="1400" dirty="0"/>
              <a:t>直近 N 秒だけ保持 / 自動廃棄</a:t>
            </a:r>
          </a:p>
        </p:txBody>
      </p:sp>
      <p:sp>
        <p:nvSpPr>
          <p:cNvPr id="7200" name="BArr0"/>
          <p:cNvSpPr/>
          <p:nvPr/>
        </p:nvSpPr>
        <p:spPr>
          <a:xfrm>
            <a:off x="2463800" y="2857500"/>
            <a:ext cx="152400" cy="5080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01" name="Branch1"/>
          <p:cNvSpPr/>
          <p:nvPr/>
        </p:nvSpPr>
        <p:spPr>
          <a:xfrm>
            <a:off x="4572000" y="3429000"/>
            <a:ext cx="3048000" cy="25400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9525">
            <a:solidFill>
              <a:srgbClr val="1F4E79"/>
            </a:solidFill>
          </a:ln>
        </p:spPr>
        <p:txBody>
          <a:bodyPr wrap="square" lIns="137160" tIns="137160" rIns="137160" bIns="137160" anchor="t"/>
          <a:lstStyle/>
          <a:p>
            <a:pPr marL="0" indent="0" algn="l">
              <a:buNone/>
            </a:pPr>
            <a:r>
              <a:rPr lang="ja-JP" sz="1700" b="1" dirty="0">
                <a:solidFill>
                  <a:srgbClr val="1F4E79"/>
                </a:solidFill>
              </a:rPr>
              <a:t>Warm — TimescaleDB</a:t>
            </a:r>
          </a:p>
          <a:p>
            <a:pPr marL="0" indent="0" algn="l">
              <a:buNone/>
            </a:pPr>
            <a:r>
              <a:rPr lang="ja-JP" sz="1100" b="1" dirty="0">
                <a:solidFill>
                  <a:srgbClr val="2E8540"/>
                </a:solidFill>
              </a:rPr>
              <a:t>[ 現在実装済 ]</a:t>
            </a:r>
          </a:p>
          <a:p>
            <a:pPr marL="0" indent="0" algn="l">
              <a:buNone/>
            </a:pPr>
            <a:r>
              <a:rPr lang="ja-JP" sz="1300" dirty="0">
                <a:solidFill>
                  <a:srgbClr val="6B7280"/>
                </a:solidFill>
              </a:rPr>
              <a:t>Postgres + 時系列拡張</a:t>
            </a:r>
          </a:p>
          <a:p>
            <a:pPr marL="0" indent="0" algn="l">
              <a:buNone/>
            </a:pPr>
            <a:r>
              <a:rPr lang="ja-JP" sz="1100" dirty="0"/>
              <a:t> </a:t>
            </a:r>
          </a:p>
          <a:p>
            <a:pPr marL="0" indent="0" algn="l">
              <a:buNone/>
            </a:pPr>
            <a:r>
              <a:rPr lang="ja-JP" sz="1400" b="1" dirty="0"/>
              <a:t>用途</a:t>
            </a:r>
          </a:p>
          <a:p>
            <a:pPr marL="0" indent="0" algn="l">
              <a:buNone/>
            </a:pPr>
            <a:r>
              <a:rPr lang="ja-JP" sz="1400" dirty="0"/>
              <a:t>セッション分析・可視化</a:t>
            </a:r>
          </a:p>
          <a:p>
            <a:pPr marL="0" indent="0" algn="l">
              <a:buNone/>
            </a:pPr>
            <a:r>
              <a:rPr lang="ja-JP" sz="1100" dirty="0"/>
              <a:t> </a:t>
            </a:r>
          </a:p>
          <a:p>
            <a:pPr marL="0" indent="0" algn="l">
              <a:buNone/>
            </a:pPr>
            <a:r>
              <a:rPr lang="ja-JP" sz="1400" b="1" dirty="0"/>
              <a:t>仕組み</a:t>
            </a:r>
          </a:p>
          <a:p>
            <a:pPr marL="0" indent="0" algn="l">
              <a:buNone/>
            </a:pPr>
            <a:r>
              <a:rPr lang="ja-JP" sz="1400" dirty="0"/>
              <a:t>ハイパーテーブル / 圧縮ポリシ</a:t>
            </a:r>
          </a:p>
        </p:txBody>
      </p:sp>
      <p:sp>
        <p:nvSpPr>
          <p:cNvPr id="7201" name="BArr1"/>
          <p:cNvSpPr/>
          <p:nvPr/>
        </p:nvSpPr>
        <p:spPr>
          <a:xfrm>
            <a:off x="6019800" y="2857500"/>
            <a:ext cx="152400" cy="5080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02" name="Branch2"/>
          <p:cNvSpPr/>
          <p:nvPr/>
        </p:nvSpPr>
        <p:spPr>
          <a:xfrm>
            <a:off x="8128000" y="3429000"/>
            <a:ext cx="3048000" cy="2540000"/>
          </a:xfrm>
          <a:prstGeom prst="roundRect">
            <a:avLst>
              <a:gd name="adj" fmla="val 6000"/>
            </a:avLst>
          </a:prstGeom>
          <a:solidFill>
            <a:srgbClr val="EAF5EC"/>
          </a:solidFill>
          <a:ln w="9525">
            <a:solidFill>
              <a:srgbClr val="2E8540"/>
            </a:solidFill>
          </a:ln>
        </p:spPr>
        <p:txBody>
          <a:bodyPr wrap="square" lIns="137160" tIns="137160" rIns="137160" bIns="137160" anchor="t"/>
          <a:lstStyle/>
          <a:p>
            <a:pPr marL="0" indent="0" algn="l">
              <a:buNone/>
            </a:pPr>
            <a:r>
              <a:rPr lang="ja-JP" sz="1700" b="1" dirty="0">
                <a:solidFill>
                  <a:srgbClr val="6B7280"/>
                </a:solidFill>
              </a:rPr>
              <a:t>Cold — Parquet</a:t>
            </a:r>
          </a:p>
          <a:p>
            <a:pPr marL="0" indent="0" algn="l">
              <a:buNone/>
            </a:pPr>
            <a:r>
              <a:rPr lang="ja-JP" sz="1100" b="1" dirty="0">
                <a:solidFill>
                  <a:srgbClr val="E07B00"/>
                </a:solidFill>
              </a:rPr>
              <a:t>[ 将来案・未実装 ]</a:t>
            </a:r>
          </a:p>
          <a:p>
            <a:pPr marL="0" indent="0" algn="l">
              <a:buNone/>
            </a:pPr>
            <a:r>
              <a:rPr lang="ja-JP" sz="1300" dirty="0">
                <a:solidFill>
                  <a:srgbClr val="6B7280"/>
                </a:solidFill>
              </a:rPr>
              <a:t>ローカルディスク + S3</a:t>
            </a:r>
          </a:p>
          <a:p>
            <a:pPr marL="0" indent="0" algn="l">
              <a:buNone/>
            </a:pPr>
            <a:r>
              <a:rPr lang="ja-JP" sz="1100" dirty="0"/>
              <a:t> </a:t>
            </a:r>
          </a:p>
          <a:p>
            <a:pPr marL="0" indent="0" algn="l">
              <a:buNone/>
            </a:pPr>
            <a:r>
              <a:rPr lang="ja-JP" sz="1400" b="1" dirty="0"/>
              <a:t>用途</a:t>
            </a:r>
          </a:p>
          <a:p>
            <a:pPr marL="0" indent="0" algn="l">
              <a:buNone/>
            </a:pPr>
            <a:r>
              <a:rPr lang="ja-JP" sz="1400" dirty="0"/>
              <a:t>オフライン学習・監査</a:t>
            </a:r>
          </a:p>
          <a:p>
            <a:pPr marL="0" indent="0" algn="l">
              <a:buNone/>
            </a:pPr>
            <a:r>
              <a:rPr lang="ja-JP" sz="1100" dirty="0"/>
              <a:t> </a:t>
            </a:r>
          </a:p>
          <a:p>
            <a:pPr marL="0" indent="0" algn="l">
              <a:buNone/>
            </a:pPr>
            <a:r>
              <a:rPr lang="ja-JP" sz="1400" b="1" dirty="0"/>
              <a:t>仕組み (案)</a:t>
            </a:r>
          </a:p>
          <a:p>
            <a:pPr marL="0" indent="0" algn="l">
              <a:buNone/>
            </a:pPr>
            <a:r>
              <a:rPr lang="ja-JP" sz="1400" dirty="0"/>
              <a:t>セッション単位ファイル + メタ JSON</a:t>
            </a:r>
          </a:p>
        </p:txBody>
      </p:sp>
      <p:sp>
        <p:nvSpPr>
          <p:cNvPr id="7202" name="BArr2"/>
          <p:cNvSpPr/>
          <p:nvPr/>
        </p:nvSpPr>
        <p:spPr>
          <a:xfrm>
            <a:off x="9575800" y="2857500"/>
            <a:ext cx="152400" cy="5080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00" name="Bus"/>
          <p:cNvSpPr/>
          <p:nvPr/>
        </p:nvSpPr>
        <p:spPr>
          <a:xfrm>
            <a:off x="2463800" y="2794000"/>
            <a:ext cx="7264400" cy="76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6381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BA4114-582C-2B2D-9F1C-953C9ADB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E07B00"/>
                </a:solidFill>
              </a:rPr>
              <a:t>④ 蓄積 ｜ </a:t>
            </a:r>
            <a:r>
              <a:rPr lang="ja-JP" sz="3200" b="1" dirty="0"/>
              <a:t>運用で効いてくる3つの設計判断</a:t>
            </a:r>
          </a:p>
        </p:txBody>
      </p:sp>
      <p:sp>
        <p:nvSpPr>
          <p:cNvPr id="8000" name="Dec0"/>
          <p:cNvSpPr/>
          <p:nvPr/>
        </p:nvSpPr>
        <p:spPr>
          <a:xfrm>
            <a:off x="838200" y="1930400"/>
            <a:ext cx="10515600" cy="1168400"/>
          </a:xfrm>
          <a:prstGeom prst="rect">
            <a:avLst/>
          </a:prstGeom>
          <a:solidFill>
            <a:srgbClr val="F5F7FA"/>
          </a:solidFill>
          <a:ln w="3175">
            <a:solidFill>
              <a:srgbClr val="D1D5DB"/>
            </a:solidFill>
          </a:ln>
        </p:spPr>
        <p:txBody>
          <a:bodyPr wrap="square" lIns="182880" tIns="137160" rIns="182880" bIns="137160" anchor="t"/>
          <a:lstStyle/>
          <a:p>
            <a:pPr marL="0" indent="0" algn="l">
              <a:buNone/>
            </a:pPr>
            <a:r>
              <a:rPr lang="ja-JP" sz="1500" b="1" dirty="0">
                <a:solidFill>
                  <a:srgbClr val="6B7280"/>
                </a:solidFill>
              </a:rPr>
              <a:t>Q1. </a:t>
            </a:r>
            <a:r>
              <a:rPr lang="ja-JP" sz="1500" dirty="0">
                <a:solidFill>
                  <a:srgbClr val="6B7280"/>
                </a:solidFill>
              </a:rPr>
              <a:t>落としていいデータ vs 落としてはダメなデータ をどう分ける?</a:t>
            </a:r>
          </a:p>
          <a:p>
            <a:pPr marL="0" indent="0" algn="l">
              <a:buNone/>
            </a:pPr>
            <a:r>
              <a:rPr lang="ja-JP" sz="1700" b="1" dirty="0">
                <a:solidFill>
                  <a:srgbClr val="1F4E79"/>
                </a:solidFill>
              </a:rPr>
              <a:t>→ 経路ごとに QoS / transport を変える</a:t>
            </a:r>
            <a:r>
              <a:rPr lang="ja-JP" sz="1200" b="1" dirty="0">
                <a:solidFill>
                  <a:srgbClr val="2E8540"/>
                </a:solidFill>
              </a:rPr>
              <a:t>   [ 現状の方針 ]</a:t>
            </a:r>
          </a:p>
          <a:p>
            <a:pPr marL="0" indent="0" algn="l">
              <a:buNone/>
            </a:pPr>
            <a:r>
              <a:rPr lang="ja-JP" sz="1300" dirty="0">
                <a:solidFill>
                  <a:srgbClr val="4B5563"/>
                </a:solidFill>
              </a:rPr>
              <a:t>推論経路 (LSL) は best-effort で古いサンプル落とすOK / 制御経路 (MQTT) は retain で「最後の指令」を絶対残す。</a:t>
            </a:r>
          </a:p>
        </p:txBody>
      </p:sp>
      <p:sp>
        <p:nvSpPr>
          <p:cNvPr id="8001" name="Dec1"/>
          <p:cNvSpPr/>
          <p:nvPr/>
        </p:nvSpPr>
        <p:spPr>
          <a:xfrm>
            <a:off x="838200" y="3251200"/>
            <a:ext cx="10515600" cy="1168400"/>
          </a:xfrm>
          <a:prstGeom prst="rect">
            <a:avLst/>
          </a:prstGeom>
          <a:solidFill>
            <a:srgbClr val="F5F7FA"/>
          </a:solidFill>
          <a:ln w="3175">
            <a:solidFill>
              <a:srgbClr val="D1D5DB"/>
            </a:solidFill>
          </a:ln>
        </p:spPr>
        <p:txBody>
          <a:bodyPr wrap="square" lIns="182880" tIns="137160" rIns="182880" bIns="137160" anchor="t"/>
          <a:lstStyle/>
          <a:p>
            <a:pPr marL="0" indent="0" algn="l">
              <a:buNone/>
            </a:pPr>
            <a:r>
              <a:rPr lang="ja-JP" sz="1500" b="1" dirty="0">
                <a:solidFill>
                  <a:srgbClr val="6B7280"/>
                </a:solidFill>
              </a:rPr>
              <a:t>Q2. </a:t>
            </a:r>
            <a:r>
              <a:rPr lang="ja-JP" sz="1500" dirty="0">
                <a:solidFill>
                  <a:srgbClr val="6B7280"/>
                </a:solidFill>
              </a:rPr>
              <a:t>プロセス再起動でデータが消えないか?</a:t>
            </a:r>
          </a:p>
          <a:p>
            <a:pPr marL="0" indent="0" algn="l">
              <a:buNone/>
            </a:pPr>
            <a:r>
              <a:rPr lang="ja-JP" sz="1700" b="1" dirty="0">
                <a:solidFill>
                  <a:srgbClr val="1F4E79"/>
                </a:solidFill>
              </a:rPr>
              <a:t>→ broker と DB の間に永続キューを挟む</a:t>
            </a:r>
            <a:r>
              <a:rPr lang="ja-JP" sz="1200" b="1" dirty="0">
                <a:solidFill>
                  <a:srgbClr val="E07B00"/>
                </a:solidFill>
              </a:rPr>
              <a:t>   [ 一般論・本プロジェクトは検証中 ]</a:t>
            </a:r>
          </a:p>
          <a:p>
            <a:pPr marL="0" indent="0" algn="l">
              <a:buNone/>
            </a:pPr>
            <a:r>
              <a:rPr lang="ja-JP" sz="1300" dirty="0">
                <a:solidFill>
                  <a:srgbClr val="4B5563"/>
                </a:solidFill>
              </a:rPr>
              <a:t>broker は揮発、DB は重い → 間にローカルキュー (ファイル or 軽量 broker の永続化) を挟むことで再起動耐性を確保。</a:t>
            </a:r>
          </a:p>
        </p:txBody>
      </p:sp>
      <p:sp>
        <p:nvSpPr>
          <p:cNvPr id="8002" name="Dec2"/>
          <p:cNvSpPr/>
          <p:nvPr/>
        </p:nvSpPr>
        <p:spPr>
          <a:xfrm>
            <a:off x="838200" y="4572000"/>
            <a:ext cx="10515600" cy="1168400"/>
          </a:xfrm>
          <a:prstGeom prst="rect">
            <a:avLst/>
          </a:prstGeom>
          <a:solidFill>
            <a:srgbClr val="F5F7FA"/>
          </a:solidFill>
          <a:ln w="3175">
            <a:solidFill>
              <a:srgbClr val="D1D5DB"/>
            </a:solidFill>
          </a:ln>
        </p:spPr>
        <p:txBody>
          <a:bodyPr wrap="square" lIns="182880" tIns="137160" rIns="182880" bIns="137160" anchor="t"/>
          <a:lstStyle/>
          <a:p>
            <a:pPr marL="0" indent="0" algn="l">
              <a:buNone/>
            </a:pPr>
            <a:r>
              <a:rPr lang="ja-JP" sz="1500" b="1" dirty="0">
                <a:solidFill>
                  <a:srgbClr val="6B7280"/>
                </a:solidFill>
              </a:rPr>
              <a:t>Q3. </a:t>
            </a:r>
            <a:r>
              <a:rPr lang="ja-JP" sz="1500" dirty="0">
                <a:solidFill>
                  <a:srgbClr val="6B7280"/>
                </a:solidFill>
              </a:rPr>
              <a:t>あとから「セッション」をどう切り出すか?</a:t>
            </a:r>
          </a:p>
          <a:p>
            <a:pPr marL="0" indent="0" algn="l">
              <a:buNone/>
            </a:pPr>
            <a:r>
              <a:rPr lang="ja-JP" sz="1700" b="1" dirty="0">
                <a:solidFill>
                  <a:srgbClr val="1F4E79"/>
                </a:solidFill>
              </a:rPr>
              <a:t>→ メタイベントを別 topic で送る</a:t>
            </a:r>
            <a:r>
              <a:rPr lang="ja-JP" sz="1200" b="1" dirty="0">
                <a:solidFill>
                  <a:srgbClr val="2E8540"/>
                </a:solidFill>
              </a:rPr>
              <a:t>   [ 現状の方針 ]</a:t>
            </a:r>
          </a:p>
          <a:p>
            <a:pPr marL="0" indent="0" algn="l">
              <a:buNone/>
            </a:pPr>
            <a:r>
              <a:rPr lang="ja-JP" sz="1300" dirty="0">
                <a:solidFill>
                  <a:srgbClr val="4B5563"/>
                </a:solidFill>
              </a:rPr>
              <a:t>session_start / session_end を別チャネルにすることで、生信号を汚さずに後段で切り出せる。</a:t>
            </a:r>
          </a:p>
        </p:txBody>
      </p:sp>
    </p:spTree>
    <p:extLst>
      <p:ext uri="{BB962C8B-B14F-4D97-AF65-F5344CB8AC3E}">
        <p14:creationId xmlns:p14="http://schemas.microsoft.com/office/powerpoint/2010/main" val="205261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69FED4-DB33-5944-01DB-B58CF019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6B7280"/>
                </a:solidFill>
              </a:rPr>
              <a:t>⑤ 判断 ｜ </a:t>
            </a:r>
            <a:r>
              <a:rPr lang="ja-JP" sz="3200" b="1" dirty="0"/>
              <a:t>autopilot — 「特徴量 → コマンド」を5択に圧縮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64FF15-9230-EBF4-6F98-CCE103B49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sz="2000" b="1" dirty="0">
                <a:solidFill>
                  <a:srgbClr val="1F4E79"/>
                </a:solidFill>
              </a:rPr>
              <a:t>パイプラインの中心: Gemini Robotics-ER 1.6 (LLM)</a:t>
            </a:r>
          </a:p>
          <a:p>
            <a:pPr marL="342900" indent="-342900">
              <a:buFont typeface="Arial"/>
              <a:buChar char="•"/>
            </a:pPr>
            <a:r>
              <a:rPr lang="ja-JP" sz="1700" dirty="0"/>
              <a:t>入力に </a:t>
            </a:r>
            <a:r>
              <a:rPr lang="ja-JP" sz="1700" b="1" dirty="0">
                <a:solidFill>
                  <a:srgbClr val="E07B00"/>
                </a:solidFill>
              </a:rPr>
              <a:t>EEG 特徴量 + 画像 + コンテキスト</a:t>
            </a:r>
            <a:r>
              <a:rPr lang="ja-JP" sz="1700" dirty="0"/>
              <a:t> をまとめて投げ、コマンドを LLM に決めさせる</a:t>
            </a:r>
          </a:p>
          <a:p>
            <a:pPr marL="342900" indent="-342900">
              <a:buFont typeface="Arial"/>
              <a:buChar char="•"/>
            </a:pPr>
            <a:r>
              <a:rPr lang="ja-JP" sz="1700" dirty="0"/>
              <a:t>LLM 出力を </a:t>
            </a:r>
            <a:r>
              <a:rPr lang="ja-JP" sz="1700" b="1" dirty="0"/>
              <a:t>5択にスナップ</a:t>
            </a:r>
            <a:r>
              <a:rPr lang="ja-JP" sz="1700" dirty="0"/>
              <a:t>(下記参照)してから MQTT に乗せる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入出力</a:t>
            </a:r>
          </a:p>
          <a:p>
            <a:pPr marL="342900" indent="-342900">
              <a:buFont typeface="Arial"/>
              <a:buChar char="•"/>
            </a:pPr>
            <a:r>
              <a:rPr lang="ja-JP" sz="1600" b="1" dirty="0"/>
              <a:t>入力</a:t>
            </a:r>
            <a:r>
              <a:rPr lang="ja-JP" sz="1600" dirty="0"/>
              <a:t>: Ring Buffer から直近 N 秒の特徴量 + 周辺情報</a:t>
            </a:r>
          </a:p>
          <a:p>
            <a:pPr marL="342900" indent="-342900">
              <a:buFont typeface="Arial"/>
              <a:buChar char="•"/>
            </a:pPr>
            <a:r>
              <a:rPr lang="ja-JP" sz="1600" b="1" dirty="0"/>
              <a:t>出力</a:t>
            </a:r>
            <a:r>
              <a:rPr lang="ja-JP" sz="1600" dirty="0"/>
              <a:t>: 前進 / 後退 / 左旋回 / 右旋回 / 停止 — </a:t>
            </a:r>
            <a:r>
              <a:rPr lang="ja-JP" sz="1600" b="1" dirty="0">
                <a:solidFill>
                  <a:srgbClr val="E07B00"/>
                </a:solidFill>
              </a:rPr>
              <a:t>離散5値に圧縮</a:t>
            </a:r>
          </a:p>
          <a:p>
            <a:pPr marL="342900" indent="-342900">
              <a:buFont typeface="Arial"/>
              <a:buChar char="•"/>
            </a:pPr>
            <a:r>
              <a:rPr lang="ja-JP" sz="1600" dirty="0"/>
              <a:t>連続値ではなく離散にすることで、安全境界が明確になり LLM 出力の異常値もハンドリングしやすい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C0392B"/>
                </a:solidFill>
              </a:rPr>
              <a:t>失敗時の振る舞い</a:t>
            </a:r>
          </a:p>
          <a:p>
            <a:pPr marL="342900" indent="-342900">
              <a:buFont typeface="Arial"/>
              <a:buChar char="•"/>
            </a:pPr>
            <a:r>
              <a:rPr lang="ja-JP" sz="1600" dirty="0"/>
              <a:t>LLM が遅延 / タイムアウトしたら → </a:t>
            </a:r>
            <a:r>
              <a:rPr lang="ja-JP" sz="1600" b="1" dirty="0"/>
              <a:t>「停止」コマンドを retain</a:t>
            </a:r>
            <a:r>
              <a:rPr lang="ja-JP" sz="1600" dirty="0"/>
              <a:t> (安全側に倒す)</a:t>
            </a:r>
          </a:p>
          <a:p>
            <a:pPr marL="342900" indent="-342900">
              <a:buFont typeface="Arial"/>
              <a:buChar char="•"/>
            </a:pPr>
            <a:r>
              <a:rPr lang="ja-JP" sz="1600" dirty="0"/>
              <a:t>センサが切れたら → MQTT </a:t>
            </a:r>
            <a:r>
              <a:rPr lang="ja-JP" sz="1600" b="1" dirty="0"/>
              <a:t>last-will が「停止」を自動配信</a:t>
            </a:r>
          </a:p>
        </p:txBody>
      </p:sp>
    </p:spTree>
    <p:extLst>
      <p:ext uri="{BB962C8B-B14F-4D97-AF65-F5344CB8AC3E}">
        <p14:creationId xmlns:p14="http://schemas.microsoft.com/office/powerpoint/2010/main" val="829717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B0B47-4F4E-4114-CEF8-6A93BC79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400" dirty="0">
                <a:solidFill>
                  <a:srgbClr val="6B7280"/>
                </a:solidFill>
              </a:rPr>
              <a:t>⑥ 配信 ｜ </a:t>
            </a:r>
            <a:r>
              <a:rPr lang="ja-JP" sz="3200" b="1" dirty="0"/>
              <a:t>ロボット周りはあえて薄く触れます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3C8D88-0EBC-BDAC-5D66-0BC52C7D4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sz="1700" dirty="0"/>
              <a:t>「面白いがデータエンジニアの学びにはならない」 4 点を、結論だけ書きます。</a:t>
            </a:r>
          </a:p>
          <a:p>
            <a:pPr marL="0" indent="0">
              <a:buNone/>
            </a:pPr>
            <a:r>
              <a:rPr lang="ja-JP" sz="1200" dirty="0"/>
              <a:t> </a:t>
            </a:r>
          </a:p>
          <a:p>
            <a:pPr marL="342900" indent="-342900">
              <a:buFont typeface="Arial"/>
              <a:buChar char="•"/>
            </a:pPr>
            <a:r>
              <a:rPr lang="ja-JP" sz="1700" b="1" dirty="0">
                <a:solidFill>
                  <a:srgbClr val="1F4E79"/>
                </a:solidFill>
              </a:rPr>
              <a:t>Pi-B → Roomba: </a:t>
            </a:r>
            <a:r>
              <a:rPr lang="ja-JP" sz="1700" dirty="0"/>
              <a:t>USB serial で Drive コマンドを送る (詳細仕様は割愛)</a:t>
            </a:r>
          </a:p>
          <a:p>
            <a:pPr marL="342900" indent="-342900">
              <a:buFont typeface="Arial"/>
              <a:buChar char="•"/>
            </a:pPr>
            <a:r>
              <a:rPr lang="ja-JP" sz="1700" b="1" dirty="0">
                <a:solidFill>
                  <a:srgbClr val="1F4E79"/>
                </a:solidFill>
              </a:rPr>
              <a:t>Arduino: </a:t>
            </a:r>
            <a:r>
              <a:rPr lang="ja-JP" sz="1700" dirty="0"/>
              <a:t>電圧境界 (Roomba 5V ⇔ Pi 3.3V) を Arduino に押し込んだ</a:t>
            </a:r>
          </a:p>
          <a:p>
            <a:pPr marL="342900" indent="-342900">
              <a:buFont typeface="Arial"/>
              <a:buChar char="•"/>
            </a:pPr>
            <a:r>
              <a:rPr lang="ja-JP" sz="1700" b="1" dirty="0">
                <a:solidFill>
                  <a:srgbClr val="1F4E79"/>
                </a:solidFill>
              </a:rPr>
              <a:t>Tailscale: </a:t>
            </a:r>
            <a:r>
              <a:rPr lang="ja-JP" sz="1700" dirty="0"/>
              <a:t>家のWi-Fi外でもマシン間を VPN 越しに繋ぐ (P2P メッシュ)</a:t>
            </a:r>
          </a:p>
          <a:p>
            <a:pPr marL="342900" indent="-342900">
              <a:buFont typeface="Arial"/>
              <a:buChar char="•"/>
            </a:pPr>
            <a:r>
              <a:rPr lang="ja-JP" sz="1700" b="1" dirty="0">
                <a:solidFill>
                  <a:srgbClr val="1F4E79"/>
                </a:solidFill>
              </a:rPr>
              <a:t>autopilot の trajectory 設計: </a:t>
            </a:r>
            <a:r>
              <a:rPr lang="ja-JP" sz="1700" dirty="0"/>
              <a:t>連続コマンドを5択に丸める閾値設計 (これは別資料で)</a:t>
            </a:r>
          </a:p>
          <a:p>
            <a:pPr marL="0" indent="0">
              <a:buNone/>
            </a:pPr>
            <a:r>
              <a:rPr lang="ja-JP" sz="1200" dirty="0"/>
              <a:t> </a:t>
            </a:r>
          </a:p>
          <a:p>
            <a:pPr marL="0" indent="0">
              <a:buNone/>
            </a:pPr>
            <a:r>
              <a:rPr lang="ja-JP" sz="1500" i="1" dirty="0">
                <a:solidFill>
                  <a:srgbClr val="6B7280"/>
                </a:solidFill>
              </a:rPr>
              <a:t>※ 質問があれば Q&amp;A でどうぞ — 個別に話せます。</a:t>
            </a:r>
          </a:p>
        </p:txBody>
      </p:sp>
    </p:spTree>
    <p:extLst>
      <p:ext uri="{BB962C8B-B14F-4D97-AF65-F5344CB8AC3E}">
        <p14:creationId xmlns:p14="http://schemas.microsoft.com/office/powerpoint/2010/main" val="2491662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986FB-0D99-988C-27A6-09F208D8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3200" b="1" dirty="0"/>
              <a:t>学び・ハマりどころ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AA267A-2A12-B401-3A92-3017C399C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sz="2000" b="1" dirty="0">
                <a:solidFill>
                  <a:srgbClr val="1F4E79"/>
                </a:solidFill>
              </a:rPr>
              <a:t>うまくいったこと</a:t>
            </a:r>
          </a:p>
          <a:p>
            <a:pPr marL="342900" indent="-342900">
              <a:buFont typeface="Arial"/>
              <a:buChar char="•"/>
            </a:pPr>
            <a:r>
              <a:rPr lang="ja-JP" sz="1600" dirty="0"/>
              <a:t>LSL = センサ系の transport / MQTT = 制御系の transport、と</a:t>
            </a:r>
            <a:r>
              <a:rPr lang="ja-JP" sz="1600" b="1" dirty="0"/>
              <a:t>「向き不向きで使い分け」</a:t>
            </a:r>
            <a:r>
              <a:rPr lang="ja-JP" sz="1600" dirty="0"/>
              <a:t> → 配線が一気にスッキリ</a:t>
            </a:r>
          </a:p>
          <a:p>
            <a:pPr marL="342900" indent="-342900">
              <a:buFont typeface="Arial"/>
              <a:buChar char="•"/>
            </a:pPr>
            <a:r>
              <a:rPr lang="ja-JP" sz="1600" dirty="0"/>
              <a:t>「リアルタイム経路」と「蓄積経路」を分けたことで、片方を止めずに片方を改修できる</a:t>
            </a:r>
          </a:p>
          <a:p>
            <a:pPr marL="342900" indent="-342900">
              <a:buFont typeface="Arial"/>
              <a:buChar char="•"/>
            </a:pPr>
            <a:r>
              <a:rPr lang="ja-JP" sz="1600" dirty="0"/>
              <a:t>MQTT の retain / last-will で「死活管理コード」をほぼ書かずに済んだ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2000" b="1" dirty="0">
                <a:solidFill>
                  <a:srgbClr val="C0392B"/>
                </a:solidFill>
              </a:rPr>
              <a:t>ハマりどころ</a:t>
            </a:r>
          </a:p>
          <a:p>
            <a:pPr marL="342900" indent="-342900">
              <a:buFont typeface="Arial"/>
              <a:buChar char="•"/>
            </a:pPr>
            <a:r>
              <a:rPr lang="ja-JP" sz="1600" b="1" dirty="0">
                <a:solidFill>
                  <a:srgbClr val="E07B00"/>
                </a:solidFill>
              </a:rPr>
              <a:t>Docker host network 必須</a:t>
            </a:r>
            <a:r>
              <a:rPr lang="ja-JP" sz="1600" dirty="0"/>
              <a:t>: LSL は </a:t>
            </a:r>
            <a:r>
              <a:rPr lang="ja-JP" sz="1600" b="1" dirty="0"/>
              <a:t>UDP マルチキャストで stream 検出</a:t>
            </a:r>
            <a:r>
              <a:rPr lang="ja-JP" sz="1600" dirty="0"/>
              <a:t> → Docker bridge ネットワークでは通らない。inlet コンテナは </a:t>
            </a:r>
            <a:r>
              <a:rPr lang="ja-JP" sz="1600" b="1" dirty="0">
                <a:latin typeface="Consolas"/>
              </a:rPr>
              <a:t>--network host</a:t>
            </a:r>
            <a:r>
              <a:rPr lang="ja-JP" sz="1600" dirty="0"/>
              <a:t> 必須</a:t>
            </a:r>
          </a:p>
          <a:p>
            <a:pPr marL="342900" indent="-342900">
              <a:buFont typeface="Arial"/>
              <a:buChar char="•"/>
            </a:pPr>
            <a:r>
              <a:rPr lang="ja-JP" sz="1600" dirty="0"/>
              <a:t>時刻同期: マシン跨ぎだと LSL のタイムスタンプが「LSL クロック」基準 → DB 保存時にどの時刻軸を採用するか要設計</a:t>
            </a:r>
          </a:p>
          <a:p>
            <a:pPr marL="342900" indent="-342900">
              <a:buFont typeface="Arial"/>
              <a:buChar char="•"/>
            </a:pPr>
            <a:r>
              <a:rPr lang="ja-JP" sz="1600" dirty="0"/>
              <a:t>QoS 設計: 「とりあえず全部 QoS 2」だと帯域が腐る — 経路別に設計し直し</a:t>
            </a:r>
          </a:p>
          <a:p>
            <a:pPr marL="342900" indent="-342900">
              <a:buFont typeface="Arial"/>
              <a:buChar char="•"/>
            </a:pPr>
            <a:r>
              <a:rPr lang="ja-JP" sz="1600" dirty="0"/>
              <a:t>retain の罠: 検証時の古い値が再起動後にロボットを動かして冷や汗</a:t>
            </a:r>
          </a:p>
        </p:txBody>
      </p:sp>
    </p:spTree>
    <p:extLst>
      <p:ext uri="{BB962C8B-B14F-4D97-AF65-F5344CB8AC3E}">
        <p14:creationId xmlns:p14="http://schemas.microsoft.com/office/powerpoint/2010/main" val="732263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82197D-5CF8-5390-F751-397005EE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ja-JP" sz="4400" b="1" dirty="0"/>
              <a:t>まとめ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FF8BAB-6A98-AB02-0630-599BDCF79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sz="2000" dirty="0"/>
              <a:t>センサ → 転送 → 加工 → </a:t>
            </a:r>
            <a:r>
              <a:rPr lang="ja-JP" sz="2000" b="1" dirty="0">
                <a:solidFill>
                  <a:srgbClr val="E07B00"/>
                </a:solidFill>
              </a:rPr>
              <a:t>蓄積 (枝分かれ)</a:t>
            </a:r>
            <a:r>
              <a:rPr lang="ja-JP" sz="2000" dirty="0"/>
              <a:t> → 判断 → 配信</a:t>
            </a:r>
          </a:p>
          <a:p>
            <a:pPr marL="0" indent="0" algn="ctr">
              <a:buNone/>
            </a:pPr>
            <a:r>
              <a:rPr lang="ja-JP" sz="1600" dirty="0">
                <a:solidFill>
                  <a:srgbClr val="6B7280"/>
                </a:solidFill>
              </a:rPr>
              <a:t>「ハードウェアの話」ではなく「データの流れの話」として整理すると、再利用できる設計が見える</a:t>
            </a:r>
          </a:p>
        </p:txBody>
      </p:sp>
    </p:spTree>
    <p:extLst>
      <p:ext uri="{BB962C8B-B14F-4D97-AF65-F5344CB8AC3E}">
        <p14:creationId xmlns:p14="http://schemas.microsoft.com/office/powerpoint/2010/main" val="2407498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4ABF34-BAEE-FC11-BB64-0D555EC0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6000" b="1" dirty="0"/>
              <a:t>Q &amp; A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FE7ED0-04C3-186F-0471-F29D4EB7E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sz="1600" dirty="0">
                <a:solidFill>
                  <a:srgbClr val="6B7280"/>
                </a:solidFill>
              </a:rPr>
              <a:t>聞かれたら話せる「裏トピック」</a:t>
            </a:r>
          </a:p>
          <a:p>
            <a:pPr marL="0" indent="0" algn="ctr">
              <a:buNone/>
            </a:pPr>
            <a:r>
              <a:rPr lang="ja-JP" sz="1400" dirty="0">
                <a:solidFill>
                  <a:srgbClr val="6B7280"/>
                </a:solidFill>
              </a:rPr>
              <a:t>Tailscale の管理プレーン/データプレーン分離 ・ Arduino 経由電圧変換の4選択肢 ・ Drive コマンド仕様 ・ autopilot 失敗モード ・ 1サンプルのタイムライン</a:t>
            </a:r>
          </a:p>
        </p:txBody>
      </p:sp>
    </p:spTree>
    <p:extLst>
      <p:ext uri="{BB962C8B-B14F-4D97-AF65-F5344CB8AC3E}">
        <p14:creationId xmlns:p14="http://schemas.microsoft.com/office/powerpoint/2010/main" val="425345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36E643-9B62-DE67-20D3-08F6C4BB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5400" b="1" dirty="0"/>
              <a:t>Appendix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B1E920-87AF-14BA-0F7B-23AEEA213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ja-JP" sz="2000" dirty="0">
                <a:solidFill>
                  <a:srgbClr val="6B7280"/>
                </a:solidFill>
              </a:rPr>
              <a:t>本編で雑に流した周辺技術を、雑学トーンで深掘り</a:t>
            </a:r>
          </a:p>
          <a:p>
            <a:pPr algn="ctr">
              <a:buNone/>
            </a:pPr>
            <a:r>
              <a:rPr lang="ja-JP" sz="1000" dirty="0"/>
              <a:t> </a:t>
            </a:r>
          </a:p>
          <a:p>
            <a:pPr algn="ctr">
              <a:buNone/>
            </a:pPr>
            <a:r>
              <a:rPr lang="ja-JP" sz="1500" dirty="0">
                <a:solidFill>
                  <a:srgbClr val="6B7280"/>
                </a:solidFill>
              </a:rPr>
              <a:t>A. MQTT 深掘り / B. LSL 深掘り / C. EEG 計測基礎 / D. 用語集 + 周辺技術</a:t>
            </a:r>
          </a:p>
        </p:txBody>
      </p:sp>
    </p:spTree>
    <p:extLst>
      <p:ext uri="{BB962C8B-B14F-4D97-AF65-F5344CB8AC3E}">
        <p14:creationId xmlns:p14="http://schemas.microsoft.com/office/powerpoint/2010/main" val="1246708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F750BE-7EB8-0E53-A7B9-6F632022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3000" b="1" dirty="0"/>
              <a:t>A. MQTT 深掘り — 「電気代の少ない郵便屋さん」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F0B9FE-AE7D-7845-FF93-37D4D0C8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由来トリビア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1999年 IBM が </a:t>
            </a:r>
            <a:r>
              <a:rPr lang="ja-JP" sz="1500" b="1" dirty="0"/>
              <a:t>砂漠の油田パイプライン監視</a:t>
            </a:r>
            <a:r>
              <a:rPr lang="ja-JP" sz="1500" dirty="0"/>
              <a:t> 用に開発 — 衛星回線が細くて高いので「とにかく軽い」が設計目標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最小ヘッダ </a:t>
            </a:r>
            <a:r>
              <a:rPr lang="ja-JP" sz="1500" b="1" dirty="0"/>
              <a:t>2 byte</a:t>
            </a:r>
            <a:r>
              <a:rPr lang="ja-JP" sz="1500" dirty="0"/>
              <a:t>。HTTP のヘッダで数百byte かかるのとは別世界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QoS 0 / 1 / 2 の使い分け</a:t>
            </a:r>
          </a:p>
          <a:p>
            <a:pPr marL="342900" indent="-342900">
              <a:buFont typeface="Arial"/>
              <a:buChar char="•"/>
            </a:pPr>
            <a:r>
              <a:rPr lang="ja-JP" sz="1500" b="1" dirty="0"/>
              <a:t>QoS 0</a:t>
            </a:r>
            <a:r>
              <a:rPr lang="ja-JP" sz="1500" dirty="0"/>
              <a:t> (at-most-once): fire&amp;forget。最新値が来れば古いのは捨てていい用 (テレメトリ)</a:t>
            </a:r>
          </a:p>
          <a:p>
            <a:pPr marL="342900" indent="-342900">
              <a:buFont typeface="Arial"/>
              <a:buChar char="•"/>
            </a:pPr>
            <a:r>
              <a:rPr lang="ja-JP" sz="1500" b="1" dirty="0"/>
              <a:t>QoS 1</a:t>
            </a:r>
            <a:r>
              <a:rPr lang="ja-JP" sz="1500" dirty="0"/>
              <a:t> (at-least-once): ACK あり、重複 OK。コマンド送信などのデフォルト</a:t>
            </a:r>
          </a:p>
          <a:p>
            <a:pPr marL="342900" indent="-342900">
              <a:buFont typeface="Arial"/>
              <a:buChar char="•"/>
            </a:pPr>
            <a:r>
              <a:rPr lang="ja-JP" sz="1500" b="1" dirty="0"/>
              <a:t>QoS 2</a:t>
            </a:r>
            <a:r>
              <a:rPr lang="ja-JP" sz="1500" dirty="0"/>
              <a:t> (exactly-once): 4-way ハンドシェイク、重い。本当に必要な時だけ (課金イベント等)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retain と last-will の正体</a:t>
            </a:r>
          </a:p>
          <a:p>
            <a:pPr marL="342900" indent="-342900">
              <a:buFont typeface="Arial"/>
              <a:buChar char="•"/>
            </a:pPr>
            <a:r>
              <a:rPr lang="ja-JP" sz="1500" b="1" dirty="0">
                <a:solidFill>
                  <a:srgbClr val="E07B00"/>
                </a:solidFill>
              </a:rPr>
              <a:t>retain</a:t>
            </a:r>
            <a:r>
              <a:rPr lang="ja-JP" sz="1500" dirty="0"/>
              <a:t>: broker が「各 topic の最後の値」だけメモリ保持。後から繋いだ client が即取得 → </a:t>
            </a:r>
            <a:r>
              <a:rPr lang="ja-JP" sz="1500" i="1" dirty="0"/>
              <a:t>事実上の Key-Value Store</a:t>
            </a:r>
          </a:p>
          <a:p>
            <a:pPr marL="342900" indent="-342900">
              <a:buFont typeface="Arial"/>
              <a:buChar char="•"/>
            </a:pPr>
            <a:r>
              <a:rPr lang="ja-JP" sz="1500" b="1" dirty="0">
                <a:solidFill>
                  <a:srgbClr val="E07B00"/>
                </a:solidFill>
              </a:rPr>
              <a:t>last-will</a:t>
            </a:r>
            <a:r>
              <a:rPr lang="ja-JP" sz="1500" dirty="0"/>
              <a:t>: 接続時に「自分が死んだらこれを publish して」と broker に預ける遺言メッセージ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20308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79AA85-8E3F-6524-645F-BBA5102D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3000" b="1" dirty="0"/>
              <a:t>B. LSL 深掘り — 「研究室発・時刻同期マニアの規格」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D19ABD-DCE3-F955-BB5D-2551E1E2D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出自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UCSD の Swartz Center 発。EEG / EMG / 視線・モーションキャプチャを「同じタイムライン」で記録するために生まれた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記録形式の </a:t>
            </a:r>
            <a:r>
              <a:rPr lang="ja-JP" sz="1500" b="1" dirty="0"/>
              <a:t>XDF</a:t>
            </a:r>
            <a:r>
              <a:rPr lang="ja-JP" sz="1500" dirty="0"/>
              <a:t> は事実上の業界デファクト — 脳波・視線・動画を1つのファイルに突っ込める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仕組み: outlet と inlet と XML</a:t>
            </a:r>
          </a:p>
          <a:p>
            <a:pPr marL="342900" indent="-342900">
              <a:buFont typeface="Arial"/>
              <a:buChar char="•"/>
            </a:pPr>
            <a:r>
              <a:rPr lang="ja-JP" sz="1500" b="1" dirty="0"/>
              <a:t>outlet</a:t>
            </a:r>
            <a:r>
              <a:rPr lang="ja-JP" sz="1500" dirty="0"/>
              <a:t> がストリームを publish、</a:t>
            </a:r>
            <a:r>
              <a:rPr lang="ja-JP" sz="1500" b="1" dirty="0"/>
              <a:t>inlet</a:t>
            </a:r>
            <a:r>
              <a:rPr lang="ja-JP" sz="1500" dirty="0"/>
              <a:t> が subscribe。MQTT に似てるが broker は無く </a:t>
            </a:r>
            <a:r>
              <a:rPr lang="ja-JP" sz="1500" b="1" dirty="0"/>
              <a:t>P2P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stream の自己記述には XML を使う — ch 名・単位・dtype まで型情報として埋め込み</a:t>
            </a:r>
          </a:p>
          <a:p>
            <a:pPr marL="342900" indent="-342900">
              <a:buFont typeface="Arial"/>
              <a:buChar char="•"/>
            </a:pPr>
            <a:r>
              <a:rPr lang="ja-JP" sz="1500" b="1" dirty="0">
                <a:solidFill>
                  <a:srgbClr val="E07B00"/>
                </a:solidFill>
              </a:rPr>
              <a:t>UDP マルチキャストで stream を発見</a:t>
            </a:r>
            <a:r>
              <a:rPr lang="ja-JP" sz="1500" dirty="0"/>
              <a:t> → 実データは TCP — Docker bridge では発見できない罠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時刻同期の仕組み (ここがキモ)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各マシンの </a:t>
            </a:r>
            <a:r>
              <a:rPr lang="ja-JP" sz="1500" b="1" dirty="0"/>
              <a:t>local_clock()</a:t>
            </a:r>
            <a:r>
              <a:rPr lang="ja-JP" sz="1500" dirty="0"/>
              <a:t> 同士の差を NTP 風に推定 → サンプルにオフセット補正を当てる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送信側のクロックジッタを吸収するため、受信側は </a:t>
            </a:r>
            <a:r>
              <a:rPr lang="ja-JP" sz="1500" b="1" dirty="0"/>
              <a:t>「サンプリングレートを信じて再構成」</a:t>
            </a:r>
            <a:r>
              <a:rPr lang="ja-JP" sz="1500" dirty="0"/>
              <a:t> もできる (dejitter)</a:t>
            </a:r>
          </a:p>
        </p:txBody>
      </p:sp>
    </p:spTree>
    <p:extLst>
      <p:ext uri="{BB962C8B-B14F-4D97-AF65-F5344CB8AC3E}">
        <p14:creationId xmlns:p14="http://schemas.microsoft.com/office/powerpoint/2010/main" val="3007346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EFB743-FDD6-CEA1-9CA9-9A0AA098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3000" b="1" dirty="0"/>
              <a:t>C. EEG 計測の基礎 — 「頭皮で μV を釣り上げる」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F3EED8-D8D1-9C09-301B-C951844AD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そもそも何を測っているか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大脳皮質の </a:t>
            </a:r>
            <a:r>
              <a:rPr lang="ja-JP" sz="1500" b="1" dirty="0"/>
              <a:t>錐体細胞の同期した電位変動</a:t>
            </a:r>
            <a:r>
              <a:rPr lang="ja-JP" sz="1500" dirty="0"/>
              <a:t> が頭蓋骨を貫通して頭皮に漏れたもの。振幅は </a:t>
            </a:r>
            <a:r>
              <a:rPr lang="ja-JP" sz="1500" b="1" dirty="0">
                <a:solidFill>
                  <a:srgbClr val="E07B00"/>
                </a:solidFill>
              </a:rPr>
              <a:t>数〜100μV</a:t>
            </a:r>
            <a:r>
              <a:rPr lang="ja-JP" sz="1500" dirty="0"/>
              <a:t> — 乾電池の100万分の1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「電圧」というより</a:t>
            </a:r>
            <a:r>
              <a:rPr lang="ja-JP" sz="1500" b="1" dirty="0"/>
              <a:t>「2つの電極の差」</a:t>
            </a:r>
            <a:r>
              <a:rPr lang="ja-JP" sz="1500" dirty="0"/>
              <a:t>を測る。リファレンス電極の置き方で見え方が変わる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周波数帯と「気持ち」の対応 (ざっくり)</a:t>
            </a:r>
          </a:p>
          <a:p>
            <a:pPr marL="342900" indent="-342900">
              <a:buFont typeface="Arial"/>
              <a:buChar char="•"/>
            </a:pPr>
            <a:r>
              <a:rPr lang="ja-JP" sz="1500" b="1" dirty="0"/>
              <a:t>δ (1–4Hz)</a:t>
            </a:r>
            <a:r>
              <a:rPr lang="ja-JP" sz="1500" dirty="0"/>
              <a:t>: 深い睡眠 / </a:t>
            </a:r>
            <a:r>
              <a:rPr lang="ja-JP" sz="1500" b="1" dirty="0"/>
              <a:t>θ (4–8Hz)</a:t>
            </a:r>
            <a:r>
              <a:rPr lang="ja-JP" sz="1500" dirty="0"/>
              <a:t>: うとうと・記憶 / </a:t>
            </a:r>
            <a:r>
              <a:rPr lang="ja-JP" sz="1500" b="1" dirty="0">
                <a:solidFill>
                  <a:srgbClr val="E07B00"/>
                </a:solidFill>
              </a:rPr>
              <a:t>α (8–13Hz)</a:t>
            </a:r>
            <a:r>
              <a:rPr lang="ja-JP" sz="1500" dirty="0"/>
              <a:t>: 目を閉じてリラックス</a:t>
            </a:r>
          </a:p>
          <a:p>
            <a:pPr marL="342900" indent="-342900">
              <a:buFont typeface="Arial"/>
              <a:buChar char="•"/>
            </a:pPr>
            <a:r>
              <a:rPr lang="ja-JP" sz="1500" b="1" dirty="0"/>
              <a:t>β (13–30Hz)</a:t>
            </a:r>
            <a:r>
              <a:rPr lang="ja-JP" sz="1500" dirty="0"/>
              <a:t>: 集中・思考 / </a:t>
            </a:r>
            <a:r>
              <a:rPr lang="ja-JP" sz="1500" b="1" dirty="0"/>
              <a:t>γ (30Hz–)</a:t>
            </a:r>
            <a:r>
              <a:rPr lang="ja-JP" sz="1500" dirty="0"/>
              <a:t>: 認知統合 (とされる、議論あり)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本プロジェクトで使うのは </a:t>
            </a:r>
            <a:r>
              <a:rPr lang="ja-JP" sz="1500" b="1" dirty="0">
                <a:solidFill>
                  <a:srgbClr val="E07B00"/>
                </a:solidFill>
              </a:rPr>
              <a:t>α波 (ch 6, 7)</a:t>
            </a:r>
            <a:r>
              <a:rPr lang="ja-JP" sz="1500" dirty="0"/>
              <a:t> — 目を閉じて出る/開けて消える、で判定しやすい</a:t>
            </a:r>
          </a:p>
          <a:p>
            <a:pPr marL="0" indent="0">
              <a:buNone/>
            </a:pPr>
            <a:r>
              <a:rPr lang="ja-JP" sz="1000" dirty="0"/>
              <a:t> </a:t>
            </a:r>
          </a:p>
          <a:p>
            <a:pPr marL="0" indent="0">
              <a:buNone/>
            </a:pPr>
            <a:r>
              <a:rPr lang="ja-JP" sz="1800" b="1" dirty="0">
                <a:solidFill>
                  <a:srgbClr val="1F4E79"/>
                </a:solidFill>
              </a:rPr>
              <a:t>計測のリアル: ノイズとの戦い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瞬き = 数百μV → 信号より一桁デカい。EOG として別 ch で測るのが定石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商用電源 50/60Hz は必ず乗る → notch filter ですぱっと抜く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/>
              <a:t>「24bit ΔΣ ADC」が定番なのは、レンジが広い (μV〜mV) ノイズ込み信号を低ノイズで拾うため</a:t>
            </a:r>
          </a:p>
        </p:txBody>
      </p:sp>
    </p:spTree>
    <p:extLst>
      <p:ext uri="{BB962C8B-B14F-4D97-AF65-F5344CB8AC3E}">
        <p14:creationId xmlns:p14="http://schemas.microsoft.com/office/powerpoint/2010/main" val="2547360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D571F-CC0D-70DD-4247-0DCAA18E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3000" b="1" dirty="0"/>
              <a:t>D. 用語集 + 周辺技術カタログ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791363-F79B-B9B5-5BFE-18BA797EE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sz="1700" b="1" dirty="0">
                <a:solidFill>
                  <a:srgbClr val="1F4E79"/>
                </a:solidFill>
              </a:rPr>
              <a:t>本編で雑に流した用語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ΔΣ ADC</a:t>
            </a:r>
            <a:r>
              <a:rPr lang="ja-JP" sz="1400" dirty="0"/>
              <a:t>: オーバーサンプリング + ノイズシェーピングで高分解能を稼ぐ AD 変換器。μV を素直に拾える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Tailscale</a:t>
            </a:r>
            <a:r>
              <a:rPr lang="ja-JP" sz="1400" dirty="0"/>
              <a:t>: WireGuard ベースの「会社用 VPN みたいなものを30秒で立てる」サービス。管理プレーン (鍵交換) と データプレーン (P2P 暗号化トンネル) が分離 — クラウド経由は鍵だけ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Mosquitto</a:t>
            </a:r>
            <a:r>
              <a:rPr lang="ja-JP" sz="1400" dirty="0"/>
              <a:t>: 軽量 MQTT broker の定番実装。バイナリ1個で動く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TimescaleDB</a:t>
            </a:r>
            <a:r>
              <a:rPr lang="ja-JP" sz="1400" dirty="0"/>
              <a:t>: PostgreSQL の拡張。時系列に強くする「ハイパーテーブル」と圧縮機能を追加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Parquet</a:t>
            </a:r>
            <a:r>
              <a:rPr lang="ja-JP" sz="1400" dirty="0"/>
              <a:t>: 列指向のバイナリファイル形式。圧縮率が高く、後段の分析 (Spark / Polars / DuckDB) との相性◎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Gemini Robotics-ER 1.6</a:t>
            </a:r>
            <a:r>
              <a:rPr lang="ja-JP" sz="1400" dirty="0"/>
              <a:t>: Google の「身体性ロボット向け推論モデル」シリーズの一つ。マルチモーダル入力 (画像+テキスト+構造化) で行動を出す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Roomba Open Interface</a:t>
            </a:r>
            <a:r>
              <a:rPr lang="ja-JP" sz="1400" dirty="0"/>
              <a:t>: iRobot が公開しているシリアル制御プロトコル。Drive コマンドで速度・旋回半径を直接指定できる</a:t>
            </a:r>
          </a:p>
          <a:p>
            <a:pPr marL="0" indent="0">
              <a:buNone/>
            </a:pPr>
            <a:r>
              <a:rPr lang="ja-JP" sz="800" dirty="0"/>
              <a:t> </a:t>
            </a:r>
          </a:p>
          <a:p>
            <a:pPr marL="0" indent="0">
              <a:buNone/>
            </a:pPr>
            <a:r>
              <a:rPr lang="ja-JP" sz="1700" b="1" dirty="0">
                <a:solidFill>
                  <a:srgbClr val="1F4E79"/>
                </a:solidFill>
              </a:rPr>
              <a:t>近い領域の「もうひとつの選択肢」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ROS 2 / DDS</a:t>
            </a:r>
            <a:r>
              <a:rPr lang="ja-JP" sz="1400" dirty="0"/>
              <a:t>: ロボット界の標準。pub/sub + サービス + 型付き IDL。今回はモデル探索が優先で見送り、配信の輸送だけ MQTT+LSL で構成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OSC / Open Sound Control</a:t>
            </a:r>
            <a:r>
              <a:rPr lang="ja-JP" sz="1400" dirty="0"/>
              <a:t>: メディアアート界の LSL 的存在。ライブ演出と相性が良い</a:t>
            </a:r>
          </a:p>
          <a:p>
            <a:pPr marL="285750" indent="-285750">
              <a:buFont typeface="Arial"/>
              <a:buChar char="•"/>
            </a:pPr>
            <a:r>
              <a:rPr lang="ja-JP" sz="1400" b="1" dirty="0"/>
              <a:t>NATS / Redis Streams</a:t>
            </a:r>
            <a:r>
              <a:rPr lang="ja-JP" sz="1400" dirty="0"/>
              <a:t>: 「Kafkaほど重くないログ的 pub/sub」候補。永続キューを足したくなったらここ</a:t>
            </a:r>
          </a:p>
        </p:txBody>
      </p:sp>
    </p:spTree>
    <p:extLst>
      <p:ext uri="{BB962C8B-B14F-4D97-AF65-F5344CB8AC3E}">
        <p14:creationId xmlns:p14="http://schemas.microsoft.com/office/powerpoint/2010/main" val="48642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 [1778737328564]">
  <a:themeElements>
    <a:clrScheme name="Office">
      <a:dk1>
        <a:srgbClr val="1A1A1A"/>
      </a:dk1>
      <a:lt1>
        <a:srgbClr val="FFFFFF"/>
      </a:lt1>
      <a:dk2>
        <a:srgbClr val="1F3A5F"/>
      </a:dk2>
      <a:lt2>
        <a:srgbClr val="F5F5F5"/>
      </a:lt2>
      <a:accent1>
        <a:srgbClr val="1F4E79"/>
      </a:accent1>
      <a:accent2>
        <a:srgbClr val="E07B00"/>
      </a:accent2>
      <a:accent3>
        <a:srgbClr val="4A7BA6"/>
      </a:accent3>
      <a:accent4>
        <a:srgbClr val="6B7280"/>
      </a:accent4>
      <a:accent5>
        <a:srgbClr val="2E8540"/>
      </a:accent5>
      <a:accent6>
        <a:srgbClr val="C0392B"/>
      </a:accent6>
      <a:hlink>
        <a:srgbClr val="467886"/>
      </a:hlink>
      <a:folHlink>
        <a:srgbClr val="96607D"/>
      </a:folHlink>
    </a:clrScheme>
    <a:fontScheme name="Office">
      <a:majorFont>
        <a:latin typeface="Yu Gothic" panose="02110004020202020204"/>
        <a:ea typeface="Yu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 UI" panose="02110004020202020204"/>
        <a:ea typeface="Yu Gothic U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E78320-20D0-3A42-8F51-C3377A9DDB4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b2c54c6-7348-476a-987b-9e114859fd0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4118</Words>
  <Application>Microsoft Macintosh PowerPoint</Application>
  <PresentationFormat>ワイド画面</PresentationFormat>
  <Paragraphs>424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1" baseType="lpstr">
      <vt:lpstr>Yu Gothic UI</vt:lpstr>
      <vt:lpstr>Yu Gothic</vt:lpstr>
      <vt:lpstr>Arial</vt:lpstr>
      <vt:lpstr>Consolas</vt:lpstr>
      <vt:lpstr>Office テーマ [1778737328564]</vt:lpstr>
      <vt:lpstr>脳波で動くロボット:データの流れで読み解くシステム全体像</vt:lpstr>
      <vt:lpstr>PowerPoint プレゼンテーション</vt:lpstr>
      <vt:lpstr>本日の流れ — データの旅を6ブロックで</vt:lpstr>
      <vt:lpstr>① 何を作ったか</vt:lpstr>
      <vt:lpstr>①全体像 — 普段見ているシステム図(カオス版)</vt:lpstr>
      <vt:lpstr>① システム俯瞰 — データの流れ</vt:lpstr>
      <vt:lpstr>① 生成 ｜ センサとデバイス</vt:lpstr>
      <vt:lpstr>① 生成 ｜ データの形と量</vt:lpstr>
      <vt:lpstr>② 転送 ｜ MQTT とは — 30秒で</vt:lpstr>
      <vt:lpstr>② 転送 ｜ このシステムでの使い方</vt:lpstr>
      <vt:lpstr>余談: MQTT と Kafka はどう違う?</vt:lpstr>
      <vt:lpstr>③ 加工 ｜ LSL とは — 30秒で</vt:lpstr>
      <vt:lpstr>③ 加工 ｜ パイプラインの中身</vt:lpstr>
      <vt:lpstr>④ 蓄積 ｜ 2つの相反する要件をどう両立するか</vt:lpstr>
      <vt:lpstr>④ 蓄積 ｜ 枝分かれの設計図</vt:lpstr>
      <vt:lpstr>④ 蓄積 ｜ 運用で効いてくる3つの設計判断</vt:lpstr>
      <vt:lpstr>⑤ 判断 ｜ autopilot — 「特徴量 → コマンド」を5択に圧縮</vt:lpstr>
      <vt:lpstr>⑥ 配信 ｜ ロボット周りはあえて薄く触れます</vt:lpstr>
      <vt:lpstr>学び・ハマりどころ</vt:lpstr>
      <vt:lpstr>まとめ</vt:lpstr>
      <vt:lpstr>Q &amp; A</vt:lpstr>
      <vt:lpstr>Appendix</vt:lpstr>
      <vt:lpstr>A. MQTT 深掘り — 「電気代の少ない郵便屋さん」</vt:lpstr>
      <vt:lpstr>B. LSL 深掘り — 「研究室発・時刻同期マニアの規格」</vt:lpstr>
      <vt:lpstr>C. EEG 計測の基礎 — 「頭皮で μV を釣り上げる」</vt:lpstr>
      <vt:lpstr>D. 用語集 + 周辺技術カタログ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中田 継太</dc:creator>
  <cp:lastModifiedBy>中田 継太</cp:lastModifiedBy>
  <cp:revision>3</cp:revision>
  <dcterms:created xsi:type="dcterms:W3CDTF">2026-05-14T05:38:28Z</dcterms:created>
  <dcterms:modified xsi:type="dcterms:W3CDTF">2026-05-14T07:28:01Z</dcterms:modified>
</cp:coreProperties>
</file>